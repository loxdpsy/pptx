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6"/>
    <p:sldId id="264" r:id="rId10"/>
    <p:sldId id="269" r:id="rId15"/>
    <p:sldId id="271" r:id="rId17"/>
    <p:sldId id="288" r:id="rId34"/>
    <p:sldId id="287" r:id="rId33"/>
    <p:sldId id="268" r:id="rId14"/>
  </p:sldIdLst>
  <p:sldSz cx="9144000" cy="6858000"/>
  <p:notesSz cx="6858000" cy="9144000"/>
  <p:defaultTextStyle>
    <a:lvl1pPr algn="l" rtl="0" eaLnBrk="0" hangingPunct="0" fontAlgn="base">
      <a:spcBef>
        <a:spcPct val="0"/>
      </a:spcBef>
      <a:spcAft>
        <a:spcPct val="0"/>
      </a:spcAft>
      <a:defRPr kern="1200">
        <a:solidFill>
          <a:schemeClr val="tx1"/>
        </a:solidFill>
        <a:latin typeface="Tw Cen MT"/>
        <a:ea typeface="+mn-ea"/>
        <a:cs typeface="Arial"/>
      </a:defRPr>
    </a:lvl1pPr>
    <a:lvl2pPr marL="457200" algn="l" rtl="0" eaLnBrk="0" hangingPunct="0" fontAlgn="base">
      <a:spcBef>
        <a:spcPct val="0"/>
      </a:spcBef>
      <a:spcAft>
        <a:spcPct val="0"/>
      </a:spcAft>
      <a:defRPr kern="1200">
        <a:solidFill>
          <a:schemeClr val="tx1"/>
        </a:solidFill>
        <a:latin typeface="Tw Cen MT"/>
        <a:ea typeface="+mn-ea"/>
        <a:cs typeface="Arial"/>
      </a:defRPr>
    </a:lvl2pPr>
    <a:lvl3pPr marL="914400" algn="l" rtl="0" eaLnBrk="0" hangingPunct="0" fontAlgn="base">
      <a:spcBef>
        <a:spcPct val="0"/>
      </a:spcBef>
      <a:spcAft>
        <a:spcPct val="0"/>
      </a:spcAft>
      <a:defRPr kern="1200">
        <a:solidFill>
          <a:schemeClr val="tx1"/>
        </a:solidFill>
        <a:latin typeface="Tw Cen MT"/>
        <a:ea typeface="+mn-ea"/>
        <a:cs typeface="Arial"/>
      </a:defRPr>
    </a:lvl3pPr>
    <a:lvl4pPr marL="1371600" algn="l" rtl="0" eaLnBrk="0" hangingPunct="0" fontAlgn="base">
      <a:spcBef>
        <a:spcPct val="0"/>
      </a:spcBef>
      <a:spcAft>
        <a:spcPct val="0"/>
      </a:spcAft>
      <a:defRPr kern="1200">
        <a:solidFill>
          <a:schemeClr val="tx1"/>
        </a:solidFill>
        <a:latin typeface="Tw Cen MT"/>
        <a:ea typeface="+mn-ea"/>
        <a:cs typeface="Arial"/>
      </a:defRPr>
    </a:lvl4pPr>
    <a:lvl5pPr marL="1828800" algn="l" rtl="0" eaLnBrk="0" hangingPunct="0" fontAlgn="base">
      <a:spcBef>
        <a:spcPct val="0"/>
      </a:spcBef>
      <a:spcAft>
        <a:spcPct val="0"/>
      </a:spcAft>
      <a:defRPr kern="1200">
        <a:solidFill>
          <a:schemeClr val="tx1"/>
        </a:solidFill>
        <a:latin typeface="Tw Cen MT"/>
        <a:ea typeface="+mn-ea"/>
        <a:cs typeface="Arial"/>
      </a:defRPr>
    </a:lvl5pPr>
    <a:lvl6pPr marL="2286000" algn="l" defTabSz="914400" rtl="0" eaLnBrk="1" latinLnBrk="0" hangingPunct="1">
      <a:defRPr kern="1200">
        <a:solidFill>
          <a:schemeClr val="tx1"/>
        </a:solidFill>
        <a:latin typeface="Tw Cen MT"/>
        <a:ea typeface="+mn-ea"/>
        <a:cs typeface="Arial"/>
      </a:defRPr>
    </a:lvl6pPr>
    <a:lvl7pPr marL="2743200" algn="l" defTabSz="914400" rtl="0" eaLnBrk="1" latinLnBrk="0" hangingPunct="1">
      <a:defRPr kern="1200">
        <a:solidFill>
          <a:schemeClr val="tx1"/>
        </a:solidFill>
        <a:latin typeface="Tw Cen MT"/>
        <a:ea typeface="+mn-ea"/>
        <a:cs typeface="Arial"/>
      </a:defRPr>
    </a:lvl7pPr>
    <a:lvl8pPr marL="3200400" algn="l" defTabSz="914400" rtl="0" eaLnBrk="1" latinLnBrk="0" hangingPunct="1">
      <a:defRPr kern="1200">
        <a:solidFill>
          <a:schemeClr val="tx1"/>
        </a:solidFill>
        <a:latin typeface="Tw Cen MT"/>
        <a:ea typeface="+mn-ea"/>
        <a:cs typeface="Arial"/>
      </a:defRPr>
    </a:lvl8pPr>
    <a:lvl9pPr marL="3657600" algn="l" defTabSz="914400" rtl="0" eaLnBrk="1" latinLnBrk="0" hangingPunct="1">
      <a:defRPr kern="1200">
        <a:solidFill>
          <a:schemeClr val="tx1"/>
        </a:solidFill>
        <a:latin typeface="Tw Cen MT"/>
        <a:ea typeface="+mn-ea"/>
        <a:cs typeface="Arial"/>
      </a:defRPr>
    </a:lvl9pPr>
  </p:defaultTextStyle>
  <p:extLst>
    <p:ext xmlns:a="http://schemas.openxmlformats.org/drawingml/2006/main" xmlns:p="http://schemas.openxmlformats.org/presentationml/2006/main"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theme" Target="theme/theme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ableStyles" Target="tableStyles.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Hello. My report compares traditional costume and dyeing in China and Morocco. I will focus on silhouette, materials, color, and what clothing can communicate.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0:15–0:45. Traditional clothing records history and skilled work. Chinese styles changed over many dynasties, while Moroccan styles also vary by region and occasion. Looking at fabric, cut, color, and decoration gives us a fair way to compare the two traditions. Neither country has one single costume that represents everyone.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0:45–1:20. Many Chinese garments can be grouped as an upper garment with a skirt or a long robe. Overlapping collars and waist ties appear in many historical forms. The lines are often long and flowing, but sleeves, length, and layers changed with period, activity, and status. These are recurring features, not rules for every garment.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1:20–2:05. Silk became an important and prestigious material in China, alongside hemp and cotton in different eras. Indigo is associated with blue; safflower can produce reds and pinks; yellow shades came from several plants. Patterned cloth could carry auspicious wishes or signal rank. Moroccan dress uses varied fibers too, and its palettes and techniques differ across regions. A garment's color reflects both available materials and the work of dyers.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2:05–2:35. Hanfu is a broad term for traditional Han Chinese clothing, with many styles rather than one uniform outfit. Crossed collars, sashes, and layers can appear in several forms. Accessories and details changed over time and could communicate occasion, identity, or social position. It is best to think of Hanfu as a changing family of clothing.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2:35–3:15. A quick comparison across three eras shows changing ideals. Tang clothing is often associated with vivid color and flowing forms. Some Song elite styles favored restraint and quieter colors. Ming formal clothing could use layered robes and rich patterns. These are broad tendencies; regional practice, personal status, gender, and occasion all mattered.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3:15–4:00. Moroccan examples include the djellaba, a long outer garment often made with a hood, and caftans or takchitas for formal occasions. Braided sfifa trim, belts, and embroidery can make the garment a display of craft. Styles and materials vary by region and by the occasion. The photograph is one example, not a complete picture of Moroccan dress.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4:00–4:45. Dyeing is a sequence: prepare the material, apply color, rinse, and finish. In China, indigo and other plant dyes created varied palettes and patterns. Moroccan dye traditions also vary by material and place. The Fez image shows leather dyeing at historic tannery vats, which is related craft but not the same as dyeing cloth. This distinction matters when comparing costume textiles.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4:45–5:40. The table compares silhouette, materials, color and craft, and meaning. Chinese historical clothing includes layered robes and overlapping collars; Moroccan examples include the djellaba and formal caftan or takchita. The fibers and dye methods are diverse in both places. Both traditions use clothing to communicate identity and occasion, and both depend on the knowledge and labor of makers. Similarities do not erase their distinct histories.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5:40–6:00. To conclude, traditional costume connects materials and skilled work with history and identity. China and Morocco developed distinct forms, yet both preserve cultural memory through clothing.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lstStyle>
          <a:p>
            <a:fld id="{CF395B21-E8EE-4505-87E0-7B7F2C3DBBD0}" type="datetimeFigureOut">
              <a:rPr lang="en-IN"/>
              <a:t>17-10-2026</a:t>
            </a:fld>
            <a:endParaRPr lang="en-IN"/>
          </a:p>
        </p:txBody>
      </p:sp>
      <p:sp>
        <p:nvSpPr>
          <p:cNvPr id="5" name="Footer Placeholder 4"/>
          <p:cNvSpPr>
            <a:spLocks noGrp="1"/>
          </p:cNvSpPr>
          <p:nvPr>
            <p:ph type="ftr" sz="quarter" idx="11"/>
          </p:nvPr>
        </p:nvSpPr>
        <p:spPr/>
        <p:txBody>
          <a:bodyPr/>
          <a:lstStyle>
            <a:lvl1pPr/>
          </a:lstStyle>
          <a:p>
            <a:endParaRPr lang="en-IN"/>
          </a:p>
        </p:txBody>
      </p:sp>
      <p:sp>
        <p:nvSpPr>
          <p:cNvPr id="6" name="Slide Number Placeholder 5"/>
          <p:cNvSpPr>
            <a:spLocks noGrp="1"/>
          </p:cNvSpPr>
          <p:nvPr>
            <p:ph type="sldNum" sz="quarter" idx="12"/>
          </p:nvPr>
        </p:nvSpPr>
        <p:spPr/>
        <p:txBody>
          <a:bodyPr/>
          <a:lstStyle>
            <a:lvl1pPr/>
          </a:lstStyle>
          <a:p>
            <a:fld id="{7DDC6D5D-A00E-4AA9-84F2-364CBECE0EEA}"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lstStyle>
          <a:p>
            <a:fld id="{05E609E6-1126-4CCC-8F95-892B304C12E9}" type="datetimeFigureOut">
              <a:rPr lang="en-IN"/>
              <a:t>17-10-2026</a:t>
            </a:fld>
            <a:endParaRPr lang="en-IN"/>
          </a:p>
        </p:txBody>
      </p:sp>
      <p:sp>
        <p:nvSpPr>
          <p:cNvPr id="5" name="Footer Placeholder 4"/>
          <p:cNvSpPr>
            <a:spLocks noGrp="1"/>
          </p:cNvSpPr>
          <p:nvPr>
            <p:ph type="ftr" sz="quarter" idx="11"/>
          </p:nvPr>
        </p:nvSpPr>
        <p:spPr/>
        <p:txBody>
          <a:bodyPr/>
          <a:lstStyle>
            <a:lvl1pPr/>
          </a:lstStyle>
          <a:p>
            <a:endParaRPr lang="en-IN"/>
          </a:p>
        </p:txBody>
      </p:sp>
      <p:sp>
        <p:nvSpPr>
          <p:cNvPr id="6" name="Slide Number Placeholder 5"/>
          <p:cNvSpPr>
            <a:spLocks noGrp="1"/>
          </p:cNvSpPr>
          <p:nvPr>
            <p:ph type="sldNum" sz="quarter" idx="12"/>
          </p:nvPr>
        </p:nvSpPr>
        <p:spPr/>
        <p:txBody>
          <a:bodyPr/>
          <a:lstStyle>
            <a:lvl1pPr/>
          </a:lstStyle>
          <a:p>
            <a:fld id="{EDCD0F9E-EF7E-4C26-8662-25A73F2263DD}"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10"/>
          </p:nvPr>
        </p:nvSpPr>
        <p:spPr/>
        <p:txBody>
          <a:bodyPr/>
          <a:lstStyle>
            <a:lvl1pPr/>
          </a:lstStyle>
          <a:p>
            <a:fld id="{B43082BF-5467-4883-8896-824F7369BC9A}" type="datetimeFigureOut">
              <a:rPr lang="en-IN"/>
              <a:t>17-10-2026</a:t>
            </a:fld>
            <a:endParaRPr lang="en-IN"/>
          </a:p>
        </p:txBody>
      </p:sp>
      <p:sp>
        <p:nvSpPr>
          <p:cNvPr id="5" name="Footer Placeholder 4"/>
          <p:cNvSpPr>
            <a:spLocks noGrp="1"/>
          </p:cNvSpPr>
          <p:nvPr>
            <p:ph type="ftr" sz="quarter" idx="11"/>
          </p:nvPr>
        </p:nvSpPr>
        <p:spPr/>
        <p:txBody>
          <a:bodyPr/>
          <a:lstStyle>
            <a:lvl1pPr/>
          </a:lstStyle>
          <a:p>
            <a:endParaRPr lang="en-IN"/>
          </a:p>
        </p:txBody>
      </p:sp>
      <p:sp>
        <p:nvSpPr>
          <p:cNvPr id="6" name="Slide Number Placeholder 5"/>
          <p:cNvSpPr>
            <a:spLocks noGrp="1"/>
          </p:cNvSpPr>
          <p:nvPr>
            <p:ph type="sldNum" sz="quarter" idx="12"/>
          </p:nvPr>
        </p:nvSpPr>
        <p:spPr/>
        <p:txBody>
          <a:bodyPr/>
          <a:lstStyle>
            <a:lvl1pPr/>
          </a:lstStyle>
          <a:p>
            <a:fld id="{87C18080-B33E-4073-8615-72D8F5AE8F78}"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lstStyle>
          <a:p>
            <a:fld id="{A3A66248-C912-41CA-84D9-08E1C7982093}" type="datetimeFigureOut">
              <a:rPr lang="en-IN"/>
              <a:t>17-10-2026</a:t>
            </a:fld>
            <a:endParaRPr lang="en-IN"/>
          </a:p>
        </p:txBody>
      </p:sp>
      <p:sp>
        <p:nvSpPr>
          <p:cNvPr id="6" name="Footer Placeholder 4"/>
          <p:cNvSpPr>
            <a:spLocks noGrp="1"/>
          </p:cNvSpPr>
          <p:nvPr>
            <p:ph type="ftr" sz="quarter" idx="11"/>
          </p:nvPr>
        </p:nvSpPr>
        <p:spPr/>
        <p:txBody>
          <a:bodyPr/>
          <a:lstStyle>
            <a:lvl1pPr/>
          </a:lstStyle>
          <a:p>
            <a:endParaRPr lang="en-IN"/>
          </a:p>
        </p:txBody>
      </p:sp>
      <p:sp>
        <p:nvSpPr>
          <p:cNvPr id="7" name="Slide Number Placeholder 5"/>
          <p:cNvSpPr>
            <a:spLocks noGrp="1"/>
          </p:cNvSpPr>
          <p:nvPr>
            <p:ph type="sldNum" sz="quarter" idx="12"/>
          </p:nvPr>
        </p:nvSpPr>
        <p:spPr/>
        <p:txBody>
          <a:bodyPr/>
          <a:lstStyle>
            <a:lvl1pPr/>
          </a:lstStyle>
          <a:p>
            <a:fld id="{85CB9569-04AF-4288-8880-64CE52ABE7A3}"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lstStyle>
          <a:p>
            <a:fld id="{54EFB636-F4D9-4299-85F9-44D23E27C49C}" type="datetimeFigureOut">
              <a:rPr lang="en-IN"/>
              <a:t>17-10-2026</a:t>
            </a:fld>
            <a:endParaRPr lang="en-IN"/>
          </a:p>
        </p:txBody>
      </p:sp>
      <p:sp>
        <p:nvSpPr>
          <p:cNvPr id="8" name="Footer Placeholder 4"/>
          <p:cNvSpPr>
            <a:spLocks noGrp="1"/>
          </p:cNvSpPr>
          <p:nvPr>
            <p:ph type="ftr" sz="quarter" idx="11"/>
          </p:nvPr>
        </p:nvSpPr>
        <p:spPr/>
        <p:txBody>
          <a:bodyPr/>
          <a:lstStyle>
            <a:lvl1pPr/>
          </a:lstStyle>
          <a:p>
            <a:endParaRPr lang="en-IN"/>
          </a:p>
        </p:txBody>
      </p:sp>
      <p:sp>
        <p:nvSpPr>
          <p:cNvPr id="9" name="Slide Number Placeholder 5"/>
          <p:cNvSpPr>
            <a:spLocks noGrp="1"/>
          </p:cNvSpPr>
          <p:nvPr>
            <p:ph type="sldNum" sz="quarter" idx="12"/>
          </p:nvPr>
        </p:nvSpPr>
        <p:spPr/>
        <p:txBody>
          <a:bodyPr/>
          <a:lstStyle>
            <a:lvl1pPr/>
          </a:lstStyle>
          <a:p>
            <a:fld id="{BF533E07-937E-4FED-8300-891295843456}"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lstStyle>
          <a:p>
            <a:fld id="{D5CAC346-E4DF-45C0-848B-E2AC5513E0D5}" type="datetimeFigureOut">
              <a:rPr lang="en-IN"/>
              <a:t>17-10-2026</a:t>
            </a:fld>
            <a:endParaRPr lang="en-IN"/>
          </a:p>
        </p:txBody>
      </p:sp>
      <p:sp>
        <p:nvSpPr>
          <p:cNvPr id="4" name="Footer Placeholder 4"/>
          <p:cNvSpPr>
            <a:spLocks noGrp="1"/>
          </p:cNvSpPr>
          <p:nvPr>
            <p:ph type="ftr" sz="quarter" idx="11"/>
          </p:nvPr>
        </p:nvSpPr>
        <p:spPr/>
        <p:txBody>
          <a:bodyPr/>
          <a:lstStyle>
            <a:lvl1pPr/>
          </a:lstStyle>
          <a:p>
            <a:endParaRPr lang="en-IN"/>
          </a:p>
        </p:txBody>
      </p:sp>
      <p:sp>
        <p:nvSpPr>
          <p:cNvPr id="5" name="Slide Number Placeholder 5"/>
          <p:cNvSpPr>
            <a:spLocks noGrp="1"/>
          </p:cNvSpPr>
          <p:nvPr>
            <p:ph type="sldNum" sz="quarter" idx="12"/>
          </p:nvPr>
        </p:nvSpPr>
        <p:spPr/>
        <p:txBody>
          <a:bodyPr/>
          <a:lstStyle>
            <a:lvl1pPr/>
          </a:lstStyle>
          <a:p>
            <a:fld id="{7A28B55B-FA15-48BA-860D-0231187503D9}"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lstStyle>
          <a:p>
            <a:fld id="{FE20B29E-DC2A-4D67-887F-3BE2DC8489D6}" type="datetimeFigureOut">
              <a:rPr lang="en-IN"/>
              <a:t>17-10-2026</a:t>
            </a:fld>
            <a:endParaRPr lang="en-IN"/>
          </a:p>
        </p:txBody>
      </p:sp>
      <p:sp>
        <p:nvSpPr>
          <p:cNvPr id="3" name="Footer Placeholder 4"/>
          <p:cNvSpPr>
            <a:spLocks noGrp="1"/>
          </p:cNvSpPr>
          <p:nvPr>
            <p:ph type="ftr" sz="quarter" idx="11"/>
          </p:nvPr>
        </p:nvSpPr>
        <p:spPr/>
        <p:txBody>
          <a:bodyPr/>
          <a:lstStyle>
            <a:lvl1pPr/>
          </a:lstStyle>
          <a:p>
            <a:endParaRPr lang="en-IN"/>
          </a:p>
        </p:txBody>
      </p:sp>
      <p:sp>
        <p:nvSpPr>
          <p:cNvPr id="4" name="Slide Number Placeholder 5"/>
          <p:cNvSpPr>
            <a:spLocks noGrp="1"/>
          </p:cNvSpPr>
          <p:nvPr>
            <p:ph type="sldNum" sz="quarter" idx="12"/>
          </p:nvPr>
        </p:nvSpPr>
        <p:spPr/>
        <p:txBody>
          <a:bodyPr/>
          <a:lstStyle>
            <a:lvl1pPr/>
          </a:lstStyle>
          <a:p>
            <a:fld id="{00E0EBC0-ADA9-4FA7-889C-9287646BC794}"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3"/>
          <p:cNvSpPr>
            <a:spLocks noGrp="1"/>
          </p:cNvSpPr>
          <p:nvPr>
            <p:ph type="dt" sz="half" idx="10"/>
          </p:nvPr>
        </p:nvSpPr>
        <p:spPr/>
        <p:txBody>
          <a:bodyPr/>
          <a:lstStyle>
            <a:lvl1pPr/>
          </a:lstStyle>
          <a:p>
            <a:fld id="{AFC563BD-7186-488E-816C-8F41FA24179F}" type="datetimeFigureOut">
              <a:rPr lang="en-IN"/>
              <a:t>17-10-2026</a:t>
            </a:fld>
            <a:endParaRPr lang="en-IN"/>
          </a:p>
        </p:txBody>
      </p:sp>
      <p:sp>
        <p:nvSpPr>
          <p:cNvPr id="6" name="Footer Placeholder 4"/>
          <p:cNvSpPr>
            <a:spLocks noGrp="1"/>
          </p:cNvSpPr>
          <p:nvPr>
            <p:ph type="ftr" sz="quarter" idx="11"/>
          </p:nvPr>
        </p:nvSpPr>
        <p:spPr/>
        <p:txBody>
          <a:bodyPr/>
          <a:lstStyle>
            <a:lvl1pPr/>
          </a:lstStyle>
          <a:p>
            <a:endParaRPr lang="en-IN"/>
          </a:p>
        </p:txBody>
      </p:sp>
      <p:sp>
        <p:nvSpPr>
          <p:cNvPr id="7" name="Slide Number Placeholder 5"/>
          <p:cNvSpPr>
            <a:spLocks noGrp="1"/>
          </p:cNvSpPr>
          <p:nvPr>
            <p:ph type="sldNum" sz="quarter" idx="12"/>
          </p:nvPr>
        </p:nvSpPr>
        <p:spPr/>
        <p:txBody>
          <a:bodyPr/>
          <a:lstStyle>
            <a:lvl1pPr/>
          </a:lstStyle>
          <a:p>
            <a:fld id="{7DA25AB8-FB3A-479C-8780-0B7E5F586C0F}"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3"/>
          <p:cNvSpPr>
            <a:spLocks noGrp="1"/>
          </p:cNvSpPr>
          <p:nvPr>
            <p:ph type="dt" sz="half" idx="10"/>
          </p:nvPr>
        </p:nvSpPr>
        <p:spPr/>
        <p:txBody>
          <a:bodyPr/>
          <a:lstStyle>
            <a:lvl1pPr/>
          </a:lstStyle>
          <a:p>
            <a:fld id="{1EE02C48-70E8-4C8D-81F4-17FB598144B8}" type="datetimeFigureOut">
              <a:rPr lang="en-IN"/>
              <a:t>17-10-2026</a:t>
            </a:fld>
            <a:endParaRPr lang="en-IN"/>
          </a:p>
        </p:txBody>
      </p:sp>
      <p:sp>
        <p:nvSpPr>
          <p:cNvPr id="6" name="Footer Placeholder 4"/>
          <p:cNvSpPr>
            <a:spLocks noGrp="1"/>
          </p:cNvSpPr>
          <p:nvPr>
            <p:ph type="ftr" sz="quarter" idx="11"/>
          </p:nvPr>
        </p:nvSpPr>
        <p:spPr/>
        <p:txBody>
          <a:bodyPr/>
          <a:lstStyle>
            <a:lvl1pPr/>
          </a:lstStyle>
          <a:p>
            <a:endParaRPr lang="en-IN"/>
          </a:p>
        </p:txBody>
      </p:sp>
      <p:sp>
        <p:nvSpPr>
          <p:cNvPr id="7" name="Slide Number Placeholder 5"/>
          <p:cNvSpPr>
            <a:spLocks noGrp="1"/>
          </p:cNvSpPr>
          <p:nvPr>
            <p:ph type="sldNum" sz="quarter" idx="12"/>
          </p:nvPr>
        </p:nvSpPr>
        <p:spPr/>
        <p:txBody>
          <a:bodyPr/>
          <a:lstStyle>
            <a:lvl1pPr/>
          </a:lstStyle>
          <a:p>
            <a:fld id="{5AEFC29A-6C4F-4141-86E3-1A3E2D58E3A2}"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lstStyle>
          <a:p>
            <a:fld id="{27602B83-4DFE-444B-8222-D5FF1EA6B44C}" type="datetimeFigureOut">
              <a:rPr lang="en-IN"/>
              <a:t>17-10-2026</a:t>
            </a:fld>
            <a:endParaRPr lang="en-IN"/>
          </a:p>
        </p:txBody>
      </p:sp>
      <p:sp>
        <p:nvSpPr>
          <p:cNvPr id="5" name="Footer Placeholder 4"/>
          <p:cNvSpPr>
            <a:spLocks noGrp="1"/>
          </p:cNvSpPr>
          <p:nvPr>
            <p:ph type="ftr" sz="quarter" idx="11"/>
          </p:nvPr>
        </p:nvSpPr>
        <p:spPr/>
        <p:txBody>
          <a:bodyPr/>
          <a:lstStyle>
            <a:lvl1pPr/>
          </a:lstStyle>
          <a:p>
            <a:endParaRPr lang="en-IN"/>
          </a:p>
        </p:txBody>
      </p:sp>
      <p:sp>
        <p:nvSpPr>
          <p:cNvPr id="6" name="Slide Number Placeholder 5"/>
          <p:cNvSpPr>
            <a:spLocks noGrp="1"/>
          </p:cNvSpPr>
          <p:nvPr>
            <p:ph type="sldNum" sz="quarter" idx="12"/>
          </p:nvPr>
        </p:nvSpPr>
        <p:spPr/>
        <p:txBody>
          <a:bodyPr/>
          <a:lstStyle>
            <a:lvl1pPr/>
          </a:lstStyle>
          <a:p>
            <a:fld id="{DE19C649-D3E0-46CB-87C1-67136E4226A6}"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lstStyle>
          <a:p>
            <a:fld id="{A6FA40F9-1701-4EB4-806D-4ED861E7A003}" type="datetimeFigureOut">
              <a:rPr lang="en-IN"/>
              <a:t>17-10-2026</a:t>
            </a:fld>
            <a:endParaRPr lang="en-IN"/>
          </a:p>
        </p:txBody>
      </p:sp>
      <p:sp>
        <p:nvSpPr>
          <p:cNvPr id="5" name="Footer Placeholder 4"/>
          <p:cNvSpPr>
            <a:spLocks noGrp="1"/>
          </p:cNvSpPr>
          <p:nvPr>
            <p:ph type="ftr" sz="quarter" idx="11"/>
          </p:nvPr>
        </p:nvSpPr>
        <p:spPr/>
        <p:txBody>
          <a:bodyPr/>
          <a:lstStyle>
            <a:lvl1pPr/>
          </a:lstStyle>
          <a:p>
            <a:endParaRPr lang="en-IN"/>
          </a:p>
        </p:txBody>
      </p:sp>
      <p:sp>
        <p:nvSpPr>
          <p:cNvPr id="6" name="Slide Number Placeholder 5"/>
          <p:cNvSpPr>
            <a:spLocks noGrp="1"/>
          </p:cNvSpPr>
          <p:nvPr>
            <p:ph type="sldNum" sz="quarter" idx="12"/>
          </p:nvPr>
        </p:nvSpPr>
        <p:spPr/>
        <p:txBody>
          <a:bodyPr/>
          <a:lstStyle>
            <a:lvl1pPr/>
          </a:lstStyle>
          <a:p>
            <a:fld id="{20EBE78A-EB3E-401E-81B5-D7F53201DAF3}"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Theme">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a:noFill/>
          </a:ln>
        </p:spPr>
        <p:txBody>
          <a:bodyPr vert="horz" wrap="square" lIns="91440" tIns="45720" rIns="91440" bIns="45720" numCol="1" anchor="ctr" anchorCtr="0"/>
          <a:lstStyle/>
          <a:p>
            <a:r>
              <a:rPr lang="en-US"/>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a:noFill/>
          </a:ln>
        </p:spPr>
        <p:txBody>
          <a:bodyPr vert="horz" wrap="square" lIns="91440" tIns="45720" rIns="91440" bIns="45720" numCol="1" anchor="t" anchorCtr="0"/>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cs typeface="Arial"/>
              </a:defRPr>
            </a:lvl1pPr>
          </a:lstStyle>
          <a:p>
            <a:fld id="{90ADADCF-DC63-475D-8D69-AEBF4EDF3BBC}" type="datetimeFigureOut">
              <a:rPr lang="en-IN"/>
              <a:t>17-10-2026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cs typeface="Aria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a:lstStyle>
            <a:lvl1pPr algn="r" eaLnBrk="1" hangingPunct="1">
              <a:defRPr sz="1200">
                <a:solidFill>
                  <a:srgbClr val="898989"/>
                </a:solidFill>
              </a:defRPr>
            </a:lvl1pPr>
          </a:lstStyle>
          <a:p>
            <a:fld id="{473D6AB1-0FDA-49F1-8390-8828CE9E6676}"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hangingPunct="0" fontAlgn="base">
        <a:spcBef>
          <a:spcPct val="0"/>
        </a:spcBef>
        <a:spcAft>
          <a:spcPct val="0"/>
        </a:spcAft>
        <a:defRPr sz="4400" kern="1200">
          <a:solidFill>
            <a:schemeClr val="tx1"/>
          </a:solidFill>
          <a:latin typeface="+mj-lt"/>
          <a:ea typeface="+mj-ea"/>
          <a:cs typeface="+mj-cs"/>
        </a:defRPr>
      </a:lvl1pPr>
      <a:lvl2pPr algn="ctr" rtl="0" eaLnBrk="0" hangingPunct="0" fontAlgn="base">
        <a:spcBef>
          <a:spcPct val="0"/>
        </a:spcBef>
        <a:spcAft>
          <a:spcPct val="0"/>
        </a:spcAft>
        <a:defRPr sz="4400">
          <a:solidFill>
            <a:schemeClr val="tx1"/>
          </a:solidFill>
          <a:latin typeface="Calibri"/>
        </a:defRPr>
      </a:lvl2pPr>
      <a:lvl3pPr algn="ctr" rtl="0" eaLnBrk="0" hangingPunct="0" fontAlgn="base">
        <a:spcBef>
          <a:spcPct val="0"/>
        </a:spcBef>
        <a:spcAft>
          <a:spcPct val="0"/>
        </a:spcAft>
        <a:defRPr sz="4400">
          <a:solidFill>
            <a:schemeClr val="tx1"/>
          </a:solidFill>
          <a:latin typeface="Calibri"/>
        </a:defRPr>
      </a:lvl3pPr>
      <a:lvl4pPr algn="ctr" rtl="0" eaLnBrk="0" hangingPunct="0" fontAlgn="base">
        <a:spcBef>
          <a:spcPct val="0"/>
        </a:spcBef>
        <a:spcAft>
          <a:spcPct val="0"/>
        </a:spcAft>
        <a:defRPr sz="4400">
          <a:solidFill>
            <a:schemeClr val="tx1"/>
          </a:solidFill>
          <a:latin typeface="Calibri"/>
        </a:defRPr>
      </a:lvl4pPr>
      <a:lvl5pPr algn="ctr" rtl="0" eaLnBrk="0" hangingPunct="0" fontAlgn="base">
        <a:spcBef>
          <a:spcPct val="0"/>
        </a:spcBef>
        <a:spcAft>
          <a:spcPct val="0"/>
        </a:spcAft>
        <a:defRPr sz="4400">
          <a:solidFill>
            <a:schemeClr val="tx1"/>
          </a:solidFill>
          <a:latin typeface="Calibri"/>
        </a:defRPr>
      </a:lvl5pPr>
      <a:lvl6pPr marL="457200" algn="ctr" rtl="0" fontAlgn="base">
        <a:spcBef>
          <a:spcPct val="0"/>
        </a:spcBef>
        <a:spcAft>
          <a:spcPct val="0"/>
        </a:spcAft>
        <a:defRPr sz="4400">
          <a:solidFill>
            <a:schemeClr val="tx1"/>
          </a:solidFill>
          <a:latin typeface="Calibri"/>
        </a:defRPr>
      </a:lvl6pPr>
      <a:lvl7pPr marL="914400" algn="ctr" rtl="0" fontAlgn="base">
        <a:spcBef>
          <a:spcPct val="0"/>
        </a:spcBef>
        <a:spcAft>
          <a:spcPct val="0"/>
        </a:spcAft>
        <a:defRPr sz="4400">
          <a:solidFill>
            <a:schemeClr val="tx1"/>
          </a:solidFill>
          <a:latin typeface="Calibri"/>
        </a:defRPr>
      </a:lvl7pPr>
      <a:lvl8pPr marL="1371600" algn="ctr" rtl="0" fontAlgn="base">
        <a:spcBef>
          <a:spcPct val="0"/>
        </a:spcBef>
        <a:spcAft>
          <a:spcPct val="0"/>
        </a:spcAft>
        <a:defRPr sz="4400">
          <a:solidFill>
            <a:schemeClr val="tx1"/>
          </a:solidFill>
          <a:latin typeface="Calibri"/>
        </a:defRPr>
      </a:lvl8pPr>
      <a:lvl9pPr marL="1828800" algn="ctr" rtl="0" fontAlgn="base">
        <a:spcBef>
          <a:spcPct val="0"/>
        </a:spcBef>
        <a:spcAft>
          <a:spcPct val="0"/>
        </a:spcAft>
        <a:defRPr sz="4400">
          <a:solidFill>
            <a:schemeClr val="tx1"/>
          </a:solidFill>
          <a:latin typeface="Calibri"/>
        </a:defRPr>
      </a:lvl9pPr>
    </p:titleStyle>
    <p:bodyStyle>
      <a:lvl1pPr marL="342900" indent="-342900" algn="l" rtl="0" eaLnBrk="0" hangingPunct="0" fontAlgn="base">
        <a:spcBef>
          <a:spcPct val="20000"/>
        </a:spcBef>
        <a:spcAft>
          <a:spcPct val="0"/>
        </a:spcAft>
        <a:buFont typeface="Arial"/>
        <a:buChar char="•"/>
        <a:defRPr sz="3200" kern="1200">
          <a:solidFill>
            <a:schemeClr val="tx1"/>
          </a:solidFill>
          <a:latin typeface="+mn-lt"/>
          <a:ea typeface="+mn-ea"/>
          <a:cs typeface="+mn-cs"/>
        </a:defRPr>
      </a:lvl1pPr>
      <a:lvl2pPr marL="742950" indent="-285750" algn="l" rtl="0" eaLnBrk="0" hangingPunct="0" fontAlgn="base">
        <a:spcBef>
          <a:spcPct val="20000"/>
        </a:spcBef>
        <a:spcAft>
          <a:spcPct val="0"/>
        </a:spcAft>
        <a:buFont typeface="Arial"/>
        <a:buChar char="–"/>
        <a:defRPr sz="2800" kern="1200">
          <a:solidFill>
            <a:schemeClr val="tx1"/>
          </a:solidFill>
          <a:latin typeface="+mn-lt"/>
          <a:ea typeface="+mn-ea"/>
          <a:cs typeface="+mn-cs"/>
        </a:defRPr>
      </a:lvl2pPr>
      <a:lvl3pPr marL="1143000" indent="-228600" algn="l" rtl="0" eaLnBrk="0" hangingPunct="0" fontAlgn="base">
        <a:spcBef>
          <a:spcPct val="20000"/>
        </a:spcBef>
        <a:spcAft>
          <a:spcPct val="0"/>
        </a:spcAft>
        <a:buFont typeface="Arial"/>
        <a:buChar char="•"/>
        <a:defRPr sz="2400" kern="1200">
          <a:solidFill>
            <a:schemeClr val="tx1"/>
          </a:solidFill>
          <a:latin typeface="+mn-lt"/>
          <a:ea typeface="+mn-ea"/>
          <a:cs typeface="+mn-cs"/>
        </a:defRPr>
      </a:lvl3pPr>
      <a:lvl4pPr marL="1600200" indent="-228600" algn="l" rtl="0" eaLnBrk="0" hangingPunct="0" fontAlgn="base">
        <a:spcBef>
          <a:spcPct val="20000"/>
        </a:spcBef>
        <a:spcAft>
          <a:spcPct val="0"/>
        </a:spcAft>
        <a:buFont typeface="Arial"/>
        <a:buChar char="–"/>
        <a:defRPr sz="2000" kern="1200">
          <a:solidFill>
            <a:schemeClr val="tx1"/>
          </a:solidFill>
          <a:latin typeface="+mn-lt"/>
          <a:ea typeface="+mn-ea"/>
          <a:cs typeface="+mn-cs"/>
        </a:defRPr>
      </a:lvl4pPr>
      <a:lvl5pPr marL="2057400" indent="-228600" algn="l" rtl="0" eaLnBrk="0" hangingPunct="0" fontAlgn="base">
        <a:spcBef>
          <a:spcPct val="20000"/>
        </a:spcBef>
        <a:spcAft>
          <a:spcPct val="0"/>
        </a:spcAft>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a:buChar char="•"/>
        <a:defRPr sz="2000" kern="1200">
          <a:solidFill>
            <a:schemeClr val="tx1"/>
          </a:solidFill>
          <a:latin typeface="+mn-lt"/>
          <a:ea typeface="+mn-ea"/>
          <a:cs typeface="+mn-cs"/>
        </a:defRPr>
      </a:lvl9pPr>
    </p:bodyStyle>
    <p:other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gif"/><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jpeg"/><Relationship Id="rId5" Type="http://schemas.openxmlformats.org/officeDocument/2006/relationships/image" Target="../media/image10.jpeg"/><Relationship Id="rId6" Type="http://schemas.openxmlformats.org/officeDocument/2006/relationships/image" Target="../media/image1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 Id="rId3" Type="http://schemas.openxmlformats.org/officeDocument/2006/relationships/image" Target="../media/image14.jpeg"/><Relationship Id="rId4" Type="http://schemas.openxmlformats.org/officeDocument/2006/relationships/image" Target="../media/image1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0.jpeg"/><Relationship Id="rId7" Type="http://schemas.openxmlformats.org/officeDocument/2006/relationships/image" Target="../media/image21.jpeg"/><Relationship Id="rId8" Type="http://schemas.openxmlformats.org/officeDocument/2006/relationships/image" Target="../media/image22.jpeg"/><Relationship Id="rId9" Type="http://schemas.openxmlformats.org/officeDocument/2006/relationships/image" Target="../media/image23.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eg"/><Relationship Id="rId3" Type="http://schemas.openxmlformats.org/officeDocument/2006/relationships/image" Target="../media/image25.jpe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jpeg"/><Relationship Id="rId3" Type="http://schemas.openxmlformats.org/officeDocument/2006/relationships/image" Target="../media/image27.jpeg"/><Relationship Id="rId4" Type="http://schemas.openxmlformats.org/officeDocument/2006/relationships/image" Target="../media/image2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eg"/><Relationship Id="rId3" Type="http://schemas.openxmlformats.org/officeDocument/2006/relationships/image" Target="../media/image2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 Id="rId3"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eg"/><Relationship Id="rId3" Type="http://schemas.openxmlformats.org/officeDocument/2006/relationships/image" Target="../media/image36.jpeg"/><Relationship Id="rId4" Type="http://schemas.openxmlformats.org/officeDocument/2006/relationships/image" Target="../media/image69.jpg"/><Relationship Id="rId5"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jpeg"/><Relationship Id="rId3" Type="http://schemas.openxmlformats.org/officeDocument/2006/relationships/image" Target="../media/image3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jpeg"/><Relationship Id="rId3" Type="http://schemas.openxmlformats.org/officeDocument/2006/relationships/image" Target="../media/image4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jpeg"/><Relationship Id="rId3"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jpeg"/><Relationship Id="rId3" Type="http://schemas.openxmlformats.org/officeDocument/2006/relationships/image" Target="../media/image45.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jpeg"/><Relationship Id="rId3" Type="http://schemas.openxmlformats.org/officeDocument/2006/relationships/image" Target="../media/image4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jpeg"/><Relationship Id="rId3" Type="http://schemas.openxmlformats.org/officeDocument/2006/relationships/image" Target="../media/image49.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jpeg"/><Relationship Id="rId3" Type="http://schemas.openxmlformats.org/officeDocument/2006/relationships/image" Target="../media/image53.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jpeg"/><Relationship Id="rId3" Type="http://schemas.openxmlformats.org/officeDocument/2006/relationships/image" Target="../media/image57.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jpeg"/><Relationship Id="rId3" Type="http://schemas.openxmlformats.org/officeDocument/2006/relationships/image" Target="../media/image59.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jpeg"/><Relationship Id="rId3" Type="http://schemas.openxmlformats.org/officeDocument/2006/relationships/image" Target="../media/image61.jpeg"/><Relationship Id="rId4" Type="http://schemas.openxmlformats.org/officeDocument/2006/relationships/image" Target="../media/image70.jpg"/><Relationship Id="rId5" Type="http://schemas.openxmlformats.org/officeDocument/2006/relationships/image" Target="../media/image20.jpeg"/><Relationship Id="rId6"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jpeg"/><Relationship Id="rId3" Type="http://schemas.openxmlformats.org/officeDocument/2006/relationships/image" Target="../media/image67.jpe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C:\Users\ajay pc\Desktop\unnamed.jpg"/>
          <p:cNvPicPr>
            <a:picLocks noChangeAspect="1"/>
          </p:cNvPicPr>
          <p:nvPr/>
        </p:nvPicPr>
        <p:blipFill rotWithShape="1">
          <a:blip r:embed="rId2"/>
          <a:stretch>
            <a:fillRect/>
          </a:stretch>
        </p:blipFill>
        <p:spPr>
          <a:xfrm>
            <a:off x="0" y="0"/>
            <a:ext cx="9144000" cy="6858000"/>
          </a:xfrm>
          <a:prstGeom prst="rect">
            <a:avLst/>
          </a:prstGeom>
          <a:noFill/>
          <a:ln>
            <a:noFill/>
          </a:ln>
        </p:spPr>
      </p:pic>
      <p:sp>
        <p:nvSpPr>
          <p:cNvPr id="5" name="Rectangle 4"/>
          <p:cNvSpPr/>
          <p:nvPr/>
        </p:nvSpPr>
        <p:spPr>
          <a:xfrm>
            <a:off x="714375" y="3286125"/>
            <a:ext cx="4341932" cy="1127760"/>
          </a:xfrm>
          <a:prstGeom prst="rect">
            <a:avLst/>
          </a:prstGeom>
        </p:spPr>
        <p:txBody>
          <a:bodyPr wrap="square" lIns="54864" rIns="54864" tIns="54864" bIns="54864">
            <a:spAutoFit/>
          </a:bodyPr>
          <a:lstStyle/>
          <a:p>
            <a:pPr algn="ctr" eaLnBrk="1" hangingPunct="1">
              <a:spcAft>
                <a:spcPts val="500"/>
              </a:spcAft>
            </a:pPr>
            <a:r>
              <a:rPr sz="4800" b="0" i="0">
                <a:solidFill>
                  <a:schemeClr val="accent6"/>
                </a:solidFill>
                <a:latin typeface="Engravers MT"/>
              </a:rPr>
              <a:t>Traditional</a:t>
            </a:r>
            <a:endParaRPr lang="en-IN" sz="4800">
              <a:solidFill>
                <a:schemeClr val="accent6">
                  <a:lumMod val="20000"/>
                  <a:lumOff val="80000"/>
                </a:schemeClr>
              </a:solidFill>
              <a:latin typeface="Engravers MT"/>
              <a:ea typeface="SimHei"/>
            </a:endParaRPr>
          </a:p>
          <a:p>
            <a:pPr>
              <a:spcAft>
                <a:spcPts val="500"/>
              </a:spcAft>
            </a:pPr>
            <a:r>
              <a:rPr sz="2100" b="0" i="0">
                <a:solidFill>
                  <a:schemeClr val="accent6"/>
                </a:solidFill>
                <a:latin typeface="Engravers MT"/>
              </a:rPr>
              <a:t>Costumes and Dyeing</a:t>
            </a:r>
          </a:p>
        </p:txBody>
      </p:sp>
      <p:cxnSp>
        <p:nvCxnSpPr>
          <p:cNvPr id="7" name="Straight Connector 6"/>
          <p:cNvCxnSpPr/>
          <p:nvPr/>
        </p:nvCxnSpPr>
        <p:spPr>
          <a:xfrm>
            <a:off x="500063" y="4572000"/>
            <a:ext cx="3786187"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00063" y="4643438"/>
            <a:ext cx="3786187"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051" name="TextBox 2050"/>
          <p:cNvSpPr txBox="1"/>
          <p:nvPr/>
        </p:nvSpPr>
        <p:spPr>
          <a:xfrm>
            <a:off x="658368" y="4809744"/>
            <a:ext cx="6858000" cy="347472"/>
          </a:xfrm>
          <a:prstGeom prst="rect">
            <a:avLst/>
          </a:prstGeom>
          <a:noFill/>
        </p:spPr>
        <p:txBody>
          <a:bodyPr wrap="square" lIns="27432" rIns="27432" tIns="18288" bIns="18288">
            <a:spAutoFit/>
          </a:bodyPr>
          <a:lstStyle/>
          <a:p>
            <a:pPr>
              <a:spcAft>
                <a:spcPts val="0"/>
              </a:spcAft>
            </a:pPr>
            <a:r>
              <a:rPr sz="1300" b="0" i="0">
                <a:solidFill>
                  <a:srgbClr val="3E3027"/>
                </a:solidFill>
                <a:latin typeface="Baskerville Old Face"/>
              </a:rPr>
              <a:t>China and Morocco  •  Chinese Elective  •  6-minute report  •  40 points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3" descr="C:\Users\ajay pc\Desktop\70c9af90a498ccfe335e696c91ad8bee.gif"/>
          <p:cNvPicPr>
            <a:picLocks noChangeAspect="1"/>
          </p:cNvPicPr>
          <p:nvPr/>
        </p:nvPicPr>
        <p:blipFill rotWithShape="1">
          <a:blip r:embed="rId2"/>
          <a:stretch>
            <a:fillRect/>
          </a:stretch>
        </p:blipFill>
        <p:spPr>
          <a:xfrm>
            <a:off x="3595688" y="311150"/>
            <a:ext cx="5548312" cy="5689600"/>
          </a:xfrm>
          <a:prstGeom prst="rect">
            <a:avLst/>
          </a:prstGeom>
          <a:noFill/>
          <a:ln>
            <a:noFill/>
          </a:ln>
        </p:spPr>
      </p:pic>
      <p:sp>
        <p:nvSpPr>
          <p:cNvPr id="3" name="Content Placeholder 2"/>
          <p:cNvSpPr txBox="1"/>
          <p:nvPr/>
        </p:nvSpPr>
        <p:spPr>
          <a:xfrm>
            <a:off x="285750" y="2071688"/>
            <a:ext cx="3786188" cy="3429000"/>
          </a:xfrm>
          <a:prstGeom prst="rect">
            <a:avLst/>
          </a:prstGeom>
        </p:spPr>
        <p:txBody>
          <a:bodyPr wrap="square" lIns="109728" rIns="109728" tIns="109728" bIns="109728"/>
          <a:lstStyle/>
          <a:p>
            <a:pPr marL="342900" indent="-342900" algn="ctr">
              <a:spcBef>
                <a:spcPct val="20000"/>
              </a:spcBef>
              <a:spcAft>
                <a:spcPts val="500"/>
              </a:spcAft>
              <a:buFont typeface="Arial"/>
              <a:buNone/>
            </a:pPr>
            <a:r>
              <a:rPr sz="1600" b="0" i="0">
                <a:solidFill>
                  <a:schemeClr val="accent2"/>
                </a:solidFill>
                <a:latin typeface="Baskerville Old Face"/>
              </a:rPr>
              <a:t>Traditional clothing is a record of history, materials, and skilled work. Chinese dress changed across dynasties; Moroccan dress varies by region and occasion. In both traditions, the cut, fabric, color, and decoration can express identity and social meaning. This report compares examples from China and Morocco.</a:t>
            </a:r>
          </a:p>
        </p:txBody>
      </p:sp>
      <p:pic>
        <p:nvPicPr>
          <p:cNvPr id="3076" name="Picture 2" descr="C:\Users\ajay pc\Desktop\plum-blossoms-tree-branch-10508457.jpg"/>
          <p:cNvPicPr>
            <a:picLocks noChangeAspect="1"/>
          </p:cNvPicPr>
          <p:nvPr/>
        </p:nvPicPr>
        <p:blipFill rotWithShape="1">
          <a:blip r:embed="rId3"/>
          <a:srcRect l="0" t="0" r="0" b="15605"/>
          <a:stretch>
            <a:fillRect/>
          </a:stretch>
        </p:blipFill>
        <p:spPr>
          <a:xfrm>
            <a:off x="7358063" y="5838825"/>
            <a:ext cx="1785937" cy="1019175"/>
          </a:xfrm>
          <a:prstGeom prst="rect">
            <a:avLst/>
          </a:prstGeom>
          <a:noFill/>
          <a:ln>
            <a:noFill/>
          </a:ln>
        </p:spPr>
      </p:pic>
      <p:pic>
        <p:nvPicPr>
          <p:cNvPr id="3077" name="Picture 2" descr="C:\Users\ajay pc\Desktop\plum-blossoms-tree-branch-10508457.jpg"/>
          <p:cNvPicPr>
            <a:picLocks noChangeAspect="1"/>
          </p:cNvPicPr>
          <p:nvPr/>
        </p:nvPicPr>
        <p:blipFill rotWithShape="1">
          <a:blip r:embed="rId4"/>
          <a:srcRect l="0" t="15605" r="0" b="0"/>
          <a:stretch>
            <a:fillRect/>
          </a:stretch>
        </p:blipFill>
        <p:spPr>
          <a:xfrm>
            <a:off x="0" y="214313"/>
            <a:ext cx="3019425" cy="1724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jay pc\Desktop\plum-blossoms-tree-branch-10508457.jpg"/>
          <p:cNvPicPr>
            <a:picLocks noChangeAspect="1"/>
          </p:cNvPicPr>
          <p:nvPr/>
        </p:nvPicPr>
        <p:blipFill rotWithShape="1">
          <a:blip r:embed="rId2"/>
          <a:srcRect l="0" t="0" r="0" b="15605"/>
          <a:stretch>
            <a:fillRect/>
          </a:stretch>
        </p:blipFill>
        <p:spPr>
          <a:xfrm>
            <a:off x="0" y="4786313"/>
            <a:ext cx="3929063" cy="2071687"/>
          </a:xfrm>
          <a:prstGeom prst="rect">
            <a:avLst/>
          </a:prstGeom>
          <a:noFill/>
          <a:ln>
            <a:noFill/>
          </a:ln>
        </p:spPr>
      </p:pic>
      <p:pic>
        <p:nvPicPr>
          <p:cNvPr id="4099" name="Picture 2" descr="C:\Users\ajay pc\Desktop\plum-blossoms-tree-branch-10508457.jpg"/>
          <p:cNvPicPr>
            <a:picLocks noChangeAspect="1"/>
          </p:cNvPicPr>
          <p:nvPr/>
        </p:nvPicPr>
        <p:blipFill rotWithShape="1">
          <a:blip r:embed="rId3"/>
          <a:srcRect l="1775" t="15605" r="0" b="0"/>
          <a:stretch>
            <a:fillRect/>
          </a:stretch>
        </p:blipFill>
        <p:spPr>
          <a:xfrm>
            <a:off x="5715000" y="0"/>
            <a:ext cx="3429000" cy="2081213"/>
          </a:xfrm>
          <a:prstGeom prst="rect">
            <a:avLst/>
          </a:prstGeom>
          <a:noFill/>
          <a:ln>
            <a:noFill/>
          </a:ln>
        </p:spPr>
      </p:pic>
      <p:sp>
        <p:nvSpPr>
          <p:cNvPr id="5" name="Content Placeholder 4"/>
          <p:cNvSpPr>
            <a:spLocks noGrp="1"/>
          </p:cNvSpPr>
          <p:nvPr>
            <p:ph idx="1"/>
          </p:nvPr>
        </p:nvSpPr>
        <p:spPr>
          <a:xfrm>
            <a:off x="1357313" y="1785938"/>
            <a:ext cx="5929312" cy="3000375"/>
          </a:xfrm>
          <a:prstGeom prst="rect">
            <a:avLst/>
          </a:prstGeom>
        </p:spPr>
        <p:txBody>
          <a:bodyPr wrap="square" lIns="54864" rIns="54864" tIns="54864" bIns="54864"/>
          <a:lstStyle/>
          <a:p>
            <a:pPr>
              <a:spcAft>
                <a:spcPts val="500"/>
              </a:spcAft>
            </a:pPr>
            <a:r>
              <a:rPr sz="1600" b="1" i="0">
                <a:solidFill>
                  <a:schemeClr val="accent2"/>
                </a:solidFill>
                <a:latin typeface="Arial"/>
              </a:rPr>
              <a:t>Common forms</a:t>
            </a:r>
          </a:p>
          <a:p>
            <a:pPr>
              <a:spcAft>
                <a:spcPts val="500"/>
              </a:spcAft>
            </a:pPr>
            <a:r>
              <a:rPr sz="1400" b="0" i="0">
                <a:solidFill>
                  <a:schemeClr val="accent2"/>
                </a:solidFill>
                <a:latin typeface="Arial"/>
              </a:rPr>
              <a:t>• Upper garment with a skirt; or a long robe.</a:t>
            </a:r>
          </a:p>
          <a:p>
            <a:pPr>
              <a:spcAft>
                <a:spcPts val="500"/>
              </a:spcAft>
            </a:pPr>
            <a:r>
              <a:rPr sz="1600" b="1" i="0">
                <a:solidFill>
                  <a:schemeClr val="accent2"/>
                </a:solidFill>
                <a:latin typeface="Arial"/>
              </a:rPr>
              <a:t>Shape and construction</a:t>
            </a:r>
          </a:p>
          <a:p>
            <a:pPr>
              <a:spcAft>
                <a:spcPts val="500"/>
              </a:spcAft>
            </a:pPr>
            <a:r>
              <a:rPr sz="1400" b="0" i="0">
                <a:solidFill>
                  <a:schemeClr val="accent2"/>
                </a:solidFill>
                <a:latin typeface="Arial"/>
              </a:rPr>
              <a:t>• Overlapping collars and waist ties are common in many styles.</a:t>
            </a:r>
          </a:p>
          <a:p>
            <a:pPr>
              <a:spcAft>
                <a:spcPts val="500"/>
              </a:spcAft>
            </a:pPr>
            <a:r>
              <a:rPr sz="1400" b="0" i="0">
                <a:solidFill>
                  <a:schemeClr val="accent2"/>
                </a:solidFill>
                <a:latin typeface="Arial"/>
              </a:rPr>
              <a:t>• Straight, flowing lines; sleeve and hem length vary by period and purpose.</a:t>
            </a:r>
          </a:p>
          <a:p>
            <a:pPr>
              <a:spcAft>
                <a:spcPts val="500"/>
              </a:spcAft>
            </a:pPr>
            <a:r>
              <a:rPr sz="1400" b="0" i="0">
                <a:solidFill>
                  <a:schemeClr val="accent2"/>
                </a:solidFill>
                <a:latin typeface="Arial"/>
              </a:rPr>
              <a:t>• Garments were often layered and cut from flat panels.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3" descr="C:\Users\ajay pc\Desktop\f9c8108034c1dda03b410ef9b07be70b.jpg"/>
          <p:cNvPicPr>
            <a:picLocks noChangeAspect="1"/>
          </p:cNvPicPr>
          <p:nvPr/>
        </p:nvPicPr>
        <p:blipFill rotWithShape="1">
          <a:blip r:embed="rId2"/>
          <a:stretch>
            <a:fillRect/>
          </a:stretch>
        </p:blipFill>
        <p:spPr>
          <a:xfrm>
            <a:off x="3000375" y="4071938"/>
            <a:ext cx="3071813" cy="2611437"/>
          </a:xfrm>
          <a:prstGeom prst="rect">
            <a:avLst/>
          </a:prstGeom>
          <a:noFill/>
          <a:ln>
            <a:noFill/>
          </a:ln>
        </p:spPr>
      </p:pic>
      <p:pic>
        <p:nvPicPr>
          <p:cNvPr id="5123" name="Picture 12" descr="C:\Users\ajay pc\Desktop\8f630deca46409f72b6b83acce93f631--hanfu-pattern-chinese-clothes.jpg"/>
          <p:cNvPicPr>
            <a:picLocks noChangeAspect="1"/>
          </p:cNvPicPr>
          <p:nvPr/>
        </p:nvPicPr>
        <p:blipFill rotWithShape="1">
          <a:blip r:embed="rId3"/>
          <a:stretch>
            <a:fillRect/>
          </a:stretch>
        </p:blipFill>
        <p:spPr>
          <a:xfrm>
            <a:off x="-71438" y="3781425"/>
            <a:ext cx="3438526" cy="3076575"/>
          </a:xfrm>
          <a:prstGeom prst="rect">
            <a:avLst/>
          </a:prstGeom>
          <a:noFill/>
          <a:ln>
            <a:noFill/>
          </a:ln>
        </p:spPr>
      </p:pic>
      <p:pic>
        <p:nvPicPr>
          <p:cNvPr id="5124" name="Picture 14" descr="C:\Users\ajay pc\Desktop\e84b593d395f35e0d4927f088336e4e9--costume-patterns-dress-patterns.jpg"/>
          <p:cNvPicPr>
            <a:picLocks noChangeAspect="1"/>
          </p:cNvPicPr>
          <p:nvPr/>
        </p:nvPicPr>
        <p:blipFill rotWithShape="1">
          <a:blip r:embed="rId4"/>
          <a:stretch>
            <a:fillRect/>
          </a:stretch>
        </p:blipFill>
        <p:spPr>
          <a:xfrm>
            <a:off x="3817938" y="0"/>
            <a:ext cx="4968875" cy="3929063"/>
          </a:xfrm>
          <a:prstGeom prst="rect">
            <a:avLst/>
          </a:prstGeom>
          <a:noFill/>
          <a:ln>
            <a:noFill/>
          </a:ln>
        </p:spPr>
      </p:pic>
      <p:pic>
        <p:nvPicPr>
          <p:cNvPr id="5125" name="Picture 15" descr="C:\Users\ajay pc\Desktop\7526cae61a37d05ae5ca06732433ee88--hanfu-draping.jpg"/>
          <p:cNvPicPr>
            <a:picLocks noChangeAspect="1"/>
          </p:cNvPicPr>
          <p:nvPr/>
        </p:nvPicPr>
        <p:blipFill rotWithShape="1">
          <a:blip r:embed="rId5"/>
          <a:srcRect l="0" t="25230" r="0" b="10551"/>
          <a:stretch>
            <a:fillRect/>
          </a:stretch>
        </p:blipFill>
        <p:spPr>
          <a:xfrm>
            <a:off x="6000750" y="4060825"/>
            <a:ext cx="3143250" cy="2797175"/>
          </a:xfrm>
          <a:prstGeom prst="rect">
            <a:avLst/>
          </a:prstGeom>
          <a:noFill/>
          <a:ln>
            <a:noFill/>
          </a:ln>
        </p:spPr>
      </p:pic>
      <p:pic>
        <p:nvPicPr>
          <p:cNvPr id="5126" name="Picture 16" descr="C:\Users\ajay pc\Desktop\0efc4ad82ddcfcb7a45b1b1b0c90e5f2--kimono-traditional-pattern-chinese-clothing.jpg"/>
          <p:cNvPicPr>
            <a:picLocks noChangeAspect="1"/>
          </p:cNvPicPr>
          <p:nvPr/>
        </p:nvPicPr>
        <p:blipFill rotWithShape="1">
          <a:blip r:embed="rId6"/>
          <a:srcRect l="11421" t="0" r="6726" b="3767"/>
          <a:stretch>
            <a:fillRect/>
          </a:stretch>
        </p:blipFill>
        <p:spPr>
          <a:xfrm>
            <a:off x="487363" y="0"/>
            <a:ext cx="2584450" cy="37861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ajay pc\Desktop\plum-blossoms-tree-branch-10508457.jpg"/>
          <p:cNvPicPr>
            <a:picLocks noChangeAspect="1"/>
          </p:cNvPicPr>
          <p:nvPr/>
        </p:nvPicPr>
        <p:blipFill rotWithShape="1">
          <a:blip r:embed="rId2"/>
          <a:srcRect l="0" t="0" r="0" b="15605"/>
          <a:stretch>
            <a:fillRect/>
          </a:stretch>
        </p:blipFill>
        <p:spPr>
          <a:xfrm>
            <a:off x="0" y="4786313"/>
            <a:ext cx="3929063" cy="2071687"/>
          </a:xfrm>
          <a:prstGeom prst="rect">
            <a:avLst/>
          </a:prstGeom>
          <a:noFill/>
          <a:ln>
            <a:noFill/>
          </a:ln>
        </p:spPr>
      </p:pic>
      <p:pic>
        <p:nvPicPr>
          <p:cNvPr id="6147" name="Picture 2" descr="C:\Users\ajay pc\Desktop\plum-blossoms-tree-branch-10508457.jpg"/>
          <p:cNvPicPr>
            <a:picLocks noChangeAspect="1"/>
          </p:cNvPicPr>
          <p:nvPr/>
        </p:nvPicPr>
        <p:blipFill rotWithShape="1">
          <a:blip r:embed="rId3"/>
          <a:srcRect l="3819" t="15605" r="0" b="0"/>
          <a:stretch>
            <a:fillRect/>
          </a:stretch>
        </p:blipFill>
        <p:spPr>
          <a:xfrm>
            <a:off x="5786438" y="0"/>
            <a:ext cx="3357562" cy="2081213"/>
          </a:xfrm>
          <a:prstGeom prst="rect">
            <a:avLst/>
          </a:prstGeom>
          <a:noFill/>
          <a:ln>
            <a:noFill/>
          </a:ln>
        </p:spPr>
      </p:pic>
      <p:sp>
        <p:nvSpPr>
          <p:cNvPr id="5" name="Content Placeholder 4"/>
          <p:cNvSpPr>
            <a:spLocks noGrp="1"/>
          </p:cNvSpPr>
          <p:nvPr>
            <p:ph idx="1"/>
          </p:nvPr>
        </p:nvSpPr>
        <p:spPr>
          <a:xfrm>
            <a:off x="1357313" y="1785938"/>
            <a:ext cx="5929312" cy="3000375"/>
          </a:xfrm>
          <a:prstGeom prst="rect">
            <a:avLst/>
          </a:prstGeom>
        </p:spPr>
        <p:txBody>
          <a:bodyPr wrap="square" lIns="54864" rIns="54864" tIns="54864" bIns="54864"/>
          <a:lstStyle/>
          <a:p>
            <a:pPr>
              <a:spcAft>
                <a:spcPts val="500"/>
              </a:spcAft>
            </a:pPr>
            <a:r>
              <a:rPr sz="1500" b="1" i="0">
                <a:solidFill>
                  <a:schemeClr val="accent2"/>
                </a:solidFill>
                <a:latin typeface="Arial"/>
              </a:rPr>
              <a:t>Materials</a:t>
            </a:r>
          </a:p>
          <a:p>
            <a:pPr>
              <a:spcAft>
                <a:spcPts val="500"/>
              </a:spcAft>
            </a:pPr>
            <a:r>
              <a:rPr sz="1300" b="0" i="0">
                <a:solidFill>
                  <a:schemeClr val="accent2"/>
                </a:solidFill>
                <a:latin typeface="Arial"/>
              </a:rPr>
              <a:t>Silk was prized; hemp, cotton, and other fibers were also used, depending on period and access.</a:t>
            </a:r>
          </a:p>
          <a:p>
            <a:pPr>
              <a:spcAft>
                <a:spcPts val="500"/>
              </a:spcAft>
            </a:pPr>
            <a:r>
              <a:rPr sz="1500" b="1" i="0">
                <a:solidFill>
                  <a:schemeClr val="accent2"/>
                </a:solidFill>
                <a:latin typeface="Arial"/>
              </a:rPr>
              <a:t>Dye and color</a:t>
            </a:r>
          </a:p>
          <a:p>
            <a:pPr>
              <a:spcAft>
                <a:spcPts val="500"/>
              </a:spcAft>
            </a:pPr>
            <a:r>
              <a:rPr sz="1300" b="0" i="0">
                <a:solidFill>
                  <a:schemeClr val="accent2"/>
                </a:solidFill>
                <a:latin typeface="Arial"/>
              </a:rPr>
              <a:t>In China, indigo gave blues; safflower reds and pinks; gardenia yellows are examples of plant dyes.</a:t>
            </a:r>
          </a:p>
          <a:p>
            <a:pPr>
              <a:spcAft>
                <a:spcPts val="500"/>
              </a:spcAft>
            </a:pPr>
            <a:r>
              <a:rPr sz="1300" b="0" i="0">
                <a:solidFill>
                  <a:schemeClr val="accent2"/>
                </a:solidFill>
                <a:latin typeface="Arial"/>
              </a:rPr>
              <a:t>In Morocco, regional textile dyes include indigo, madder, saffron, and henna; fibers and palettes vary by place.</a:t>
            </a:r>
          </a:p>
          <a:p>
            <a:pPr>
              <a:spcAft>
                <a:spcPts val="500"/>
              </a:spcAft>
            </a:pPr>
            <a:r>
              <a:rPr sz="1500" b="1" i="0">
                <a:solidFill>
                  <a:schemeClr val="accent2"/>
                </a:solidFill>
                <a:latin typeface="Arial"/>
              </a:rPr>
              <a:t>Patterns</a:t>
            </a:r>
          </a:p>
          <a:p>
            <a:pPr>
              <a:spcAft>
                <a:spcPts val="500"/>
              </a:spcAft>
            </a:pPr>
            <a:r>
              <a:rPr sz="1300" b="0" i="0">
                <a:solidFill>
                  <a:schemeClr val="accent2"/>
                </a:solidFill>
                <a:latin typeface="Arial"/>
              </a:rPr>
              <a:t>Auspicious motifs could express good wishes; dragons on imperial clothing could signal authority.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6" descr="C:\Users\ajay pc\Desktop\portfolio\image.png"/>
          <p:cNvPicPr>
            <a:picLocks noChangeAspect="1"/>
          </p:cNvPicPr>
          <p:nvPr/>
        </p:nvPicPr>
        <p:blipFill rotWithShape="1">
          <a:blip r:embed="rId2"/>
          <a:stretch>
            <a:fillRect/>
          </a:stretch>
        </p:blipFill>
        <p:spPr>
          <a:xfrm>
            <a:off x="0" y="0"/>
            <a:ext cx="91440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ajay pc\Desktop\chinies\2f680ab4e98ebd453a6bf0e7c73d7aa8.jpg"/>
          <p:cNvPicPr>
            <a:picLocks noChangeAspect="1"/>
          </p:cNvPicPr>
          <p:nvPr/>
        </p:nvPicPr>
        <p:blipFill rotWithShape="1">
          <a:blip r:embed="rId2"/>
          <a:stretch>
            <a:fillRect/>
          </a:stretch>
        </p:blipFill>
        <p:spPr>
          <a:xfrm>
            <a:off x="2143125" y="0"/>
            <a:ext cx="4572000" cy="6858000"/>
          </a:xfrm>
          <a:prstGeom prst="rect">
            <a:avLst/>
          </a:prstGeom>
          <a:noFill/>
          <a:ln>
            <a:noFill/>
          </a:ln>
        </p:spPr>
      </p:pic>
      <p:pic>
        <p:nvPicPr>
          <p:cNvPr id="8195" name="Picture 3" descr="C:\Users\ajay pc\Desktop\chinies\a5244b18dc9739ce82de8ca625f041af.jpg"/>
          <p:cNvPicPr>
            <a:picLocks noChangeAspect="1"/>
          </p:cNvPicPr>
          <p:nvPr/>
        </p:nvPicPr>
        <p:blipFill rotWithShape="1">
          <a:blip r:embed="rId3"/>
          <a:srcRect l="0" t="0" r="6657" b="0"/>
          <a:stretch>
            <a:fillRect/>
          </a:stretch>
        </p:blipFill>
        <p:spPr>
          <a:xfrm>
            <a:off x="6140450" y="1428750"/>
            <a:ext cx="3003550" cy="4357688"/>
          </a:xfrm>
          <a:prstGeom prst="rect">
            <a:avLst/>
          </a:prstGeom>
          <a:noFill/>
          <a:ln>
            <a:noFill/>
          </a:ln>
        </p:spPr>
      </p:pic>
      <p:pic>
        <p:nvPicPr>
          <p:cNvPr id="8196" name="Picture 4" descr="C:\Users\ajay pc\Desktop\chinies\8ab1482aa431fc5d8ab156efd92c3aa3.jpg"/>
          <p:cNvPicPr>
            <a:picLocks noChangeAspect="1"/>
          </p:cNvPicPr>
          <p:nvPr/>
        </p:nvPicPr>
        <p:blipFill rotWithShape="1">
          <a:blip r:embed="rId4"/>
          <a:srcRect l="14629" t="21277" r="0" b="0"/>
          <a:stretch>
            <a:fillRect/>
          </a:stretch>
        </p:blipFill>
        <p:spPr>
          <a:xfrm>
            <a:off x="0" y="1428750"/>
            <a:ext cx="2700338" cy="4357688"/>
          </a:xfrm>
          <a:prstGeom prst="rect">
            <a:avLst/>
          </a:prstGeom>
          <a:noFill/>
          <a:ln>
            <a:noFill/>
          </a:ln>
        </p:spPr>
      </p:pic>
      <p:sp>
        <p:nvSpPr>
          <p:cNvPr id="8" name="Rectangle 7"/>
          <p:cNvSpPr/>
          <p:nvPr/>
        </p:nvSpPr>
        <p:spPr>
          <a:xfrm>
            <a:off x="5286375" y="6143625"/>
            <a:ext cx="2065338" cy="584200"/>
          </a:xfrm>
          <a:prstGeom prst="rect">
            <a:avLst/>
          </a:prstGeom>
        </p:spPr>
        <p:txBody>
          <a:bodyPr>
            <a:spAutoFit/>
          </a:bodyPr>
          <a:lstStyle/>
          <a:p>
            <a:pPr eaLnBrk="1" hangingPunct="1"/>
            <a:r>
              <a:rPr lang="en-US" sz="3200" b="1">
                <a:solidFill>
                  <a:schemeClr val="accent2">
                    <a:lumMod val="75000"/>
                  </a:schemeClr>
                </a:solidFill>
              </a:rPr>
              <a:t>Patterns </a:t>
            </a:r>
            <a:endParaRPr lang="en-US"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5" descr="C:\Users\ajay pc\Desktop\il_570xN.284459861.jpg"/>
          <p:cNvPicPr>
            <a:picLocks noChangeAspect="1"/>
          </p:cNvPicPr>
          <p:nvPr/>
        </p:nvPicPr>
        <p:blipFill rotWithShape="1">
          <a:blip r:embed="rId2"/>
          <a:stretch>
            <a:fillRect/>
          </a:stretch>
        </p:blipFill>
        <p:spPr>
          <a:xfrm>
            <a:off x="3214688" y="4429125"/>
            <a:ext cx="2705100" cy="2428875"/>
          </a:xfrm>
          <a:prstGeom prst="rect">
            <a:avLst/>
          </a:prstGeom>
          <a:noFill/>
          <a:ln>
            <a:noFill/>
          </a:ln>
        </p:spPr>
      </p:pic>
      <p:pic>
        <p:nvPicPr>
          <p:cNvPr id="9219" name="Picture 7" descr="C:\Users\ajay pc\Desktop\chinese-silk-brocade-fabric-cheongsam-cushion-all-gold-golden-natual-color-double-fish-pattern.jpg"/>
          <p:cNvPicPr>
            <a:picLocks noChangeAspect="1"/>
          </p:cNvPicPr>
          <p:nvPr/>
        </p:nvPicPr>
        <p:blipFill rotWithShape="1">
          <a:blip r:embed="rId3"/>
          <a:stretch>
            <a:fillRect/>
          </a:stretch>
        </p:blipFill>
        <p:spPr>
          <a:xfrm>
            <a:off x="0" y="0"/>
            <a:ext cx="3071813" cy="2049463"/>
          </a:xfrm>
          <a:prstGeom prst="rect">
            <a:avLst/>
          </a:prstGeom>
          <a:noFill/>
          <a:ln>
            <a:noFill/>
          </a:ln>
        </p:spPr>
      </p:pic>
      <p:pic>
        <p:nvPicPr>
          <p:cNvPr id="9220" name="Picture 8" descr="C:\Users\ajay pc\Desktop\chinese-brocade-fabric-shiny-silky-outfit.jpg"/>
          <p:cNvPicPr>
            <a:picLocks noChangeAspect="1"/>
          </p:cNvPicPr>
          <p:nvPr/>
        </p:nvPicPr>
        <p:blipFill rotWithShape="1">
          <a:blip r:embed="rId4"/>
          <a:stretch>
            <a:fillRect/>
          </a:stretch>
        </p:blipFill>
        <p:spPr>
          <a:xfrm>
            <a:off x="3071813" y="0"/>
            <a:ext cx="2125662" cy="1819275"/>
          </a:xfrm>
          <a:prstGeom prst="rect">
            <a:avLst/>
          </a:prstGeom>
          <a:noFill/>
          <a:ln>
            <a:noFill/>
          </a:ln>
        </p:spPr>
      </p:pic>
      <p:pic>
        <p:nvPicPr>
          <p:cNvPr id="9221" name="Picture 10" descr="C:\Users\ajay pc\Desktop\fabric-chinese-traditional-silk-brocade-red-back-with-gold-circle-gold-dragon.jpg"/>
          <p:cNvPicPr>
            <a:picLocks noChangeAspect="1"/>
          </p:cNvPicPr>
          <p:nvPr/>
        </p:nvPicPr>
        <p:blipFill rotWithShape="1">
          <a:blip r:embed="rId5"/>
          <a:srcRect l="0" t="0" r="0" b="18777"/>
          <a:stretch>
            <a:fillRect/>
          </a:stretch>
        </p:blipFill>
        <p:spPr>
          <a:xfrm>
            <a:off x="4921250" y="0"/>
            <a:ext cx="4222750" cy="4572000"/>
          </a:xfrm>
          <a:prstGeom prst="rect">
            <a:avLst/>
          </a:prstGeom>
          <a:noFill/>
          <a:ln>
            <a:noFill/>
          </a:ln>
        </p:spPr>
      </p:pic>
      <p:pic>
        <p:nvPicPr>
          <p:cNvPr id="9222" name="Picture 11" descr="C:\Users\ajay pc\Desktop\detail-of-jade-green-chinese-silk-fabric-BBBX6B.jpg"/>
          <p:cNvPicPr>
            <a:picLocks noChangeAspect="1"/>
          </p:cNvPicPr>
          <p:nvPr/>
        </p:nvPicPr>
        <p:blipFill rotWithShape="1">
          <a:blip r:embed="rId6"/>
          <a:stretch>
            <a:fillRect/>
          </a:stretch>
        </p:blipFill>
        <p:spPr>
          <a:xfrm>
            <a:off x="0" y="1785938"/>
            <a:ext cx="2786063" cy="2049462"/>
          </a:xfrm>
          <a:prstGeom prst="rect">
            <a:avLst/>
          </a:prstGeom>
          <a:noFill/>
          <a:ln>
            <a:noFill/>
          </a:ln>
        </p:spPr>
      </p:pic>
      <p:pic>
        <p:nvPicPr>
          <p:cNvPr id="9223" name="Picture 9" descr="C:\Users\ajay pc\Desktop\peacock-peony-chinese-style-red-satin-cloth.jpg"/>
          <p:cNvPicPr>
            <a:picLocks noChangeAspect="1"/>
          </p:cNvPicPr>
          <p:nvPr/>
        </p:nvPicPr>
        <p:blipFill rotWithShape="1">
          <a:blip r:embed="rId7"/>
          <a:stretch>
            <a:fillRect/>
          </a:stretch>
        </p:blipFill>
        <p:spPr>
          <a:xfrm>
            <a:off x="0" y="3643313"/>
            <a:ext cx="3214688" cy="3214687"/>
          </a:xfrm>
          <a:prstGeom prst="rect">
            <a:avLst/>
          </a:prstGeom>
          <a:noFill/>
          <a:ln>
            <a:noFill/>
          </a:ln>
        </p:spPr>
      </p:pic>
      <p:pic>
        <p:nvPicPr>
          <p:cNvPr id="9224" name="Picture 6" descr="C:\Users\ajay pc\Desktop\f54b16fa89873a9a6d5850be1bdcf3a6--asian-dragon-tattoo-dragon-tattoos.jpg"/>
          <p:cNvPicPr>
            <a:picLocks noChangeAspect="1"/>
          </p:cNvPicPr>
          <p:nvPr/>
        </p:nvPicPr>
        <p:blipFill rotWithShape="1">
          <a:blip r:embed="rId8"/>
          <a:stretch>
            <a:fillRect/>
          </a:stretch>
        </p:blipFill>
        <p:spPr>
          <a:xfrm>
            <a:off x="2724150" y="1785938"/>
            <a:ext cx="2457450" cy="3071812"/>
          </a:xfrm>
          <a:prstGeom prst="rect">
            <a:avLst/>
          </a:prstGeom>
          <a:noFill/>
          <a:ln>
            <a:noFill/>
          </a:ln>
        </p:spPr>
      </p:pic>
      <p:pic>
        <p:nvPicPr>
          <p:cNvPr id="9225" name="Picture 2" descr="C:\Users\ajay pc\Desktop\SANDCAVCA202_z.jpg"/>
          <p:cNvPicPr>
            <a:picLocks noChangeAspect="1"/>
          </p:cNvPicPr>
          <p:nvPr/>
        </p:nvPicPr>
        <p:blipFill rotWithShape="1">
          <a:blip r:embed="rId9"/>
          <a:srcRect l="0" t="32692" r="0" b="0"/>
          <a:stretch>
            <a:fillRect/>
          </a:stretch>
        </p:blipFill>
        <p:spPr>
          <a:xfrm>
            <a:off x="5429250" y="4357688"/>
            <a:ext cx="3714750" cy="25003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7588" y="928688"/>
            <a:ext cx="6015037" cy="1143000"/>
          </a:xfrm>
          <a:prstGeom prst="rect">
            <a:avLst/>
          </a:prstGeom>
        </p:spPr>
        <p:txBody>
          <a:bodyPr wrap="square" lIns="73152" rIns="73152" tIns="73152" bIns="73152"/>
          <a:lstStyle/>
          <a:p>
            <a:pPr>
              <a:spcAft>
                <a:spcPts val="500"/>
              </a:spcAft>
            </a:pPr>
            <a:r>
              <a:rPr sz="1600" b="0" i="0">
                <a:solidFill>
                  <a:schemeClr val="accent2"/>
                </a:solidFill>
                <a:latin typeface="Baskerville Old Face"/>
              </a:rPr>
              <a:t>Hanfu refers broadly to traditional Han Chinese dress; it includes many styles rather than one uniform outfit. Overlapping collars, waist ties or sashes, and layered garments appear in many forms. Materials and details changed over time and could reflect occasion, identity, or social position.</a:t>
            </a:r>
          </a:p>
        </p:txBody>
      </p:sp>
      <p:pic>
        <p:nvPicPr>
          <p:cNvPr id="10243" name="Picture 2" descr="C:\Users\ajay pc\Desktop\c043544e5fbf7dbbf24f580453c1e65c.jpg"/>
          <p:cNvPicPr>
            <a:picLocks noChangeAspect="1"/>
          </p:cNvPicPr>
          <p:nvPr/>
        </p:nvPicPr>
        <p:blipFill rotWithShape="1">
          <a:blip r:embed="rId2"/>
          <a:srcRect l="0" t="0" r="38329" b="0"/>
          <a:stretch>
            <a:fillRect/>
          </a:stretch>
        </p:blipFill>
        <p:spPr>
          <a:xfrm>
            <a:off x="0" y="0"/>
            <a:ext cx="4229100" cy="6858000"/>
          </a:xfrm>
          <a:prstGeom prst="rect">
            <a:avLst/>
          </a:prstGeom>
          <a:noFill/>
          <a:ln>
            <a:noFill/>
          </a:ln>
        </p:spPr>
      </p:pic>
      <p:pic>
        <p:nvPicPr>
          <p:cNvPr id="10244" name="Picture 2" descr="C:\Users\ajay pc\Desktop\plum-blossoms-tree-branch-10508457.jpg"/>
          <p:cNvPicPr>
            <a:picLocks noChangeAspect="1"/>
          </p:cNvPicPr>
          <p:nvPr/>
        </p:nvPicPr>
        <p:blipFill rotWithShape="1">
          <a:blip r:embed="rId3"/>
          <a:srcRect l="0" t="0" r="0" b="15605"/>
          <a:stretch>
            <a:fillRect/>
          </a:stretch>
        </p:blipFill>
        <p:spPr>
          <a:xfrm>
            <a:off x="5653088" y="4867275"/>
            <a:ext cx="3490912" cy="1990725"/>
          </a:xfrm>
          <a:prstGeom prst="rect">
            <a:avLst/>
          </a:prstGeom>
          <a:noFill/>
          <a:ln>
            <a:noFill/>
          </a:ln>
        </p:spPr>
      </p:pic>
      <p:sp>
        <p:nvSpPr>
          <p:cNvPr id="3" name="Content Placeholder 2"/>
          <p:cNvSpPr>
            <a:spLocks noGrp="1"/>
          </p:cNvSpPr>
          <p:nvPr>
            <p:ph idx="1"/>
          </p:nvPr>
        </p:nvSpPr>
        <p:spPr>
          <a:xfrm>
            <a:off x="4886325" y="2214563"/>
            <a:ext cx="3543300" cy="2786062"/>
          </a:xfrm>
          <a:prstGeom prst="rect">
            <a:avLst/>
          </a:prstGeom>
        </p:spPr>
        <p:txBody>
          <a:bodyPr/>
          <a:lstStyle/>
          <a:p>
            <a:r>
              <a:rPr lang="en-US" sz="1800">
                <a:solidFill>
                  <a:schemeClr val="accent2">
                    <a:lumMod val="75000"/>
                  </a:schemeClr>
                </a:solidFill>
                <a:latin typeface="Baskerville Old Face"/>
              </a:rPr>
              <a:t>Hanfu</a:t>
            </a:r>
            <a:r>
              <a:rPr lang="en-US" sz="1800">
                <a:solidFill>
                  <a:schemeClr val="accent2">
                    <a:lumMod val="75000"/>
                  </a:schemeClr>
                </a:solidFill>
                <a:latin typeface="Baskerville Old Face"/>
              </a:rPr>
              <a:t>, a national formal wear, takes its name from the times of the </a:t>
            </a:r>
            <a:r>
              <a:rPr lang="en-US" sz="1800" u="sng">
                <a:solidFill>
                  <a:schemeClr val="accent2">
                    <a:lumMod val="75000"/>
                  </a:schemeClr>
                </a:solidFill>
                <a:latin typeface="Baskerville Old Face"/>
              </a:rPr>
              <a:t>Han Dynasty</a:t>
            </a:r>
            <a:r>
              <a:rPr lang="en-US" sz="1800">
                <a:solidFill>
                  <a:schemeClr val="accent2">
                    <a:lumMod val="75000"/>
                  </a:schemeClr>
                </a:solidFill>
                <a:latin typeface="Baskerville Old Face"/>
              </a:rPr>
              <a:t>, and now long out of fashion. A complete set of </a:t>
            </a:r>
            <a:r>
              <a:rPr lang="en-US" sz="1800">
                <a:solidFill>
                  <a:schemeClr val="accent2">
                    <a:lumMod val="75000"/>
                  </a:schemeClr>
                </a:solidFill>
                <a:latin typeface="Baskerville Old Face"/>
              </a:rPr>
              <a:t>Hanfu</a:t>
            </a:r>
            <a:r>
              <a:rPr lang="en-US" sz="1800">
                <a:solidFill>
                  <a:schemeClr val="accent2">
                    <a:lumMod val="75000"/>
                  </a:schemeClr>
                </a:solidFill>
                <a:latin typeface="Baskerville Old Face"/>
              </a:rPr>
              <a:t>, covers the clothing, clothing accessories, jewelry etc, and reflects the rituals of Chinese culture from that era.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Users\ajay pc\Desktop\plum-blossoms-tree-branch-10508457.jpg"/>
          <p:cNvPicPr>
            <a:picLocks noChangeAspect="1"/>
          </p:cNvPicPr>
          <p:nvPr/>
        </p:nvPicPr>
        <p:blipFill rotWithShape="1">
          <a:blip r:embed="rId2"/>
          <a:srcRect l="0" t="0" r="0" b="15605"/>
          <a:stretch>
            <a:fillRect/>
          </a:stretch>
        </p:blipFill>
        <p:spPr>
          <a:xfrm>
            <a:off x="6858000" y="5286375"/>
            <a:ext cx="2286000" cy="1365250"/>
          </a:xfrm>
          <a:prstGeom prst="rect">
            <a:avLst/>
          </a:prstGeom>
          <a:noFill/>
          <a:ln>
            <a:noFill/>
          </a:ln>
        </p:spPr>
      </p:pic>
      <p:pic>
        <p:nvPicPr>
          <p:cNvPr id="11267" name="Picture 2" descr="C:\Users\ajay pc\Desktop\plum-blossoms-tree-branch-10508457.jpg"/>
          <p:cNvPicPr>
            <a:picLocks noChangeAspect="1"/>
          </p:cNvPicPr>
          <p:nvPr/>
        </p:nvPicPr>
        <p:blipFill rotWithShape="1">
          <a:blip r:embed="rId3"/>
          <a:srcRect l="0" t="0" r="0" b="15605"/>
          <a:stretch>
            <a:fillRect/>
          </a:stretch>
        </p:blipFill>
        <p:spPr>
          <a:xfrm>
            <a:off x="0" y="5135563"/>
            <a:ext cx="2357438" cy="1365250"/>
          </a:xfrm>
          <a:prstGeom prst="rect">
            <a:avLst/>
          </a:prstGeom>
          <a:noFill/>
          <a:ln>
            <a:noFill/>
          </a:ln>
        </p:spPr>
      </p:pic>
      <p:pic>
        <p:nvPicPr>
          <p:cNvPr id="11268" name="Picture 6" descr="C:\Users\ajay pc\Desktop\ancient_china___fashion_history_study_by_fashionartventures-d747ouj.jpg"/>
          <p:cNvPicPr>
            <a:picLocks noChangeAspect="1"/>
          </p:cNvPicPr>
          <p:nvPr/>
        </p:nvPicPr>
        <p:blipFill rotWithShape="1">
          <a:blip r:embed="rId4"/>
          <a:stretch>
            <a:fillRect/>
          </a:stretch>
        </p:blipFill>
        <p:spPr>
          <a:xfrm>
            <a:off x="187325" y="357188"/>
            <a:ext cx="8742363" cy="3857625"/>
          </a:xfrm>
          <a:prstGeom prst="rect">
            <a:avLst/>
          </a:prstGeom>
          <a:noFill/>
          <a:ln>
            <a:noFill/>
          </a:ln>
        </p:spPr>
      </p:pic>
      <p:sp>
        <p:nvSpPr>
          <p:cNvPr id="2" name="Content Placeholder 1"/>
          <p:cNvSpPr>
            <a:spLocks noGrp="1"/>
          </p:cNvSpPr>
          <p:nvPr>
            <p:ph idx="1"/>
          </p:nvPr>
        </p:nvSpPr>
        <p:spPr>
          <a:xfrm>
            <a:off x="1643063" y="4286250"/>
            <a:ext cx="5905500" cy="1336675"/>
          </a:xfrm>
          <a:prstGeom prst="rect">
            <a:avLst/>
          </a:prstGeom>
        </p:spPr>
        <p:txBody>
          <a:bodyPr rtlCol="0">
            <a:noAutofit/>
          </a:bodyPr>
          <a:lstStyle/>
          <a:p>
            <a:pPr marL="274320" indent="-274320" algn="ctr" eaLnBrk="1" hangingPunct="1" fontAlgn="auto">
              <a:spcAft>
                <a:spcPts val="0"/>
              </a:spcAft>
              <a:buClr>
                <a:schemeClr val="accent1">
                  <a:lumMod val="60000"/>
                  <a:lumOff val="40000"/>
                </a:schemeClr>
              </a:buClr>
            </a:pPr>
            <a:r>
              <a:rPr lang="en-IN" sz="1800">
                <a:solidFill>
                  <a:schemeClr val="accent4">
                    <a:lumMod val="75000"/>
                  </a:schemeClr>
                </a:solidFill>
                <a:latin typeface="Arial"/>
                <a:cs typeface="Arial"/>
              </a:rPr>
              <a:t>Traditional </a:t>
            </a:r>
            <a:r>
              <a:rPr lang="en-IN" sz="1800" i="1">
                <a:solidFill>
                  <a:schemeClr val="accent4">
                    <a:lumMod val="75000"/>
                  </a:schemeClr>
                </a:solidFill>
                <a:latin typeface="Arial"/>
                <a:cs typeface="Arial"/>
              </a:rPr>
              <a:t>Chinese clothing</a:t>
            </a:r>
            <a:r>
              <a:rPr lang="en-IN" sz="1800">
                <a:solidFill>
                  <a:schemeClr val="accent4">
                    <a:lumMod val="75000"/>
                  </a:schemeClr>
                </a:solidFill>
                <a:latin typeface="Arial"/>
                <a:cs typeface="Arial"/>
              </a:rPr>
              <a:t> is broadly referred to as </a:t>
            </a:r>
            <a:r>
              <a:rPr lang="en-IN" sz="1800" i="1">
                <a:solidFill>
                  <a:schemeClr val="accent4">
                    <a:lumMod val="75000"/>
                  </a:schemeClr>
                </a:solidFill>
                <a:latin typeface="Arial"/>
                <a:cs typeface="Arial"/>
              </a:rPr>
              <a:t>hanfu</a:t>
            </a:r>
            <a:r>
              <a:rPr lang="en-IN" sz="1800">
                <a:solidFill>
                  <a:schemeClr val="accent4">
                    <a:lumMod val="75000"/>
                  </a:schemeClr>
                </a:solidFill>
                <a:latin typeface="Arial"/>
                <a:cs typeface="Arial"/>
              </a:rPr>
              <a:t> with many variations such as traditional Chinese academic dress. </a:t>
            </a:r>
          </a:p>
          <a:p>
            <a:pPr marL="274320" indent="-274320" algn="ctr" eaLnBrk="1" hangingPunct="1" fontAlgn="auto">
              <a:spcAft>
                <a:spcPts val="0"/>
              </a:spcAft>
              <a:buClr>
                <a:schemeClr val="accent1">
                  <a:lumMod val="60000"/>
                  <a:lumOff val="40000"/>
                </a:schemeClr>
              </a:buClr>
            </a:pPr>
            <a:endParaRPr lang="en-IN" sz="1800">
              <a:solidFill>
                <a:schemeClr val="accent4">
                  <a:lumMod val="75000"/>
                </a:schemeClr>
              </a:solidFill>
              <a:latin typeface="Arial"/>
              <a:cs typeface="Arial"/>
            </a:endParaRPr>
          </a:p>
          <a:p>
            <a:pPr marL="274320" indent="-274320" algn="ctr" eaLnBrk="1" hangingPunct="1" fontAlgn="auto">
              <a:spcAft>
                <a:spcPts val="0"/>
              </a:spcAft>
              <a:buClr>
                <a:schemeClr val="accent1">
                  <a:lumMod val="60000"/>
                  <a:lumOff val="40000"/>
                </a:schemeClr>
              </a:buClr>
            </a:pPr>
            <a:r>
              <a:rPr lang="en-IN" sz="1800">
                <a:solidFill>
                  <a:schemeClr val="accent4">
                    <a:lumMod val="75000"/>
                  </a:schemeClr>
                </a:solidFill>
                <a:latin typeface="Arial"/>
                <a:cs typeface="Arial"/>
              </a:rPr>
              <a:t>Depending on one's status in society, each social class had a different sense of fashion. </a:t>
            </a:r>
          </a:p>
          <a:p>
            <a:pPr marL="274320" indent="-274320" algn="ctr" eaLnBrk="1" hangingPunct="1" fontAlgn="auto">
              <a:spcAft>
                <a:spcPts val="0"/>
              </a:spcAft>
              <a:buClr>
                <a:schemeClr val="accent1">
                  <a:lumMod val="60000"/>
                  <a:lumOff val="40000"/>
                </a:schemeClr>
              </a:buClr>
            </a:pPr>
            <a:endParaRPr lang="en-IN" sz="1800">
              <a:solidFill>
                <a:schemeClr val="accent4">
                  <a:lumMod val="75000"/>
                </a:schemeClr>
              </a:solidFill>
              <a:latin typeface="Arial"/>
              <a:cs typeface="Arial"/>
            </a:endParaRPr>
          </a:p>
          <a:p>
            <a:pPr marL="274320" indent="-274320" algn="ctr" eaLnBrk="1" hangingPunct="1" fontAlgn="auto">
              <a:spcAft>
                <a:spcPts val="0"/>
              </a:spcAft>
              <a:buClr>
                <a:schemeClr val="accent1">
                  <a:lumMod val="60000"/>
                  <a:lumOff val="40000"/>
                </a:schemeClr>
              </a:buClr>
            </a:pPr>
            <a:endParaRPr lang="en-IN" sz="1800">
              <a:solidFill>
                <a:schemeClr val="accent4">
                  <a:lumMod val="75000"/>
                </a:schemeClr>
              </a:solidFill>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5000625" cy="68580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12291" name="Picture 2" descr="C:\Users\ajay pc\Desktop\plum-blossoms-tree-branch-10508457.jpg"/>
          <p:cNvPicPr>
            <a:picLocks noChangeAspect="1"/>
          </p:cNvPicPr>
          <p:nvPr/>
        </p:nvPicPr>
        <p:blipFill rotWithShape="1">
          <a:blip r:embed="rId2"/>
          <a:srcRect l="0" t="0" r="0" b="15605"/>
          <a:stretch>
            <a:fillRect/>
          </a:stretch>
        </p:blipFill>
        <p:spPr>
          <a:xfrm>
            <a:off x="5286375" y="0"/>
            <a:ext cx="3857625" cy="2773363"/>
          </a:xfrm>
          <a:prstGeom prst="rect">
            <a:avLst/>
          </a:prstGeom>
          <a:noFill/>
          <a:ln>
            <a:noFill/>
          </a:ln>
        </p:spPr>
      </p:pic>
      <p:pic>
        <p:nvPicPr>
          <p:cNvPr id="12292" name="Picture 28" descr="C:\Users\ajay pc\Desktop\59c7c51b2b5a8304e8819fdd0b92a369.jpg"/>
          <p:cNvPicPr>
            <a:picLocks noChangeAspect="1"/>
          </p:cNvPicPr>
          <p:nvPr/>
        </p:nvPicPr>
        <p:blipFill rotWithShape="1">
          <a:blip r:embed="rId3"/>
          <a:stretch>
            <a:fillRect/>
          </a:stretch>
        </p:blipFill>
        <p:spPr>
          <a:xfrm>
            <a:off x="4271963" y="0"/>
            <a:ext cx="4872037" cy="6867525"/>
          </a:xfrm>
          <a:prstGeom prst="rect">
            <a:avLst/>
          </a:prstGeom>
          <a:noFill/>
          <a:ln>
            <a:noFill/>
          </a:ln>
        </p:spPr>
      </p:pic>
      <p:graphicFrame>
        <p:nvGraphicFramePr>
          <p:cNvPr id="4" name="Content Placeholder 3"/>
          <p:cNvGraphicFramePr>
            <a:graphicFrameLocks noGrp="1"/>
          </p:cNvGraphicFramePr>
          <p:nvPr>
            <p:ph idx="1"/>
          </p:nvPr>
        </p:nvGraphicFramePr>
        <p:xfrm>
          <a:off x="285750" y="571500"/>
          <a:ext cx="4572000" cy="5626100"/>
        </p:xfrm>
        <a:graphic>
          <a:graphicData uri="http://schemas.openxmlformats.org/drawingml/2006/table">
            <a:tbl>
              <a:tblPr>
                <a:tableStyleId>{5940675A-B579-460E-94D1-54222C63F5DA}</a:tableStyleId>
              </a:tblPr>
              <a:tblGrid>
                <a:gridCol w="962803"/>
                <a:gridCol w="2905754"/>
                <a:gridCol w="703443"/>
              </a:tblGrid>
              <a:tr h="424331">
                <a:tc>
                  <a:txBody>
                    <a:bodyPr/>
                    <a:lstStyle/>
                    <a:p>
                      <a:endParaRPr lang="en-US" sz="1800">
                        <a:solidFill>
                          <a:schemeClr val="accent6">
                            <a:lumMod val="20000"/>
                            <a:lumOff val="80000"/>
                          </a:schemeClr>
                        </a:solidFill>
                      </a:endParaRPr>
                    </a:p>
                  </a:txBody>
                  <a:tcPr marL="48185" marR="48185" marT="24097" marB="24097" anchor="ctr">
                    <a:lnL>
                      <a:noFill/>
                    </a:lnL>
                    <a:lnR>
                      <a:noFill/>
                    </a:lnR>
                    <a:lnT>
                      <a:noFill/>
                    </a:lnT>
                    <a:lnB>
                      <a:noFill/>
                    </a:lnB>
                  </a:tcPr>
                </a:tc>
                <a:tc>
                  <a:txBody>
                    <a:bodyPr/>
                    <a:lstStyle/>
                    <a:p>
                      <a:r>
                        <a:rPr lang="en-IN" sz="2400" b="1" u="sng">
                          <a:solidFill>
                            <a:schemeClr val="accent6">
                              <a:lumMod val="20000"/>
                              <a:lumOff val="80000"/>
                            </a:schemeClr>
                          </a:solidFill>
                          <a:latin typeface="Arial"/>
                          <a:cs typeface="Arial"/>
                        </a:rPr>
                        <a:t>Hanfu</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nchor="ctr">
                    <a:lnL>
                      <a:noFill/>
                    </a:lnL>
                    <a:lnR>
                      <a:noFill/>
                    </a:lnR>
                    <a:lnT>
                      <a:noFill/>
                    </a:lnT>
                    <a:lnB>
                      <a:noFill/>
                    </a:lnB>
                  </a:tcPr>
                </a:tc>
              </a:tr>
              <a:tr h="1179824">
                <a:tc>
                  <a:txBody>
                    <a:bodyPr/>
                    <a:lstStyle/>
                    <a:p>
                      <a:r>
                        <a:rPr lang="en-US" sz="2000" b="1">
                          <a:solidFill>
                            <a:schemeClr val="accent6">
                              <a:lumMod val="20000"/>
                              <a:lumOff val="80000"/>
                            </a:schemeClr>
                          </a:solidFill>
                        </a:rPr>
                        <a:t>Details</a:t>
                      </a: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which have loose lapels and are open</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nchor="ctr">
                    <a:lnL>
                      <a:noFill/>
                    </a:lnL>
                    <a:lnR>
                      <a:noFill/>
                    </a:lnR>
                    <a:lnT>
                      <a:noFill/>
                    </a:lnT>
                    <a:lnB>
                      <a:noFill/>
                    </a:lnB>
                  </a:tcPr>
                </a:tc>
              </a:tr>
              <a:tr h="608941">
                <a:tc>
                  <a:txBody>
                    <a:bodyPr/>
                    <a:lstStyle/>
                    <a:p>
                      <a:r>
                        <a:rPr lang="en-IN" sz="1600" b="1">
                          <a:solidFill>
                            <a:schemeClr val="accent6">
                              <a:lumMod val="20000"/>
                              <a:lumOff val="80000"/>
                            </a:schemeClr>
                          </a:solidFill>
                          <a:latin typeface="Arial"/>
                          <a:cs typeface="Arial"/>
                        </a:rPr>
                        <a:t>Lower Garment</a:t>
                      </a:r>
                      <a:endParaRPr lang="en-IN" sz="1600">
                        <a:solidFill>
                          <a:schemeClr val="accent6">
                            <a:lumMod val="20000"/>
                            <a:lumOff val="80000"/>
                          </a:schemeClr>
                        </a:solidFill>
                        <a:latin typeface="Arial"/>
                        <a:cs typeface="Arial"/>
                      </a:endParaRP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Consist of skirts called "chang“.</a:t>
                      </a:r>
                    </a:p>
                  </a:txBody>
                  <a:tcPr marL="48185" marR="48185" marT="24097" marB="24097" anchor="ctr">
                    <a:lnL>
                      <a:noFill/>
                    </a:lnL>
                    <a:lnR>
                      <a:noFill/>
                    </a:lnR>
                    <a:lnT>
                      <a:noFill/>
                    </a:lnT>
                    <a:lnB>
                      <a:noFill/>
                    </a:lnB>
                  </a:tcPr>
                </a:tc>
                <a:tc>
                  <a:txBody>
                    <a:bodyPr/>
                    <a:lstStyle/>
                    <a:p>
                      <a:endParaRPr lang="en-US" sz="1200">
                        <a:solidFill>
                          <a:schemeClr val="accent6">
                            <a:lumMod val="20000"/>
                            <a:lumOff val="80000"/>
                          </a:schemeClr>
                        </a:solidFill>
                      </a:endParaRPr>
                    </a:p>
                  </a:txBody>
                  <a:tcPr marL="48185" marR="48185" marT="24097" marB="24097" anchor="ctr">
                    <a:lnL>
                      <a:noFill/>
                    </a:lnL>
                    <a:lnR>
                      <a:noFill/>
                    </a:lnR>
                    <a:lnT>
                      <a:noFill/>
                    </a:lnT>
                    <a:lnB>
                      <a:noFill/>
                    </a:lnB>
                  </a:tcPr>
                </a:tc>
              </a:tr>
              <a:tr h="1145550">
                <a:tc>
                  <a:txBody>
                    <a:bodyPr/>
                    <a:lstStyle/>
                    <a:p>
                      <a:r>
                        <a:rPr lang="en-IN" sz="1600" b="1">
                          <a:solidFill>
                            <a:schemeClr val="accent6">
                              <a:lumMod val="20000"/>
                              <a:lumOff val="80000"/>
                            </a:schemeClr>
                          </a:solidFill>
                          <a:latin typeface="Arial"/>
                          <a:cs typeface="Arial"/>
                        </a:rPr>
                        <a:t>Collars</a:t>
                      </a:r>
                      <a:endParaRPr lang="en-IN" sz="1600">
                        <a:solidFill>
                          <a:schemeClr val="accent6">
                            <a:lumMod val="20000"/>
                            <a:lumOff val="80000"/>
                          </a:schemeClr>
                        </a:solidFill>
                        <a:latin typeface="Arial"/>
                        <a:cs typeface="Arial"/>
                      </a:endParaRP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Generally, diagonally crossing each other, with the left crossing over the right</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nchor="ctr">
                    <a:lnL>
                      <a:noFill/>
                    </a:lnL>
                    <a:lnR>
                      <a:noFill/>
                    </a:lnR>
                    <a:lnT>
                      <a:noFill/>
                    </a:lnT>
                    <a:lnB>
                      <a:noFill/>
                    </a:lnB>
                  </a:tcPr>
                </a:tc>
              </a:tr>
              <a:tr h="330598">
                <a:tc>
                  <a:txBody>
                    <a:bodyPr/>
                    <a:lstStyle/>
                    <a:p>
                      <a:r>
                        <a:rPr lang="en-IN" sz="1600" b="1">
                          <a:solidFill>
                            <a:schemeClr val="accent6">
                              <a:lumMod val="20000"/>
                              <a:lumOff val="80000"/>
                            </a:schemeClr>
                          </a:solidFill>
                          <a:latin typeface="Arial"/>
                          <a:cs typeface="Arial"/>
                        </a:rPr>
                        <a:t>Sleeves</a:t>
                      </a:r>
                      <a:endParaRPr lang="en-IN" sz="1600">
                        <a:solidFill>
                          <a:schemeClr val="accent6">
                            <a:lumMod val="20000"/>
                            <a:lumOff val="80000"/>
                          </a:schemeClr>
                        </a:solidFill>
                        <a:latin typeface="Arial"/>
                        <a:cs typeface="Arial"/>
                      </a:endParaRP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Long and loose</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nchor="ctr">
                    <a:lnL>
                      <a:noFill/>
                    </a:lnL>
                    <a:lnR>
                      <a:noFill/>
                    </a:lnR>
                    <a:lnT>
                      <a:noFill/>
                    </a:lnT>
                    <a:lnB>
                      <a:noFill/>
                    </a:lnB>
                  </a:tcPr>
                </a:tc>
              </a:tr>
              <a:tr h="871211">
                <a:tc>
                  <a:txBody>
                    <a:bodyPr/>
                    <a:lstStyle/>
                    <a:p>
                      <a:r>
                        <a:rPr lang="en-IN" sz="1600" b="1">
                          <a:solidFill>
                            <a:schemeClr val="accent6">
                              <a:lumMod val="20000"/>
                              <a:lumOff val="80000"/>
                            </a:schemeClr>
                          </a:solidFill>
                          <a:latin typeface="Arial"/>
                          <a:cs typeface="Arial"/>
                        </a:rPr>
                        <a:t>Buttons</a:t>
                      </a:r>
                      <a:endParaRPr lang="en-IN" sz="1600">
                        <a:solidFill>
                          <a:schemeClr val="accent6">
                            <a:lumMod val="20000"/>
                            <a:lumOff val="80000"/>
                          </a:schemeClr>
                        </a:solidFill>
                        <a:latin typeface="Arial"/>
                        <a:cs typeface="Arial"/>
                      </a:endParaRP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Sparingly used and concealed inside the garment</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nchor="ctr">
                    <a:lnL>
                      <a:noFill/>
                    </a:lnL>
                    <a:lnR>
                      <a:noFill/>
                    </a:lnR>
                    <a:lnT>
                      <a:noFill/>
                    </a:lnT>
                    <a:lnB>
                      <a:noFill/>
                    </a:lnB>
                  </a:tcPr>
                </a:tc>
              </a:tr>
              <a:tr h="1065646">
                <a:tc>
                  <a:txBody>
                    <a:bodyPr/>
                    <a:lstStyle/>
                    <a:p>
                      <a:r>
                        <a:rPr lang="en-IN" sz="1600" b="1">
                          <a:solidFill>
                            <a:schemeClr val="accent6">
                              <a:lumMod val="20000"/>
                              <a:lumOff val="80000"/>
                            </a:schemeClr>
                          </a:solidFill>
                          <a:latin typeface="Arial"/>
                          <a:cs typeface="Arial"/>
                        </a:rPr>
                        <a:t>Fittings</a:t>
                      </a:r>
                      <a:endParaRPr lang="en-IN" sz="1600">
                        <a:solidFill>
                          <a:schemeClr val="accent6">
                            <a:lumMod val="20000"/>
                            <a:lumOff val="80000"/>
                          </a:schemeClr>
                        </a:solidFill>
                        <a:latin typeface="Arial"/>
                        <a:cs typeface="Arial"/>
                      </a:endParaRPr>
                    </a:p>
                  </a:txBody>
                  <a:tcPr marL="48185" marR="48185" marT="24097" marB="24097" anchor="ctr">
                    <a:lnL>
                      <a:noFill/>
                    </a:lnL>
                    <a:lnR>
                      <a:noFill/>
                    </a:lnR>
                    <a:lnT>
                      <a:noFill/>
                    </a:lnT>
                    <a:lnB>
                      <a:noFill/>
                    </a:lnB>
                  </a:tcPr>
                </a:tc>
                <a:tc>
                  <a:txBody>
                    <a:bodyPr/>
                    <a:lstStyle/>
                    <a:p>
                      <a:r>
                        <a:rPr lang="en-IN" sz="1800">
                          <a:solidFill>
                            <a:schemeClr val="accent6">
                              <a:lumMod val="20000"/>
                              <a:lumOff val="80000"/>
                            </a:schemeClr>
                          </a:solidFill>
                          <a:latin typeface="Arial"/>
                          <a:cs typeface="Arial"/>
                        </a:rPr>
                        <a:t>Belts and sashes are used to close, secure, and fit the garments around the waist</a:t>
                      </a:r>
                    </a:p>
                  </a:txBody>
                  <a:tcPr marL="48185" marR="48185" marT="24097" marB="24097" anchor="ctr">
                    <a:lnL>
                      <a:noFill/>
                    </a:lnL>
                    <a:lnR>
                      <a:noFill/>
                    </a:lnR>
                    <a:lnT>
                      <a:noFill/>
                    </a:lnT>
                    <a:lnB>
                      <a:noFill/>
                    </a:lnB>
                  </a:tcPr>
                </a:tc>
                <a:tc>
                  <a:txBody>
                    <a:bodyPr/>
                    <a:lstStyle/>
                    <a:p>
                      <a:endParaRPr lang="en-IN" sz="1200">
                        <a:solidFill>
                          <a:schemeClr val="accent6">
                            <a:lumMod val="20000"/>
                            <a:lumOff val="80000"/>
                          </a:schemeClr>
                        </a:solidFill>
                      </a:endParaRPr>
                    </a:p>
                  </a:txBody>
                  <a:tcPr marL="48185" marR="48185" marT="24097" marB="24097">
                    <a:lnL>
                      <a:noFill/>
                    </a:lnL>
                    <a:lnT>
                      <a:noFill/>
                    </a:lnT>
                  </a:tcPr>
                </a:tc>
              </a:tr>
            </a:tbl>
          </a:graphicData>
        </a:graphic>
      </p:graphicFrame>
      <p:cxnSp>
        <p:nvCxnSpPr>
          <p:cNvPr id="9" name="Straight Connector 8"/>
          <p:cNvCxnSpPr/>
          <p:nvPr/>
        </p:nvCxnSpPr>
        <p:spPr>
          <a:xfrm>
            <a:off x="214313" y="2071688"/>
            <a:ext cx="37147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14313" y="2786063"/>
            <a:ext cx="37147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85750" y="3929063"/>
            <a:ext cx="37147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85750" y="4286250"/>
            <a:ext cx="37147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85750" y="5143500"/>
            <a:ext cx="371475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13315" name="Picture 7" descr="C:\Users\ajay pc\Desktop\163d6547e426e4bb20a468560af573eb.jpg"/>
          <p:cNvPicPr>
            <a:picLocks noChangeAspect="1"/>
          </p:cNvPicPr>
          <p:nvPr/>
        </p:nvPicPr>
        <p:blipFill rotWithShape="1">
          <a:blip r:embed="rId2"/>
          <a:stretch>
            <a:fillRect/>
          </a:stretch>
        </p:blipFill>
        <p:spPr>
          <a:xfrm>
            <a:off x="6286500" y="642938"/>
            <a:ext cx="2857500" cy="5340350"/>
          </a:xfrm>
          <a:prstGeom prst="rect">
            <a:avLst/>
          </a:prstGeom>
          <a:noFill/>
          <a:ln>
            <a:noFill/>
          </a:ln>
        </p:spPr>
      </p:pic>
      <p:pic>
        <p:nvPicPr>
          <p:cNvPr id="13316" name="Picture 8" descr="C:\Users\ajay pc\Desktop\535ec1fa410e4bbe011d8d70f7c7fcc2.jpg"/>
          <p:cNvPicPr>
            <a:picLocks noChangeAspect="1"/>
          </p:cNvPicPr>
          <p:nvPr/>
        </p:nvPicPr>
        <p:blipFill rotWithShape="1">
          <a:blip r:embed="rId3"/>
          <a:srcRect l="8205" t="0" r="15898" b="0"/>
          <a:stretch>
            <a:fillRect/>
          </a:stretch>
        </p:blipFill>
        <p:spPr>
          <a:xfrm>
            <a:off x="0" y="642938"/>
            <a:ext cx="3071813" cy="5395912"/>
          </a:xfrm>
          <a:prstGeom prst="rect">
            <a:avLst/>
          </a:prstGeom>
          <a:noFill/>
          <a:ln>
            <a:noFill/>
          </a:ln>
        </p:spPr>
      </p:pic>
      <p:pic>
        <p:nvPicPr>
          <p:cNvPr id="13317" name="Picture 9" descr="C:\Users\ajay pc\Desktop\25ba1bc4d9684befb8f30f085edc923e.jpg"/>
          <p:cNvPicPr>
            <a:picLocks noChangeAspect="1"/>
          </p:cNvPicPr>
          <p:nvPr/>
        </p:nvPicPr>
        <p:blipFill rotWithShape="1">
          <a:blip r:embed="rId4"/>
          <a:srcRect l="0" t="0" r="43303" b="0"/>
          <a:stretch>
            <a:fillRect/>
          </a:stretch>
        </p:blipFill>
        <p:spPr>
          <a:xfrm>
            <a:off x="3143250" y="642938"/>
            <a:ext cx="3038475" cy="53578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endParaRPr lang="en-US"/>
          </a:p>
        </p:txBody>
      </p:sp>
      <p:sp>
        <p:nvSpPr>
          <p:cNvPr id="14339" name="Content Placeholder 2"/>
          <p:cNvSpPr>
            <a:spLocks noGrp="1"/>
          </p:cNvSpPr>
          <p:nvPr>
            <p:ph idx="1"/>
          </p:nvPr>
        </p:nvSpPr>
        <p:spPr/>
        <p:txBody>
          <a:bodyPr/>
          <a:lstStyle/>
          <a:p>
            <a:endParaRPr lang="en-US"/>
          </a:p>
        </p:txBody>
      </p:sp>
      <p:pic>
        <p:nvPicPr>
          <p:cNvPr id="14340" name="Picture 5" descr="C:\Users\ajay pc\Desktop\unnamed.jpg"/>
          <p:cNvPicPr>
            <a:picLocks noChangeAspect="1"/>
          </p:cNvPicPr>
          <p:nvPr/>
        </p:nvPicPr>
        <p:blipFill rotWithShape="1">
          <a:blip r:embed="rId2">
            <a:lum bright="-56000" contrast="6000"/>
          </a:blip>
          <a:stretch>
            <a:fillRect/>
          </a:stretch>
        </p:blipFill>
        <p:spPr>
          <a:xfrm>
            <a:off x="0" y="0"/>
            <a:ext cx="9144000" cy="6858000"/>
          </a:xfrm>
          <a:prstGeom prst="rect">
            <a:avLst/>
          </a:prstGeom>
          <a:noFill/>
          <a:ln>
            <a:noFill/>
          </a:ln>
        </p:spPr>
      </p:pic>
      <p:sp>
        <p:nvSpPr>
          <p:cNvPr id="5" name="Title 2"/>
          <p:cNvSpPr txBox="1"/>
          <p:nvPr/>
        </p:nvSpPr>
        <p:spPr>
          <a:xfrm>
            <a:off x="714375" y="2428875"/>
            <a:ext cx="3643313" cy="2251075"/>
          </a:xfrm>
          <a:prstGeom prst="rect">
            <a:avLst/>
          </a:prstGeom>
          <a:noFill/>
          <a:ln w="9525">
            <a:noFill/>
            <a:miter/>
            <a:headEnd type="none" w="med" len="med"/>
            <a:tailEnd type="none" w="med" len="med"/>
          </a:ln>
        </p:spPr>
        <p:txBody>
          <a:bodyPr anchor="ctr" wrap="square" lIns="54864" rIns="54864" tIns="54864" bIns="54864"/>
          <a:lstStyle/>
          <a:p>
            <a:pPr algn="ctr" eaLnBrk="1" hangingPunct="1">
              <a:spcAft>
                <a:spcPts val="500"/>
              </a:spcAft>
            </a:pPr>
            <a:r>
              <a:rPr sz="3800" b="0" i="0">
                <a:solidFill>
                  <a:schemeClr val="bg1"/>
                </a:solidFill>
                <a:latin typeface="Baskerville Old Face"/>
              </a:rPr>
              <a:t>Tradition &amp;</a:t>
            </a:r>
          </a:p>
          <a:p>
            <a:pPr>
              <a:spcAft>
                <a:spcPts val="500"/>
              </a:spcAft>
            </a:pPr>
            <a:r>
              <a:rPr sz="3800" b="0" i="0">
                <a:solidFill>
                  <a:schemeClr val="bg1"/>
                </a:solidFill>
                <a:latin typeface="Baskerville Old Face"/>
              </a:rPr>
              <a:t>craftsmanship</a:t>
            </a:r>
          </a:p>
        </p:txBody>
      </p:sp>
      <p:sp>
        <p:nvSpPr>
          <p:cNvPr id="14341" name="TextBox 14340"/>
          <p:cNvSpPr txBox="1"/>
          <p:nvPr/>
        </p:nvSpPr>
        <p:spPr>
          <a:xfrm>
            <a:off x="749808" y="4736592"/>
            <a:ext cx="5029200" cy="822960"/>
          </a:xfrm>
          <a:prstGeom prst="rect">
            <a:avLst/>
          </a:prstGeom>
          <a:noFill/>
        </p:spPr>
        <p:txBody>
          <a:bodyPr wrap="square" lIns="27432" rIns="27432" tIns="18288" bIns="18288">
            <a:spAutoFit/>
          </a:bodyPr>
          <a:lstStyle/>
          <a:p>
            <a:pPr>
              <a:spcAft>
                <a:spcPts val="0"/>
              </a:spcAft>
            </a:pPr>
            <a:r>
              <a:rPr sz="1700" b="0" i="0">
                <a:solidFill>
                  <a:srgbClr val="2F261E"/>
                </a:solidFill>
                <a:latin typeface="Baskerville Old Face"/>
              </a:rPr>
              <a:t>Costumes are more than garments: they carry materials, memory, and the hands of the makers.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4714875"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10243" name="Content Placeholder 1"/>
          <p:cNvSpPr>
            <a:spLocks noGrp="1"/>
          </p:cNvSpPr>
          <p:nvPr>
            <p:ph idx="1"/>
          </p:nvPr>
        </p:nvSpPr>
        <p:spPr>
          <a:xfrm>
            <a:off x="0" y="877888"/>
            <a:ext cx="4143375" cy="6408737"/>
          </a:xfrm>
          <a:prstGeom prst="rect">
            <a:avLst/>
          </a:prstGeom>
        </p:spPr>
        <p:txBody>
          <a:bodyPr rtlCol="0" wrap="square" lIns="100584" rIns="100584" tIns="100584" bIns="100584">
            <a:noAutofit/>
          </a:bodyPr>
          <a:lstStyle/>
          <a:p>
            <a:pPr algn="ctr" eaLnBrk="1" hangingPunct="1" fontAlgn="auto">
              <a:spcAft>
                <a:spcPts val="500"/>
              </a:spcAft>
              <a:buFont typeface="Arial"/>
              <a:buNone/>
            </a:pPr>
            <a:r>
              <a:rPr sz="1800" b="0" i="0">
                <a:solidFill>
                  <a:schemeClr val="bg2"/>
                </a:solidFill>
                <a:latin typeface="Arial"/>
              </a:rPr>
              <a:t>Chinese clothing changed with fashion, materials, and social life.</a:t>
            </a:r>
          </a:p>
          <a:p>
            <a:pPr>
              <a:spcAft>
                <a:spcPts val="500"/>
              </a:spcAft>
            </a:pPr>
            <a:r>
              <a:rPr sz="1500" b="0" i="0">
                <a:solidFill>
                  <a:schemeClr val="bg2"/>
                </a:solidFill>
                <a:latin typeface="Arial"/>
              </a:rPr>
              <a:t>Tang (618–907): flowing forms and vivid colors are often associated with the period.</a:t>
            </a:r>
          </a:p>
          <a:p>
            <a:pPr>
              <a:spcAft>
                <a:spcPts val="500"/>
              </a:spcAft>
            </a:pPr>
            <a:r>
              <a:rPr sz="1500" b="0" i="0">
                <a:solidFill>
                  <a:schemeClr val="bg2"/>
                </a:solidFill>
                <a:latin typeface="Arial"/>
              </a:rPr>
              <a:t>Song (960–1279): some elite styles favored restrained lines and quieter colors.</a:t>
            </a:r>
          </a:p>
          <a:p>
            <a:pPr>
              <a:spcAft>
                <a:spcPts val="500"/>
              </a:spcAft>
            </a:pPr>
            <a:r>
              <a:rPr sz="1500" b="0" i="0">
                <a:solidFill>
                  <a:schemeClr val="bg2"/>
                </a:solidFill>
                <a:latin typeface="Arial"/>
              </a:rPr>
              <a:t>Ming (1368–1644): layered robes and patterned textiles featured in formal dress.</a:t>
            </a:r>
          </a:p>
          <a:p>
            <a:pPr>
              <a:spcAft>
                <a:spcPts val="500"/>
              </a:spcAft>
            </a:pPr>
            <a:r>
              <a:rPr sz="1400" b="1" i="0">
                <a:solidFill>
                  <a:schemeClr val="bg2"/>
                </a:solidFill>
                <a:latin typeface="Arial"/>
              </a:rPr>
              <a:t>These are broad tendencies—not rules for everyone.</a:t>
            </a:r>
          </a:p>
        </p:txBody>
      </p:sp>
      <p:pic>
        <p:nvPicPr>
          <p:cNvPr id="15364" name="Picture 4" descr="C:\Users\ajay pc\Desktop\725ff6998d9d1e39ed4ec01caaa1ec9c.jpg"/>
          <p:cNvPicPr>
            <a:picLocks noChangeAspect="1"/>
          </p:cNvPicPr>
          <p:nvPr/>
        </p:nvPicPr>
        <p:blipFill rotWithShape="1">
          <a:blip r:embed="rId2"/>
          <a:stretch>
            <a:fillRect/>
          </a:stretch>
        </p:blipFill>
        <p:spPr>
          <a:xfrm>
            <a:off x="4379913" y="0"/>
            <a:ext cx="4764087"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500688" cy="6858000"/>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16387" name="Title 2"/>
          <p:cNvSpPr>
            <a:spLocks noGrp="1"/>
          </p:cNvSpPr>
          <p:nvPr>
            <p:ph type="title"/>
          </p:nvPr>
        </p:nvSpPr>
        <p:spPr>
          <a:xfrm>
            <a:off x="5929313" y="1319213"/>
            <a:ext cx="2819400" cy="2395537"/>
          </a:xfrm>
          <a:prstGeom prst="rect">
            <a:avLst/>
          </a:prstGeom>
        </p:spPr>
        <p:txBody>
          <a:bodyPr/>
          <a:lstStyle/>
          <a:p>
            <a:pPr eaLnBrk="1" hangingPunct="1"/>
            <a:r>
              <a:rPr lang="en-IN">
                <a:solidFill>
                  <a:srgbClr val="FFC000"/>
                </a:solidFill>
                <a:latin typeface="Arial"/>
                <a:cs typeface="Arial"/>
              </a:rPr>
              <a:t>Informal Styles</a:t>
            </a:r>
          </a:p>
        </p:txBody>
      </p:sp>
      <p:sp>
        <p:nvSpPr>
          <p:cNvPr id="2" name="Content Placeholder 1"/>
          <p:cNvSpPr>
            <a:spLocks noGrp="1"/>
          </p:cNvSpPr>
          <p:nvPr>
            <p:ph idx="1"/>
          </p:nvPr>
        </p:nvSpPr>
        <p:spPr>
          <a:xfrm>
            <a:off x="179388" y="188913"/>
            <a:ext cx="4606925" cy="6408737"/>
          </a:xfrm>
          <a:prstGeom prst="rect">
            <a:avLst/>
          </a:prstGeom>
        </p:spPr>
        <p:txBody>
          <a:bodyPr rtlCol="0">
            <a:noAutofit/>
          </a:bodyPr>
          <a:lstStyle/>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Zhongyi</a:t>
            </a:r>
            <a:r>
              <a:rPr lang="en-IN" sz="1600">
                <a:latin typeface="Arial"/>
                <a:cs typeface="Arial"/>
              </a:rPr>
              <a:t>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中衣</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or zhongdan (</a:t>
            </a:r>
            <a:r>
              <a:rPr lang="ja-JP" sz="1600">
                <a:solidFill>
                  <a:schemeClr val="bg1">
                    <a:lumMod val="85000"/>
                  </a:schemeClr>
                </a:solidFill>
                <a:latin typeface="Arial"/>
                <a:cs typeface="Arial"/>
              </a:rPr>
              <a:t>中單</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inner garments, mostly white cotton or silk</a:t>
            </a:r>
          </a:p>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Shanqun</a:t>
            </a:r>
            <a:r>
              <a:rPr lang="en-IN" sz="1600">
                <a:latin typeface="Arial"/>
                <a:cs typeface="Arial"/>
              </a:rPr>
              <a:t>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衫裙</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a short coat with a long skirt</a:t>
            </a:r>
          </a:p>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Ruqun</a:t>
            </a:r>
            <a:r>
              <a:rPr lang="en-IN" sz="1600">
                <a:solidFill>
                  <a:srgbClr val="FFFF00"/>
                </a:solidFill>
                <a:latin typeface="Arial"/>
                <a:cs typeface="Arial"/>
              </a:rPr>
              <a:t>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襦裙</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a top garment with a separate lower garment or skirt</a:t>
            </a:r>
          </a:p>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Kuzhe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褲褶</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a short coat with trousers</a:t>
            </a:r>
          </a:p>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Zhiduo/</a:t>
            </a:r>
            <a:r>
              <a:rPr lang="en-IN" sz="1600">
                <a:solidFill>
                  <a:srgbClr val="FFC000"/>
                </a:solidFill>
                <a:latin typeface="Arial"/>
                <a:cs typeface="Arial"/>
              </a:rPr>
              <a:t>zhishen</a:t>
            </a:r>
            <a:r>
              <a:rPr lang="en-IN" sz="1600">
                <a:latin typeface="Arial"/>
                <a:cs typeface="Arial"/>
              </a:rPr>
              <a:t>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直裰</a:t>
            </a:r>
            <a:r>
              <a:rPr lang="en-US" sz="1600">
                <a:solidFill>
                  <a:schemeClr val="bg1">
                    <a:lumMod val="85000"/>
                  </a:schemeClr>
                </a:solidFill>
                <a:latin typeface="Arial"/>
                <a:cs typeface="Arial"/>
              </a:rPr>
              <a:t>/</a:t>
            </a:r>
            <a:r>
              <a:rPr lang="ja-JP" sz="1600">
                <a:solidFill>
                  <a:schemeClr val="bg1">
                    <a:lumMod val="85000"/>
                  </a:schemeClr>
                </a:solidFill>
                <a:latin typeface="Arial"/>
                <a:cs typeface="Arial"/>
              </a:rPr>
              <a:t>直身</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a Ming Dynasty style robe, similar to a </a:t>
            </a:r>
            <a:r>
              <a:rPr lang="en-IN" sz="1600" i="1">
                <a:solidFill>
                  <a:schemeClr val="bg1">
                    <a:lumMod val="85000"/>
                  </a:schemeClr>
                </a:solidFill>
                <a:latin typeface="Arial"/>
                <a:cs typeface="Arial"/>
              </a:rPr>
              <a:t>zhiju</a:t>
            </a:r>
            <a:r>
              <a:rPr lang="en-IN" sz="1600" i="1">
                <a:solidFill>
                  <a:schemeClr val="bg1">
                    <a:lumMod val="85000"/>
                  </a:schemeClr>
                </a:solidFill>
                <a:latin typeface="Arial"/>
                <a:cs typeface="Arial"/>
              </a:rPr>
              <a:t> shenyi</a:t>
            </a:r>
            <a:r>
              <a:rPr lang="en-IN" sz="1600">
                <a:solidFill>
                  <a:schemeClr val="bg1">
                    <a:lumMod val="85000"/>
                  </a:schemeClr>
                </a:solidFill>
                <a:latin typeface="Arial"/>
                <a:cs typeface="Arial"/>
              </a:rPr>
              <a:t> but with vents at the side and 'stitched sleeves' (i.e. the sleeve cuff is closed save a small opening for the hand to go through)</a:t>
            </a:r>
          </a:p>
          <a:p>
            <a:pPr marL="274320" indent="-274320" eaLnBrk="1" hangingPunct="1" fontAlgn="auto">
              <a:spcAft>
                <a:spcPts val="0"/>
              </a:spcAft>
              <a:buClr>
                <a:schemeClr val="accent1">
                  <a:lumMod val="60000"/>
                  <a:lumOff val="40000"/>
                </a:schemeClr>
              </a:buClr>
            </a:pPr>
            <a:r>
              <a:rPr lang="en-IN" sz="1600">
                <a:solidFill>
                  <a:srgbClr val="FFC000"/>
                </a:solidFill>
                <a:latin typeface="Arial"/>
                <a:cs typeface="Arial"/>
              </a:rPr>
              <a:t>Daopao/</a:t>
            </a:r>
            <a:r>
              <a:rPr lang="en-IN" sz="1600">
                <a:solidFill>
                  <a:srgbClr val="FFC000"/>
                </a:solidFill>
                <a:latin typeface="Arial"/>
                <a:cs typeface="Arial"/>
              </a:rPr>
              <a:t>Fusha</a:t>
            </a:r>
            <a:r>
              <a:rPr lang="en-IN" sz="1600">
                <a:solidFill>
                  <a:srgbClr val="FFC000"/>
                </a:solidFill>
                <a:latin typeface="Arial"/>
                <a:cs typeface="Arial"/>
              </a:rPr>
              <a:t> </a:t>
            </a:r>
            <a:r>
              <a:rPr lang="en-IN" sz="1600">
                <a:solidFill>
                  <a:schemeClr val="bg1">
                    <a:lumMod val="85000"/>
                  </a:schemeClr>
                </a:solidFill>
                <a:latin typeface="Arial"/>
                <a:cs typeface="Arial"/>
              </a:rPr>
              <a:t>(</a:t>
            </a:r>
            <a:r>
              <a:rPr lang="ja-JP" sz="1600">
                <a:solidFill>
                  <a:schemeClr val="bg1">
                    <a:lumMod val="85000"/>
                  </a:schemeClr>
                </a:solidFill>
                <a:latin typeface="Arial"/>
                <a:cs typeface="Arial"/>
              </a:rPr>
              <a:t>道袍</a:t>
            </a:r>
            <a:r>
              <a:rPr lang="en-US" sz="1600">
                <a:solidFill>
                  <a:schemeClr val="bg1">
                    <a:lumMod val="85000"/>
                  </a:schemeClr>
                </a:solidFill>
                <a:latin typeface="Arial"/>
                <a:cs typeface="Arial"/>
              </a:rPr>
              <a:t>/</a:t>
            </a:r>
            <a:r>
              <a:rPr lang="ja-JP" sz="1600">
                <a:solidFill>
                  <a:schemeClr val="bg1">
                    <a:lumMod val="85000"/>
                  </a:schemeClr>
                </a:solidFill>
                <a:latin typeface="Arial"/>
                <a:cs typeface="Arial"/>
              </a:rPr>
              <a:t>彿裟</a:t>
            </a:r>
            <a:r>
              <a:rPr lang="en-US" sz="1600">
                <a:solidFill>
                  <a:schemeClr val="bg1">
                    <a:lumMod val="85000"/>
                  </a:schemeClr>
                </a:solidFill>
                <a:latin typeface="Arial"/>
                <a:cs typeface="Arial"/>
              </a:rPr>
              <a:t>): </a:t>
            </a:r>
            <a:r>
              <a:rPr lang="en-IN" sz="1600">
                <a:solidFill>
                  <a:schemeClr val="bg1">
                    <a:lumMod val="85000"/>
                  </a:schemeClr>
                </a:solidFill>
                <a:latin typeface="Arial"/>
                <a:cs typeface="Arial"/>
              </a:rPr>
              <a:t>Taoist/Buddhist priests' full dress ceremonial robes</a:t>
            </a:r>
          </a:p>
          <a:p>
            <a:pPr marL="274320" indent="-274320" eaLnBrk="1" hangingPunct="1" fontAlgn="auto">
              <a:spcAft>
                <a:spcPts val="0"/>
              </a:spcAft>
              <a:buClr>
                <a:schemeClr val="accent1">
                  <a:lumMod val="60000"/>
                  <a:lumOff val="40000"/>
                </a:schemeClr>
              </a:buClr>
            </a:pPr>
            <a:endParaRPr lang="en-IN" sz="1600">
              <a:latin typeface="Arial"/>
              <a:cs typeface="Arial"/>
            </a:endParaRPr>
          </a:p>
          <a:p>
            <a:pPr marL="0" indent="0" eaLnBrk="1" hangingPunct="1" fontAlgn="auto">
              <a:spcAft>
                <a:spcPts val="0"/>
              </a:spcAft>
              <a:buClr>
                <a:schemeClr val="accent1">
                  <a:lumMod val="60000"/>
                  <a:lumOff val="40000"/>
                </a:schemeClr>
              </a:buClr>
              <a:buFont typeface="Arial"/>
              <a:buNone/>
            </a:pPr>
            <a:r>
              <a:rPr lang="en-IN" sz="1600">
                <a:solidFill>
                  <a:schemeClr val="bg1">
                    <a:lumMod val="85000"/>
                  </a:schemeClr>
                </a:solidFill>
                <a:latin typeface="Arial"/>
                <a:cs typeface="Arial"/>
              </a:rPr>
              <a:t>A typical set of Hanfu can consist of two or three layers. The first layer of clothing is mostly the </a:t>
            </a:r>
            <a:r>
              <a:rPr lang="en-IN" sz="1600" i="1">
                <a:solidFill>
                  <a:srgbClr val="FFC000"/>
                </a:solidFill>
                <a:latin typeface="Arial"/>
                <a:cs typeface="Arial"/>
              </a:rPr>
              <a:t>zhongyi</a:t>
            </a:r>
            <a:r>
              <a:rPr lang="en-IN" sz="1600">
                <a:latin typeface="Arial"/>
                <a:cs typeface="Arial"/>
              </a:rPr>
              <a:t> </a:t>
            </a:r>
            <a:r>
              <a:rPr lang="en-IN" sz="1600">
                <a:solidFill>
                  <a:schemeClr val="bg1">
                    <a:lumMod val="85000"/>
                  </a:schemeClr>
                </a:solidFill>
                <a:latin typeface="Arial"/>
                <a:cs typeface="Arial"/>
              </a:rPr>
              <a:t>(</a:t>
            </a:r>
            <a:r>
              <a:rPr lang="en-IN" sz="1600">
                <a:solidFill>
                  <a:schemeClr val="bg1">
                    <a:lumMod val="85000"/>
                  </a:schemeClr>
                </a:solidFill>
                <a:latin typeface="Arial"/>
                <a:cs typeface="Arial"/>
              </a:rPr>
              <a:t>中衣</a:t>
            </a:r>
            <a:r>
              <a:rPr lang="en-IN" sz="1600">
                <a:solidFill>
                  <a:schemeClr val="bg1">
                    <a:lumMod val="85000"/>
                  </a:schemeClr>
                </a:solidFill>
                <a:latin typeface="Arial"/>
                <a:cs typeface="Arial"/>
              </a:rPr>
              <a:t>) which is typically the inner garment much like a Western T-shirt and pants. The next layer is the main layer of clothing which is mostly closed at the front. There can be an optional third layer which is often an overcoat called a </a:t>
            </a:r>
            <a:r>
              <a:rPr lang="en-IN" sz="1600" i="1">
                <a:solidFill>
                  <a:schemeClr val="bg1">
                    <a:lumMod val="85000"/>
                  </a:schemeClr>
                </a:solidFill>
                <a:latin typeface="Arial"/>
                <a:cs typeface="Arial"/>
              </a:rPr>
              <a:t>zhaoshan</a:t>
            </a:r>
            <a:r>
              <a:rPr lang="en-IN" sz="1600">
                <a:solidFill>
                  <a:schemeClr val="bg1">
                    <a:lumMod val="85000"/>
                  </a:schemeClr>
                </a:solidFill>
                <a:latin typeface="Arial"/>
                <a:cs typeface="Arial"/>
              </a:rPr>
              <a:t> which is open at the front. More complicated sets of Hanfu can have many more layers.</a:t>
            </a:r>
          </a:p>
        </p:txBody>
      </p:sp>
      <p:pic>
        <p:nvPicPr>
          <p:cNvPr id="16389" name="Picture 3" descr="C:\Users\ajay pc\Downloads\6821a54aa55783e5f5ef2815a6fee539.jpg"/>
          <p:cNvPicPr>
            <a:picLocks noChangeAspect="1"/>
          </p:cNvPicPr>
          <p:nvPr/>
        </p:nvPicPr>
        <p:blipFill rotWithShape="1">
          <a:blip r:embed="rId2"/>
          <a:srcRect l="15279" t="0" r="9721" b="0"/>
          <a:stretch>
            <a:fillRect/>
          </a:stretch>
        </p:blipFill>
        <p:spPr>
          <a:xfrm>
            <a:off x="5286375" y="0"/>
            <a:ext cx="3857625"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5500688" cy="692943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6" name="Rectangle 5"/>
          <p:cNvSpPr/>
          <p:nvPr/>
        </p:nvSpPr>
        <p:spPr>
          <a:xfrm>
            <a:off x="0" y="2714625"/>
            <a:ext cx="2500313" cy="571500"/>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wrap="square" lIns="45720" rIns="45720"/>
          <a:lstStyle/>
          <a:p>
            <a:pPr algn="ctr" eaLnBrk="1" hangingPunct="1">
              <a:spcAft>
                <a:spcPts val="500"/>
              </a:spcAft>
            </a:pPr>
            <a:r>
              <a:rPr sz="2400" b="0" i="0">
                <a:solidFill>
                  <a:schemeClr val="tx1"/>
                </a:solidFill>
                <a:latin typeface="Arial"/>
              </a:rPr>
              <a:t>Moroccan dress</a:t>
            </a:r>
            <a:endParaRPr lang="en-US" sz="2800">
              <a:solidFill>
                <a:schemeClr val="tx1">
                  <a:lumMod val="65000"/>
                  <a:lumOff val="35000"/>
                </a:schemeClr>
              </a:solidFill>
            </a:endParaRPr>
          </a:p>
        </p:txBody>
      </p:sp>
      <p:pic>
        <p:nvPicPr>
          <p:cNvPr id="7" name="Picture 6" descr="morocco-djellaba-traditional-clothing-ph-2.jpg"/>
          <p:cNvPicPr>
            <a:picLocks noChangeAspect="1"/>
          </p:cNvPicPr>
          <p:nvPr/>
        </p:nvPicPr>
        <p:blipFill>
          <a:blip r:embed="rId4"/>
          <a:srcRect l="24635" r="24635"/>
          <a:stretch>
            <a:fillRect/>
          </a:stretch>
        </p:blipFill>
        <p:spPr>
          <a:xfrm>
            <a:off x="2889504" y="0"/>
            <a:ext cx="6254496" cy="6858000"/>
          </a:xfrm>
          <a:prstGeom prst="rect">
            <a:avLst/>
          </a:prstGeom>
        </p:spPr>
      </p:pic>
      <p:sp>
        <p:nvSpPr>
          <p:cNvPr id="8" name="TextBox 7"/>
          <p:cNvSpPr txBox="1"/>
          <p:nvPr/>
        </p:nvSpPr>
        <p:spPr>
          <a:xfrm>
            <a:off x="201168" y="3438144"/>
            <a:ext cx="2514600" cy="2651760"/>
          </a:xfrm>
          <a:prstGeom prst="rect">
            <a:avLst/>
          </a:prstGeom>
          <a:noFill/>
        </p:spPr>
        <p:txBody>
          <a:bodyPr wrap="square" lIns="27432" rIns="27432" tIns="18288" bIns="18288">
            <a:spAutoFit/>
          </a:bodyPr>
          <a:lstStyle/>
          <a:p>
            <a:pPr>
              <a:spcAft>
                <a:spcPts val="0"/>
              </a:spcAft>
            </a:pPr>
            <a:r>
              <a:rPr sz="1300" b="0" i="0">
                <a:solidFill>
                  <a:srgbClr val="30281F"/>
                </a:solidFill>
                <a:latin typeface="Arial"/>
              </a:rPr>
              <a:t>Djellaba: a long outer garment, often hooded. Caftans and takchitas are formal layered garments, often finished with embroidery, braided sfifa, or a belt. Styles, materials, and colors vary by region and occasion.</a:t>
            </a:r>
          </a:p>
        </p:txBody>
      </p:sp>
      <p:sp>
        <p:nvSpPr>
          <p:cNvPr id="9" name="TextBox 8"/>
          <p:cNvSpPr txBox="1"/>
          <p:nvPr/>
        </p:nvSpPr>
        <p:spPr>
          <a:xfrm>
            <a:off x="182880" y="6236208"/>
            <a:ext cx="2560320" cy="484632"/>
          </a:xfrm>
          <a:prstGeom prst="rect">
            <a:avLst/>
          </a:prstGeom>
          <a:noFill/>
        </p:spPr>
        <p:txBody>
          <a:bodyPr wrap="square" lIns="27432" rIns="27432" tIns="18288" bIns="18288">
            <a:spAutoFit/>
          </a:bodyPr>
          <a:lstStyle/>
          <a:p>
            <a:pPr>
              <a:spcAft>
                <a:spcPts val="0"/>
              </a:spcAft>
            </a:pPr>
            <a:r>
              <a:rPr sz="700" b="0" i="1">
                <a:solidFill>
                  <a:srgbClr val="51463B"/>
                </a:solidFill>
                <a:latin typeface="Arial"/>
              </a:rPr>
              <a:t>Photo: Maghreb Magazine / Wikimedia Commons.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18435" name="Content Placeholder 1"/>
          <p:cNvSpPr>
            <a:spLocks noGrp="1"/>
          </p:cNvSpPr>
          <p:nvPr>
            <p:ph idx="1"/>
          </p:nvPr>
        </p:nvSpPr>
        <p:spPr>
          <a:xfrm>
            <a:off x="569913" y="4765675"/>
            <a:ext cx="7931150" cy="1735138"/>
          </a:xfrm>
          <a:prstGeom prst="rect">
            <a:avLst/>
          </a:prstGeom>
        </p:spPr>
        <p:txBody>
          <a:bodyPr/>
          <a:lstStyle/>
          <a:p>
            <a:pPr marL="0" indent="0" eaLnBrk="1" hangingPunct="1">
              <a:buFont typeface="Arial"/>
              <a:buNone/>
            </a:pPr>
            <a:r>
              <a:rPr lang="en-IN" sz="1600">
                <a:solidFill>
                  <a:schemeClr val="bg1"/>
                </a:solidFill>
                <a:latin typeface="Arial"/>
                <a:cs typeface="Arial"/>
              </a:rPr>
              <a:t>Two Traditional forms of “Ruqun”, a type of Han Chinese clothing worn primarily by women. Cuffs and sleeves on the upper garment may be tighter or looser depending on style. A short skirt or </a:t>
            </a:r>
            <a:r>
              <a:rPr lang="en-IN" sz="1600" i="1">
                <a:solidFill>
                  <a:schemeClr val="bg1"/>
                </a:solidFill>
                <a:latin typeface="Arial"/>
                <a:cs typeface="Arial"/>
              </a:rPr>
              <a:t>weighted</a:t>
            </a:r>
            <a:r>
              <a:rPr lang="en-IN" sz="1600">
                <a:solidFill>
                  <a:schemeClr val="bg1"/>
                </a:solidFill>
                <a:latin typeface="Arial"/>
                <a:cs typeface="Arial"/>
              </a:rPr>
              <a:t> braid (with weight provided by a jade or gold pendant) is sometimes worn to improve aesthetics or comfort of the basic Ruqun.</a:t>
            </a:r>
          </a:p>
        </p:txBody>
      </p:sp>
      <p:pic>
        <p:nvPicPr>
          <p:cNvPr id="18436" name="Picture 2" descr="File:Ruqun.svg"/>
          <p:cNvPicPr>
            <a:picLocks noChangeAspect="1"/>
          </p:cNvPicPr>
          <p:nvPr/>
        </p:nvPicPr>
        <p:blipFill rotWithShape="1">
          <a:blip r:embed="rId2"/>
          <a:stretch>
            <a:fillRect/>
          </a:stretch>
        </p:blipFill>
        <p:spPr>
          <a:xfrm>
            <a:off x="179388" y="1406525"/>
            <a:ext cx="8713787" cy="2808288"/>
          </a:xfrm>
          <a:prstGeom prst="rect">
            <a:avLst/>
          </a:prstGeom>
          <a:noFill/>
          <a:ln>
            <a:noFill/>
          </a:ln>
        </p:spPr>
      </p:pic>
      <p:sp>
        <p:nvSpPr>
          <p:cNvPr id="4" name="Rectangle 3"/>
          <p:cNvSpPr/>
          <p:nvPr/>
        </p:nvSpPr>
        <p:spPr>
          <a:xfrm>
            <a:off x="3714750" y="357188"/>
            <a:ext cx="1344613" cy="523875"/>
          </a:xfrm>
          <a:prstGeom prst="rect">
            <a:avLst/>
          </a:prstGeom>
        </p:spPr>
        <p:txBody>
          <a:bodyPr wrap="none">
            <a:spAutoFit/>
          </a:bodyPr>
          <a:lstStyle/>
          <a:p>
            <a:pPr eaLnBrk="1" hangingPunct="1"/>
            <a:r>
              <a:rPr lang="en-IN" sz="2800">
                <a:solidFill>
                  <a:schemeClr val="bg1"/>
                </a:solidFill>
                <a:latin typeface="Arial"/>
              </a:rPr>
              <a:t>Ruqun</a:t>
            </a:r>
            <a:r>
              <a:rPr lang="en-IN" sz="2800">
                <a:solidFill>
                  <a:schemeClr val="accent2">
                    <a:lumMod val="75000"/>
                  </a:schemeClr>
                </a:solidFill>
                <a:latin typeface="Arial"/>
              </a:rPr>
              <a:t> </a:t>
            </a:r>
            <a:endParaRPr lang="en-US" sz="2800">
              <a:solidFill>
                <a:schemeClr val="accent2">
                  <a:lumMod val="7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5500688" cy="69294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6" name="Rectangle 5"/>
          <p:cNvSpPr/>
          <p:nvPr/>
        </p:nvSpPr>
        <p:spPr>
          <a:xfrm>
            <a:off x="0" y="2714625"/>
            <a:ext cx="2643188" cy="64293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IN" sz="2800">
                <a:solidFill>
                  <a:schemeClr val="bg1"/>
                </a:solidFill>
                <a:latin typeface="Arial"/>
                <a:cs typeface="Arial"/>
              </a:rPr>
              <a:t>Ruqun </a:t>
            </a:r>
            <a:endParaRPr lang="en-US" sz="2800">
              <a:solidFill>
                <a:schemeClr val="bg1"/>
              </a:solidFill>
            </a:endParaRPr>
          </a:p>
        </p:txBody>
      </p:sp>
      <p:pic>
        <p:nvPicPr>
          <p:cNvPr id="19460" name="Picture 3" descr="C:\Users\ajay pc\Desktop\9faa96d37c4eb46635050af6dd7920da.jpg"/>
          <p:cNvPicPr>
            <a:picLocks noChangeAspect="1"/>
          </p:cNvPicPr>
          <p:nvPr/>
        </p:nvPicPr>
        <p:blipFill rotWithShape="1">
          <a:blip r:embed="rId2"/>
          <a:srcRect l="0" t="6250" r="10938" b="0"/>
          <a:stretch>
            <a:fillRect/>
          </a:stretch>
        </p:blipFill>
        <p:spPr>
          <a:xfrm>
            <a:off x="4800600" y="0"/>
            <a:ext cx="4343400" cy="6858000"/>
          </a:xfrm>
          <a:prstGeom prst="rect">
            <a:avLst/>
          </a:prstGeom>
          <a:noFill/>
          <a:ln>
            <a:noFill/>
          </a:ln>
        </p:spPr>
      </p:pic>
      <p:pic>
        <p:nvPicPr>
          <p:cNvPr id="19461" name="Picture 4" descr="C:\Users\ajay pc\Desktop\d5b77b7d200eff1a299dcb61e217b208.jpg"/>
          <p:cNvPicPr>
            <a:picLocks noChangeAspect="1"/>
          </p:cNvPicPr>
          <p:nvPr/>
        </p:nvPicPr>
        <p:blipFill rotWithShape="1">
          <a:blip r:embed="rId3"/>
          <a:srcRect l="18750" t="0" r="21875" b="0"/>
          <a:stretch>
            <a:fillRect/>
          </a:stretch>
        </p:blipFill>
        <p:spPr>
          <a:xfrm>
            <a:off x="2571750" y="0"/>
            <a:ext cx="271462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5500688"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20483" name="Picture 2" descr="C:\Users\ajay pc\Desktop\9af2e2f9862dcc84c5b58920fce95787.jpg"/>
          <p:cNvPicPr>
            <a:picLocks noChangeAspect="1"/>
          </p:cNvPicPr>
          <p:nvPr/>
        </p:nvPicPr>
        <p:blipFill rotWithShape="1">
          <a:blip r:embed="rId2"/>
          <a:srcRect l="16779" t="0" r="20805" b="0"/>
          <a:stretch>
            <a:fillRect/>
          </a:stretch>
        </p:blipFill>
        <p:spPr>
          <a:xfrm>
            <a:off x="5929313" y="0"/>
            <a:ext cx="3214687" cy="6858000"/>
          </a:xfrm>
          <a:prstGeom prst="rect">
            <a:avLst/>
          </a:prstGeom>
          <a:noFill/>
          <a:ln>
            <a:noFill/>
          </a:ln>
        </p:spPr>
      </p:pic>
      <p:pic>
        <p:nvPicPr>
          <p:cNvPr id="20484" name="Picture 3" descr="C:\Users\ajay pc\Desktop\90c995006f27e264970de942a4640184.jpg"/>
          <p:cNvPicPr>
            <a:picLocks noChangeAspect="1"/>
          </p:cNvPicPr>
          <p:nvPr/>
        </p:nvPicPr>
        <p:blipFill rotWithShape="1">
          <a:blip r:embed="rId3"/>
          <a:srcRect l="17633" t="7291" r="0" b="0"/>
          <a:stretch>
            <a:fillRect/>
          </a:stretch>
        </p:blipFill>
        <p:spPr>
          <a:xfrm>
            <a:off x="1993900" y="0"/>
            <a:ext cx="4003675" cy="6858000"/>
          </a:xfrm>
          <a:prstGeom prst="rect">
            <a:avLst/>
          </a:prstGeom>
          <a:noFill/>
          <a:ln>
            <a:noFill/>
          </a:ln>
        </p:spPr>
      </p:pic>
      <p:sp>
        <p:nvSpPr>
          <p:cNvPr id="5" name="Rectangle 4"/>
          <p:cNvSpPr/>
          <p:nvPr/>
        </p:nvSpPr>
        <p:spPr>
          <a:xfrm>
            <a:off x="0" y="2714625"/>
            <a:ext cx="2643188" cy="642938"/>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IN" sz="2800">
                <a:solidFill>
                  <a:schemeClr val="bg1"/>
                </a:solidFill>
                <a:latin typeface="Arial"/>
                <a:cs typeface="Arial"/>
              </a:rPr>
              <a:t>Daopao</a:t>
            </a:r>
            <a:r>
              <a:rPr lang="en-IN" sz="2800">
                <a:solidFill>
                  <a:schemeClr val="bg1"/>
                </a:solidFill>
                <a:latin typeface="Arial"/>
                <a:cs typeface="Arial"/>
              </a:rPr>
              <a:t>/</a:t>
            </a:r>
            <a:r>
              <a:rPr lang="en-IN" sz="2800">
                <a:solidFill>
                  <a:schemeClr val="bg1"/>
                </a:solidFill>
                <a:latin typeface="Arial"/>
                <a:cs typeface="Arial"/>
              </a:rPr>
              <a:t>Fusha</a:t>
            </a:r>
            <a:r>
              <a:rPr lang="en-IN" sz="2800">
                <a:solidFill>
                  <a:schemeClr val="bg1"/>
                </a:solidFill>
                <a:latin typeface="Arial"/>
                <a:cs typeface="Arial"/>
              </a:rPr>
              <a:t> </a:t>
            </a:r>
            <a:endParaRPr lang="en-US" sz="2800">
              <a:solidFill>
                <a:schemeClr val="bg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rtlCol="0">
            <a:normAutofit/>
          </a:bodyPr>
          <a:lstStyle/>
          <a:p>
            <a:pPr eaLnBrk="1" hangingPunct="1" fontAlgn="auto">
              <a:spcAft>
                <a:spcPts val="0"/>
              </a:spcAft>
            </a:pPr>
            <a:endParaRPr lang="en-IN">
              <a:solidFill>
                <a:schemeClr val="accent6">
                  <a:tint val="1000"/>
                </a:schemeClr>
              </a:solidFill>
            </a:endParaRPr>
          </a:p>
        </p:txBody>
      </p:sp>
      <p:sp>
        <p:nvSpPr>
          <p:cNvPr id="21507" name="Content Placeholder 1"/>
          <p:cNvSpPr>
            <a:spLocks noGrp="1"/>
          </p:cNvSpPr>
          <p:nvPr>
            <p:ph idx="1"/>
          </p:nvPr>
        </p:nvSpPr>
        <p:spPr/>
        <p:txBody>
          <a:bodyPr/>
          <a:lstStyle/>
          <a:p>
            <a:pPr eaLnBrk="1" hangingPunct="1"/>
            <a:endParaRPr lang="en-IN"/>
          </a:p>
        </p:txBody>
      </p:sp>
      <p:pic>
        <p:nvPicPr>
          <p:cNvPr id="21508" name="Picture 2" descr="http://kittylvkitty.files.wordpress.com/2012/08/hanfu-kimono.jpeg"/>
          <p:cNvPicPr>
            <a:picLocks noChangeAspect="1"/>
          </p:cNvPicPr>
          <p:nvPr/>
        </p:nvPicPr>
        <p:blipFill rotWithShape="1">
          <a:blip r:embed="rId2"/>
          <a:srcRect l="50000" t="0" r="20702" b="0"/>
          <a:stretch>
            <a:fillRect/>
          </a:stretch>
        </p:blipFill>
        <p:spPr>
          <a:xfrm>
            <a:off x="354013" y="188913"/>
            <a:ext cx="2489200" cy="6480175"/>
          </a:xfrm>
          <a:prstGeom prst="rect">
            <a:avLst/>
          </a:prstGeom>
          <a:noFill/>
          <a:ln>
            <a:noFill/>
          </a:ln>
        </p:spPr>
      </p:pic>
      <p:pic>
        <p:nvPicPr>
          <p:cNvPr id="21509" name="Picture 4" descr="File:Huafu 01.png"/>
          <p:cNvPicPr>
            <a:picLocks noChangeAspect="1"/>
          </p:cNvPicPr>
          <p:nvPr/>
        </p:nvPicPr>
        <p:blipFill rotWithShape="1">
          <a:blip r:embed="rId3"/>
          <a:stretch>
            <a:fillRect/>
          </a:stretch>
        </p:blipFill>
        <p:spPr>
          <a:xfrm>
            <a:off x="2843213" y="188913"/>
            <a:ext cx="6062662" cy="6480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492918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22531" name="Title 2"/>
          <p:cNvSpPr>
            <a:spLocks noGrp="1"/>
          </p:cNvSpPr>
          <p:nvPr>
            <p:ph type="title"/>
          </p:nvPr>
        </p:nvSpPr>
        <p:spPr>
          <a:xfrm>
            <a:off x="5929313" y="1606550"/>
            <a:ext cx="2819400" cy="2179638"/>
          </a:xfrm>
          <a:prstGeom prst="rect">
            <a:avLst/>
          </a:prstGeom>
        </p:spPr>
        <p:txBody>
          <a:bodyPr/>
          <a:lstStyle/>
          <a:p>
            <a:pPr eaLnBrk="1" hangingPunct="1"/>
            <a:r>
              <a:rPr lang="en-IN">
                <a:solidFill>
                  <a:srgbClr val="FFC000"/>
                </a:solidFill>
                <a:latin typeface="Arial"/>
                <a:cs typeface="Arial"/>
              </a:rPr>
              <a:t>Semi-formal Styles</a:t>
            </a:r>
          </a:p>
        </p:txBody>
      </p:sp>
      <p:pic>
        <p:nvPicPr>
          <p:cNvPr id="22532" name="Picture 4" descr="C:\Users\ajay pc\Desktop\chinies\2ac79974e98f84e9a7ba94a47ce79b59.jpg"/>
          <p:cNvPicPr>
            <a:picLocks noChangeAspect="1"/>
          </p:cNvPicPr>
          <p:nvPr/>
        </p:nvPicPr>
        <p:blipFill rotWithShape="1">
          <a:blip r:embed="rId2"/>
          <a:srcRect l="7813" t="0" r="0" b="0"/>
          <a:stretch>
            <a:fillRect/>
          </a:stretch>
        </p:blipFill>
        <p:spPr>
          <a:xfrm>
            <a:off x="4929188" y="0"/>
            <a:ext cx="4214812" cy="6858000"/>
          </a:xfrm>
          <a:prstGeom prst="rect">
            <a:avLst/>
          </a:prstGeom>
          <a:noFill/>
          <a:ln>
            <a:noFill/>
          </a:ln>
        </p:spPr>
      </p:pic>
      <p:sp>
        <p:nvSpPr>
          <p:cNvPr id="2" name="Content Placeholder 1"/>
          <p:cNvSpPr>
            <a:spLocks noGrp="1"/>
          </p:cNvSpPr>
          <p:nvPr>
            <p:ph idx="1"/>
          </p:nvPr>
        </p:nvSpPr>
        <p:spPr>
          <a:xfrm>
            <a:off x="179388" y="188913"/>
            <a:ext cx="4606925" cy="6408737"/>
          </a:xfrm>
          <a:prstGeom prst="rect">
            <a:avLst/>
          </a:prstGeom>
        </p:spPr>
        <p:txBody>
          <a:bodyPr rtlCol="0">
            <a:noAutofit/>
          </a:bodyPr>
          <a:lstStyle/>
          <a:p>
            <a:pPr marL="0" indent="0" algn="ctr" eaLnBrk="1" hangingPunct="1" fontAlgn="auto">
              <a:spcAft>
                <a:spcPts val="0"/>
              </a:spcAft>
              <a:buClr>
                <a:schemeClr val="accent1">
                  <a:lumMod val="60000"/>
                  <a:lumOff val="40000"/>
                </a:schemeClr>
              </a:buClr>
              <a:buFont typeface="Arial"/>
              <a:buNone/>
            </a:pPr>
            <a:r>
              <a:rPr lang="en-IN" sz="1800">
                <a:latin typeface="Arial"/>
                <a:cs typeface="Arial"/>
              </a:rPr>
              <a:t>A piece of Hanfu can be "made semi-formal" by the addition of the following appropriate items:</a:t>
            </a:r>
          </a:p>
          <a:p>
            <a:pPr marL="274320" indent="-274320" eaLnBrk="1" hangingPunct="1" fontAlgn="auto">
              <a:spcAft>
                <a:spcPts val="0"/>
              </a:spcAft>
              <a:buClr>
                <a:schemeClr val="accent1">
                  <a:lumMod val="60000"/>
                  <a:lumOff val="40000"/>
                </a:schemeClr>
              </a:buClr>
            </a:pPr>
            <a:endParaRPr lang="en-IN" sz="1800">
              <a:latin typeface="Arial"/>
              <a:cs typeface="Arial"/>
            </a:endParaRPr>
          </a:p>
          <a:p>
            <a:pPr marL="274320" indent="-274320" eaLnBrk="1" hangingPunct="1" fontAlgn="auto">
              <a:spcAft>
                <a:spcPts val="0"/>
              </a:spcAft>
              <a:buClr>
                <a:schemeClr val="accent1">
                  <a:lumMod val="60000"/>
                  <a:lumOff val="40000"/>
                </a:schemeClr>
              </a:buClr>
            </a:pPr>
            <a:r>
              <a:rPr lang="en-IN" sz="1800">
                <a:solidFill>
                  <a:srgbClr val="FFC000"/>
                </a:solidFill>
                <a:latin typeface="Arial"/>
                <a:cs typeface="Arial"/>
              </a:rPr>
              <a:t>Chang</a:t>
            </a:r>
            <a:r>
              <a:rPr lang="en-IN" sz="1800">
                <a:latin typeface="Arial"/>
                <a:cs typeface="Arial"/>
              </a:rPr>
              <a:t> (裳): a pleated skirt</a:t>
            </a:r>
          </a:p>
          <a:p>
            <a:pPr marL="274320" indent="-274320" eaLnBrk="1" hangingPunct="1" fontAlgn="auto">
              <a:spcAft>
                <a:spcPts val="0"/>
              </a:spcAft>
              <a:buClr>
                <a:schemeClr val="accent1">
                  <a:lumMod val="60000"/>
                  <a:lumOff val="40000"/>
                </a:schemeClr>
              </a:buClr>
            </a:pPr>
            <a:r>
              <a:rPr lang="en-IN" sz="1800">
                <a:solidFill>
                  <a:srgbClr val="FFC000"/>
                </a:solidFill>
                <a:latin typeface="Arial"/>
                <a:cs typeface="Arial"/>
              </a:rPr>
              <a:t>Bixi</a:t>
            </a:r>
            <a:r>
              <a:rPr lang="en-IN" sz="1800">
                <a:latin typeface="Arial"/>
                <a:cs typeface="Arial"/>
              </a:rPr>
              <a:t> (</a:t>
            </a:r>
            <a:r>
              <a:rPr lang="en-IN" sz="1800">
                <a:latin typeface="Arial"/>
                <a:cs typeface="Arial"/>
              </a:rPr>
              <a:t>蔽膝</a:t>
            </a:r>
            <a:r>
              <a:rPr lang="en-IN" sz="1800">
                <a:latin typeface="Arial"/>
                <a:cs typeface="Arial"/>
              </a:rPr>
              <a:t>): long front cloth panel attached </a:t>
            </a:r>
          </a:p>
          <a:p>
            <a:pPr marL="274320" indent="-274320" eaLnBrk="1" hangingPunct="1" fontAlgn="auto">
              <a:spcAft>
                <a:spcPts val="0"/>
              </a:spcAft>
              <a:buClr>
                <a:schemeClr val="accent1">
                  <a:lumMod val="60000"/>
                  <a:lumOff val="40000"/>
                </a:schemeClr>
              </a:buClr>
            </a:pPr>
            <a:r>
              <a:rPr lang="en-IN" sz="1800">
                <a:latin typeface="Arial"/>
                <a:cs typeface="Arial"/>
              </a:rPr>
              <a:t>                   from the waist belt</a:t>
            </a:r>
          </a:p>
          <a:p>
            <a:pPr marL="274320" indent="-274320" eaLnBrk="1" hangingPunct="1" fontAlgn="auto">
              <a:spcAft>
                <a:spcPts val="0"/>
              </a:spcAft>
              <a:buClr>
                <a:schemeClr val="accent1">
                  <a:lumMod val="60000"/>
                  <a:lumOff val="40000"/>
                </a:schemeClr>
              </a:buClr>
            </a:pPr>
            <a:r>
              <a:rPr lang="en-IN" sz="1800">
                <a:solidFill>
                  <a:srgbClr val="FFC000"/>
                </a:solidFill>
                <a:latin typeface="Arial"/>
                <a:cs typeface="Arial"/>
              </a:rPr>
              <a:t>Zhaoshan </a:t>
            </a:r>
            <a:r>
              <a:rPr lang="en-IN" sz="1800">
                <a:latin typeface="Arial"/>
                <a:cs typeface="Arial"/>
              </a:rPr>
              <a:t>(</a:t>
            </a:r>
            <a:r>
              <a:rPr lang="en-IN" sz="1800">
                <a:latin typeface="Arial"/>
                <a:cs typeface="Arial"/>
              </a:rPr>
              <a:t>罩衫</a:t>
            </a:r>
            <a:r>
              <a:rPr lang="en-IN" sz="1800">
                <a:latin typeface="Arial"/>
                <a:cs typeface="Arial"/>
              </a:rPr>
              <a:t>): long open fronted coat</a:t>
            </a:r>
          </a:p>
          <a:p>
            <a:pPr marL="274320" indent="-274320" eaLnBrk="1" hangingPunct="1" fontAlgn="auto">
              <a:spcAft>
                <a:spcPts val="0"/>
              </a:spcAft>
              <a:buClr>
                <a:schemeClr val="accent1">
                  <a:lumMod val="60000"/>
                  <a:lumOff val="40000"/>
                </a:schemeClr>
              </a:buClr>
            </a:pPr>
            <a:r>
              <a:rPr lang="en-IN" sz="1800">
                <a:latin typeface="Arial"/>
                <a:cs typeface="Arial"/>
              </a:rPr>
              <a:t>Guan (冠) or any formal hats</a:t>
            </a:r>
          </a:p>
          <a:p>
            <a:pPr marL="0" indent="0" eaLnBrk="1" hangingPunct="1" fontAlgn="auto">
              <a:spcAft>
                <a:spcPts val="0"/>
              </a:spcAft>
              <a:buClr>
                <a:schemeClr val="accent1">
                  <a:lumMod val="60000"/>
                  <a:lumOff val="40000"/>
                </a:schemeClr>
              </a:buClr>
              <a:buFont typeface="Arial"/>
              <a:buNone/>
            </a:pPr>
            <a:endParaRPr lang="en-IN" sz="1800">
              <a:latin typeface="Arial"/>
              <a:cs typeface="Arial"/>
            </a:endParaRPr>
          </a:p>
          <a:p>
            <a:pPr marL="0" indent="0" eaLnBrk="1" hangingPunct="1" fontAlgn="auto">
              <a:spcAft>
                <a:spcPts val="0"/>
              </a:spcAft>
              <a:buClr>
                <a:schemeClr val="accent1">
                  <a:lumMod val="60000"/>
                  <a:lumOff val="40000"/>
                </a:schemeClr>
              </a:buClr>
              <a:buFont typeface="Arial"/>
              <a:buNone/>
            </a:pPr>
            <a:endParaRPr lang="en-IN" sz="1800">
              <a:latin typeface="Arial"/>
              <a:cs typeface="Arial"/>
            </a:endParaRPr>
          </a:p>
          <a:p>
            <a:pPr marL="0" indent="0" eaLnBrk="1" hangingPunct="1" fontAlgn="auto">
              <a:spcAft>
                <a:spcPts val="0"/>
              </a:spcAft>
              <a:buClr>
                <a:schemeClr val="accent1">
                  <a:lumMod val="60000"/>
                  <a:lumOff val="40000"/>
                </a:schemeClr>
              </a:buClr>
              <a:buFont typeface="Arial"/>
              <a:buNone/>
            </a:pPr>
            <a:r>
              <a:rPr lang="en-IN" sz="1800">
                <a:latin typeface="Arial"/>
                <a:cs typeface="Arial"/>
              </a:rPr>
              <a:t>Generally, this form of wear is suitable for meeting guests or going to meetings and other special cultural days. This form of dress is often worn by the nobility or the upper-class as they are often expensive pieces of clothing, usually made of silks and damasks. The coat sleeves are often deeper than the shenyi to create a more voluminous appearance.</a:t>
            </a:r>
          </a:p>
          <a:p>
            <a:pPr marL="274320" indent="-274320" eaLnBrk="1" hangingPunct="1" fontAlgn="auto">
              <a:spcAft>
                <a:spcPts val="0"/>
              </a:spcAft>
              <a:buClr>
                <a:schemeClr val="accent1">
                  <a:lumMod val="60000"/>
                  <a:lumOff val="40000"/>
                </a:schemeClr>
              </a:buClr>
            </a:pPr>
            <a:endParaRPr lang="en-IN"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2214563" cy="685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23555" name="Picture 2" descr="C:\Users\ajay pc\Desktop\chinies\25ba1bc4d9684befb8f30f085edc923e.jpg"/>
          <p:cNvPicPr>
            <a:picLocks noChangeAspect="1"/>
          </p:cNvPicPr>
          <p:nvPr/>
        </p:nvPicPr>
        <p:blipFill rotWithShape="1">
          <a:blip r:embed="rId2"/>
          <a:srcRect l="0" t="0" r="45833" b="0"/>
          <a:stretch>
            <a:fillRect/>
          </a:stretch>
        </p:blipFill>
        <p:spPr>
          <a:xfrm>
            <a:off x="5429250" y="0"/>
            <a:ext cx="3714750" cy="6858000"/>
          </a:xfrm>
          <a:prstGeom prst="rect">
            <a:avLst/>
          </a:prstGeom>
          <a:noFill/>
          <a:ln>
            <a:noFill/>
          </a:ln>
        </p:spPr>
      </p:pic>
      <p:pic>
        <p:nvPicPr>
          <p:cNvPr id="23556" name="Picture 3" descr="C:\Users\ajay pc\Desktop\chinies\770af01af6b6612e52a59441a8f72eba.jpg"/>
          <p:cNvPicPr>
            <a:picLocks noChangeAspect="1"/>
          </p:cNvPicPr>
          <p:nvPr/>
        </p:nvPicPr>
        <p:blipFill rotWithShape="1">
          <a:blip r:embed="rId3"/>
          <a:srcRect l="11967" t="0" r="9573" b="0"/>
          <a:stretch>
            <a:fillRect/>
          </a:stretch>
        </p:blipFill>
        <p:spPr>
          <a:xfrm>
            <a:off x="1608138" y="0"/>
            <a:ext cx="4035425" cy="6858000"/>
          </a:xfrm>
          <a:prstGeom prst="rect">
            <a:avLst/>
          </a:prstGeom>
          <a:noFill/>
          <a:ln>
            <a:noFill/>
          </a:ln>
        </p:spPr>
      </p:pic>
      <p:sp>
        <p:nvSpPr>
          <p:cNvPr id="7" name="Rectangle 6"/>
          <p:cNvSpPr/>
          <p:nvPr/>
        </p:nvSpPr>
        <p:spPr>
          <a:xfrm>
            <a:off x="0" y="2714625"/>
            <a:ext cx="2643188" cy="64293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IN" sz="2800">
                <a:solidFill>
                  <a:schemeClr val="bg1"/>
                </a:solidFill>
                <a:latin typeface="Arial"/>
                <a:cs typeface="Arial"/>
              </a:rPr>
              <a:t>Chang </a:t>
            </a:r>
            <a:endParaRPr lang="en-US" sz="280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5500688"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24579" name="Picture 5" descr="C:\Users\ajay pc\Desktop\chinies\3b03d3ec09c01b6781f45496616745ef.jpg"/>
          <p:cNvPicPr>
            <a:picLocks noChangeAspect="1"/>
          </p:cNvPicPr>
          <p:nvPr/>
        </p:nvPicPr>
        <p:blipFill rotWithShape="1">
          <a:blip r:embed="rId2"/>
          <a:srcRect l="0" t="0" r="14117" b="0"/>
          <a:stretch>
            <a:fillRect/>
          </a:stretch>
        </p:blipFill>
        <p:spPr>
          <a:xfrm>
            <a:off x="5232400" y="0"/>
            <a:ext cx="3911600" cy="6858000"/>
          </a:xfrm>
          <a:prstGeom prst="rect">
            <a:avLst/>
          </a:prstGeom>
          <a:noFill/>
          <a:ln>
            <a:noFill/>
          </a:ln>
        </p:spPr>
      </p:pic>
      <p:pic>
        <p:nvPicPr>
          <p:cNvPr id="24580" name="Picture 2" descr="http://www.finechineseclothing.com/BACKEND/Resource/ProductPic/280_453/1050A.jpg"/>
          <p:cNvPicPr>
            <a:picLocks noChangeAspect="1"/>
          </p:cNvPicPr>
          <p:nvPr/>
        </p:nvPicPr>
        <p:blipFill rotWithShape="1">
          <a:blip r:embed="rId3"/>
          <a:stretch>
            <a:fillRect/>
          </a:stretch>
        </p:blipFill>
        <p:spPr>
          <a:xfrm>
            <a:off x="2071688" y="3175"/>
            <a:ext cx="4000500" cy="6854825"/>
          </a:xfrm>
          <a:prstGeom prst="rect">
            <a:avLst/>
          </a:prstGeom>
          <a:noFill/>
          <a:ln>
            <a:noFill/>
          </a:ln>
        </p:spPr>
      </p:pic>
      <p:sp>
        <p:nvSpPr>
          <p:cNvPr id="20482" name="Content Placeholder 1"/>
          <p:cNvSpPr>
            <a:spLocks noGrp="1"/>
          </p:cNvSpPr>
          <p:nvPr>
            <p:ph idx="1"/>
          </p:nvPr>
        </p:nvSpPr>
        <p:spPr>
          <a:xfrm>
            <a:off x="142875" y="428625"/>
            <a:ext cx="2071688" cy="4525963"/>
          </a:xfrm>
          <a:prstGeom prst="rect">
            <a:avLst/>
          </a:prstGeom>
        </p:spPr>
        <p:txBody>
          <a:bodyPr/>
          <a:lstStyle/>
          <a:p>
            <a:pPr marL="0" indent="0" eaLnBrk="1" hangingPunct="1">
              <a:buFont typeface="Arial"/>
              <a:buNone/>
            </a:pPr>
            <a:endParaRPr lang="en-IN" sz="2000">
              <a:solidFill>
                <a:srgbClr val="FFC000"/>
              </a:solidFill>
            </a:endParaRPr>
          </a:p>
          <a:p>
            <a:pPr marL="0" indent="0" eaLnBrk="1" hangingPunct="1">
              <a:buFont typeface="Arial"/>
              <a:buNone/>
            </a:pPr>
            <a:endParaRPr lang="en-IN" sz="2000">
              <a:solidFill>
                <a:srgbClr val="FFC000"/>
              </a:solidFill>
            </a:endParaRPr>
          </a:p>
          <a:p>
            <a:pPr marL="0" indent="0" eaLnBrk="1" hangingPunct="1">
              <a:buFont typeface="Arial"/>
              <a:buNone/>
            </a:pPr>
            <a:endParaRPr lang="en-IN" sz="2000">
              <a:solidFill>
                <a:srgbClr val="FFC000"/>
              </a:solidFill>
            </a:endParaRPr>
          </a:p>
          <a:p>
            <a:pPr marL="0" indent="0" eaLnBrk="1" hangingPunct="1">
              <a:buFont typeface="Arial"/>
              <a:buNone/>
            </a:pPr>
            <a:r>
              <a:rPr lang="en-IN" sz="2000">
                <a:solidFill>
                  <a:srgbClr val="FFC000"/>
                </a:solidFill>
              </a:rPr>
              <a:t>Bixi</a:t>
            </a:r>
            <a:r>
              <a:rPr lang="en-IN" sz="2000">
                <a:solidFill>
                  <a:schemeClr val="bg1">
                    <a:lumMod val="85000"/>
                  </a:schemeClr>
                </a:solidFill>
              </a:rPr>
              <a:t>: A long sash-like fabric </a:t>
            </a:r>
          </a:p>
          <a:p>
            <a:pPr marL="0" indent="0" eaLnBrk="1" hangingPunct="1">
              <a:buFont typeface="Arial"/>
              <a:buNone/>
            </a:pPr>
            <a:r>
              <a:rPr lang="en-IN" sz="2000">
                <a:solidFill>
                  <a:schemeClr val="bg1">
                    <a:lumMod val="85000"/>
                  </a:schemeClr>
                </a:solidFill>
              </a:rPr>
              <a:t>attached to the waistband.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3714750" cy="6858000"/>
          </a:xfrm>
          <a:prstGeom prst="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25603" name="Content Placeholder 1"/>
          <p:cNvSpPr>
            <a:spLocks noGrp="1"/>
          </p:cNvSpPr>
          <p:nvPr>
            <p:ph idx="1"/>
          </p:nvPr>
        </p:nvSpPr>
        <p:spPr>
          <a:xfrm>
            <a:off x="0" y="1714500"/>
            <a:ext cx="3538538" cy="2471738"/>
          </a:xfrm>
          <a:prstGeom prst="rect">
            <a:avLst/>
          </a:prstGeom>
        </p:spPr>
        <p:txBody>
          <a:bodyPr/>
          <a:lstStyle/>
          <a:p>
            <a:pPr marL="0" indent="0" eaLnBrk="1" hangingPunct="1">
              <a:buFont typeface="Arial"/>
              <a:buNone/>
            </a:pPr>
            <a:r>
              <a:rPr lang="en-IN" sz="2400">
                <a:solidFill>
                  <a:srgbClr val="FFC000"/>
                </a:solidFill>
              </a:rPr>
              <a:t>Zhaoshan</a:t>
            </a:r>
            <a:r>
              <a:rPr lang="en-IN" sz="2400">
                <a:solidFill>
                  <a:schemeClr val="bg1"/>
                </a:solidFill>
              </a:rPr>
              <a:t>: An open coat over any informal or Semi formal Hanfu attire. The coat can be worn by both the genders. </a:t>
            </a:r>
          </a:p>
        </p:txBody>
      </p:sp>
      <p:pic>
        <p:nvPicPr>
          <p:cNvPr id="25604" name="Picture 2" descr="http://i191.photobucket.com/albums/z287/wanderingapricot/Scifi/hanfu.jpg"/>
          <p:cNvPicPr>
            <a:picLocks noChangeAspect="1"/>
          </p:cNvPicPr>
          <p:nvPr/>
        </p:nvPicPr>
        <p:blipFill rotWithShape="1">
          <a:blip r:embed="rId2"/>
          <a:srcRect l="12312" t="0" r="23575" b="0"/>
          <a:stretch>
            <a:fillRect/>
          </a:stretch>
        </p:blipFill>
        <p:spPr>
          <a:xfrm>
            <a:off x="5929313" y="0"/>
            <a:ext cx="3214687" cy="6804025"/>
          </a:xfrm>
          <a:prstGeom prst="rect">
            <a:avLst/>
          </a:prstGeom>
          <a:noFill/>
          <a:ln>
            <a:noFill/>
          </a:ln>
        </p:spPr>
      </p:pic>
      <p:pic>
        <p:nvPicPr>
          <p:cNvPr id="25605" name="Picture 4" descr="C:\Users\ajay pc\Desktop\4bbacfd6cbb216bd2f1fe9cc7e4d4cc9.jpg"/>
          <p:cNvPicPr>
            <a:picLocks noChangeAspect="1"/>
          </p:cNvPicPr>
          <p:nvPr/>
        </p:nvPicPr>
        <p:blipFill rotWithShape="1">
          <a:blip r:embed="rId3"/>
          <a:srcRect l="20000" t="0" r="21666" b="0"/>
          <a:stretch>
            <a:fillRect/>
          </a:stretch>
        </p:blipFill>
        <p:spPr>
          <a:xfrm>
            <a:off x="3500438" y="0"/>
            <a:ext cx="2643187" cy="6816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5500688" cy="6858000"/>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3" name="Title 2"/>
          <p:cNvSpPr>
            <a:spLocks noGrp="1"/>
          </p:cNvSpPr>
          <p:nvPr>
            <p:ph type="title"/>
          </p:nvPr>
        </p:nvSpPr>
        <p:spPr>
          <a:xfrm>
            <a:off x="1000125" y="1143000"/>
            <a:ext cx="3929063" cy="1204913"/>
          </a:xfrm>
          <a:prstGeom prst="rect">
            <a:avLst/>
          </a:prstGeom>
        </p:spPr>
        <p:txBody>
          <a:bodyPr rtlCol="0">
            <a:normAutofit/>
          </a:bodyPr>
          <a:lstStyle/>
          <a:p>
            <a:pPr eaLnBrk="1" hangingPunct="1" fontAlgn="auto">
              <a:spcAft>
                <a:spcPts val="0"/>
              </a:spcAft>
            </a:pPr>
            <a:r>
              <a:rPr lang="en-IN">
                <a:solidFill>
                  <a:schemeClr val="bg2">
                    <a:lumMod val="90000"/>
                  </a:schemeClr>
                </a:solidFill>
                <a:latin typeface="Arial"/>
                <a:cs typeface="Arial"/>
              </a:rPr>
              <a:t>Formal Styles</a:t>
            </a:r>
          </a:p>
        </p:txBody>
      </p:sp>
      <p:sp>
        <p:nvSpPr>
          <p:cNvPr id="2" name="Content Placeholder 1"/>
          <p:cNvSpPr>
            <a:spLocks noGrp="1"/>
          </p:cNvSpPr>
          <p:nvPr>
            <p:ph idx="1"/>
          </p:nvPr>
        </p:nvSpPr>
        <p:spPr>
          <a:xfrm>
            <a:off x="357188" y="2786063"/>
            <a:ext cx="4786312" cy="1739900"/>
          </a:xfrm>
          <a:prstGeom prst="rect">
            <a:avLst/>
          </a:prstGeom>
        </p:spPr>
        <p:txBody>
          <a:bodyPr rtlCol="0">
            <a:normAutofit lnSpcReduction="10000"/>
          </a:bodyPr>
          <a:lstStyle/>
          <a:p>
            <a:pPr marL="274320" indent="-274320" algn="ctr" eaLnBrk="1" hangingPunct="1" fontAlgn="auto">
              <a:spcAft>
                <a:spcPts val="0"/>
              </a:spcAft>
              <a:buClr>
                <a:schemeClr val="accent1">
                  <a:lumMod val="60000"/>
                  <a:lumOff val="40000"/>
                </a:schemeClr>
              </a:buClr>
            </a:pPr>
            <a:r>
              <a:rPr lang="en-IN" sz="1600">
                <a:solidFill>
                  <a:schemeClr val="bg1">
                    <a:lumMod val="75000"/>
                  </a:schemeClr>
                </a:solidFill>
                <a:latin typeface="Arial"/>
                <a:cs typeface="Arial"/>
              </a:rPr>
              <a:t>In addition to informal and semi-formal wear, there is a form of dress that is worn only at </a:t>
            </a:r>
            <a:r>
              <a:rPr lang="en-IN" sz="1600">
                <a:solidFill>
                  <a:schemeClr val="bg1">
                    <a:lumMod val="75000"/>
                  </a:schemeClr>
                </a:solidFill>
                <a:latin typeface="Arial"/>
                <a:cs typeface="Arial"/>
              </a:rPr>
              <a:t>confucian</a:t>
            </a:r>
            <a:r>
              <a:rPr lang="en-IN" sz="1600">
                <a:solidFill>
                  <a:schemeClr val="bg1">
                    <a:lumMod val="75000"/>
                  </a:schemeClr>
                </a:solidFill>
                <a:latin typeface="Arial"/>
                <a:cs typeface="Arial"/>
              </a:rPr>
              <a:t> rituals (like important sacrifices or religious activities) or by special people who are entitled to wear them (such as officials and emperors). Formal wear are usually long wear with long sleeves except </a:t>
            </a:r>
            <a:r>
              <a:rPr lang="en-IN" sz="1600">
                <a:solidFill>
                  <a:schemeClr val="bg1">
                    <a:lumMod val="75000"/>
                  </a:schemeClr>
                </a:solidFill>
                <a:latin typeface="Arial"/>
                <a:cs typeface="Arial"/>
              </a:rPr>
              <a:t>Xuanduan</a:t>
            </a:r>
            <a:r>
              <a:rPr lang="en-IN" sz="1600">
                <a:solidFill>
                  <a:schemeClr val="bg1">
                    <a:lumMod val="75000"/>
                  </a:schemeClr>
                </a:solidFill>
                <a:latin typeface="Arial"/>
                <a:cs typeface="Arial"/>
              </a:rPr>
              <a:t>.</a:t>
            </a:r>
          </a:p>
          <a:p>
            <a:pPr marL="0" indent="0" eaLnBrk="1" hangingPunct="1" fontAlgn="auto">
              <a:spcAft>
                <a:spcPts val="0"/>
              </a:spcAft>
              <a:buClr>
                <a:schemeClr val="accent1">
                  <a:lumMod val="60000"/>
                  <a:lumOff val="40000"/>
                </a:schemeClr>
              </a:buClr>
              <a:buFont typeface="Arial"/>
              <a:buNone/>
            </a:pPr>
            <a:endParaRPr lang="en-IN">
              <a:solidFill>
                <a:schemeClr val="bg1">
                  <a:lumMod val="75000"/>
                </a:schemeClr>
              </a:solidFill>
              <a:latin typeface="Arial"/>
              <a:cs typeface="Arial"/>
            </a:endParaRPr>
          </a:p>
        </p:txBody>
      </p:sp>
      <p:pic>
        <p:nvPicPr>
          <p:cNvPr id="26629" name="Picture 5" descr="C:\Users\ajay pc\Desktop\ab97ea141b01872a67aca5a65c52be0a.jpg"/>
          <p:cNvPicPr>
            <a:picLocks noChangeAspect="1"/>
          </p:cNvPicPr>
          <p:nvPr/>
        </p:nvPicPr>
        <p:blipFill rotWithShape="1">
          <a:blip r:embed="rId2"/>
          <a:stretch>
            <a:fillRect/>
          </a:stretch>
        </p:blipFill>
        <p:spPr>
          <a:xfrm>
            <a:off x="5280025" y="0"/>
            <a:ext cx="3863975"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5500688"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2" name="Title 1"/>
          <p:cNvSpPr>
            <a:spLocks noGrp="1"/>
          </p:cNvSpPr>
          <p:nvPr>
            <p:ph type="title"/>
          </p:nvPr>
        </p:nvSpPr>
        <p:spPr>
          <a:xfrm>
            <a:off x="357188" y="1346200"/>
            <a:ext cx="4400550" cy="725488"/>
          </a:xfrm>
          <a:prstGeom prst="rect">
            <a:avLst/>
          </a:prstGeom>
        </p:spPr>
        <p:txBody>
          <a:bodyPr/>
          <a:lstStyle/>
          <a:p>
            <a:r>
              <a:rPr lang="en-IN" sz="2800">
                <a:solidFill>
                  <a:schemeClr val="bg1">
                    <a:lumMod val="85000"/>
                  </a:schemeClr>
                </a:solidFill>
                <a:latin typeface="Arial"/>
                <a:cs typeface="Arial"/>
              </a:rPr>
              <a:t>Formal garments may include</a:t>
            </a:r>
            <a:r>
              <a:rPr lang="en-IN" sz="2800">
                <a:solidFill>
                  <a:schemeClr val="tx1">
                    <a:lumMod val="95000"/>
                  </a:schemeClr>
                </a:solidFill>
                <a:latin typeface="Arial"/>
                <a:cs typeface="Arial"/>
              </a:rPr>
              <a:t>:</a:t>
            </a:r>
            <a:br>
              <a:rPr lang="en-IN" sz="2800">
                <a:solidFill>
                  <a:schemeClr val="tx1">
                    <a:lumMod val="95000"/>
                  </a:schemeClr>
                </a:solidFill>
                <a:latin typeface="Arial"/>
                <a:cs typeface="Arial"/>
              </a:rPr>
            </a:br>
            <a:endParaRPr lang="en-US" sz="2800"/>
          </a:p>
        </p:txBody>
      </p:sp>
      <p:pic>
        <p:nvPicPr>
          <p:cNvPr id="27652" name="Picture 2" descr="C:\Users\ajay pc\Desktop\b4a7933411fcc100a259a97bcc06b247.jpg"/>
          <p:cNvPicPr>
            <a:picLocks noChangeAspect="1"/>
          </p:cNvPicPr>
          <p:nvPr/>
        </p:nvPicPr>
        <p:blipFill rotWithShape="1">
          <a:blip r:embed="rId2"/>
          <a:stretch>
            <a:fillRect/>
          </a:stretch>
        </p:blipFill>
        <p:spPr>
          <a:xfrm>
            <a:off x="5286375" y="0"/>
            <a:ext cx="3857625" cy="6853238"/>
          </a:xfrm>
          <a:prstGeom prst="rect">
            <a:avLst/>
          </a:prstGeom>
          <a:noFill/>
          <a:ln>
            <a:noFill/>
          </a:ln>
        </p:spPr>
      </p:pic>
      <p:sp>
        <p:nvSpPr>
          <p:cNvPr id="3" name="Content Placeholder 2"/>
          <p:cNvSpPr>
            <a:spLocks noGrp="1"/>
          </p:cNvSpPr>
          <p:nvPr>
            <p:ph idx="1"/>
          </p:nvPr>
        </p:nvSpPr>
        <p:spPr>
          <a:xfrm>
            <a:off x="0" y="2214563"/>
            <a:ext cx="4972050" cy="1428750"/>
          </a:xfrm>
          <a:prstGeom prst="rect">
            <a:avLst/>
          </a:prstGeom>
        </p:spPr>
        <p:txBody>
          <a:bodyPr/>
          <a:lstStyle/>
          <a:p>
            <a:pPr marL="274320" indent="-274320" eaLnBrk="1" hangingPunct="1" fontAlgn="auto">
              <a:spcAft>
                <a:spcPts val="0"/>
              </a:spcAft>
              <a:buClr>
                <a:schemeClr val="accent1">
                  <a:lumMod val="60000"/>
                  <a:lumOff val="40000"/>
                </a:schemeClr>
              </a:buClr>
            </a:pPr>
            <a:endParaRPr lang="en-IN" sz="2000">
              <a:solidFill>
                <a:srgbClr val="FFC000"/>
              </a:solidFill>
              <a:latin typeface="Arial"/>
              <a:cs typeface="Arial"/>
            </a:endParaRPr>
          </a:p>
          <a:p>
            <a:pPr marL="274320" indent="-274320" eaLnBrk="1" hangingPunct="1" fontAlgn="auto">
              <a:spcAft>
                <a:spcPts val="0"/>
              </a:spcAft>
              <a:buClr>
                <a:schemeClr val="accent1">
                  <a:lumMod val="60000"/>
                  <a:lumOff val="40000"/>
                </a:schemeClr>
              </a:buClr>
            </a:pPr>
            <a:r>
              <a:rPr lang="en-IN" sz="2000">
                <a:solidFill>
                  <a:srgbClr val="FFC000"/>
                </a:solidFill>
                <a:latin typeface="Arial"/>
                <a:cs typeface="Arial"/>
              </a:rPr>
              <a:t>Xuanduan</a:t>
            </a:r>
            <a:r>
              <a:rPr lang="en-IN" sz="2000">
                <a:latin typeface="Arial"/>
                <a:cs typeface="Arial"/>
              </a:rPr>
              <a:t> </a:t>
            </a:r>
            <a:r>
              <a:rPr lang="en-IN" sz="2000">
                <a:solidFill>
                  <a:schemeClr val="bg1">
                    <a:lumMod val="75000"/>
                  </a:schemeClr>
                </a:solidFill>
                <a:latin typeface="Arial"/>
                <a:cs typeface="Arial"/>
              </a:rPr>
              <a:t>(</a:t>
            </a:r>
            <a:r>
              <a:rPr lang="ja-JP" sz="2000">
                <a:solidFill>
                  <a:schemeClr val="bg1">
                    <a:lumMod val="75000"/>
                  </a:schemeClr>
                </a:solidFill>
                <a:latin typeface="Arial"/>
                <a:cs typeface="Arial"/>
              </a:rPr>
              <a:t>玄端</a:t>
            </a:r>
            <a:r>
              <a:rPr lang="en-US" sz="2000">
                <a:solidFill>
                  <a:schemeClr val="bg1">
                    <a:lumMod val="75000"/>
                  </a:schemeClr>
                </a:solidFill>
                <a:latin typeface="Arial"/>
                <a:cs typeface="Arial"/>
              </a:rPr>
              <a:t>): </a:t>
            </a:r>
            <a:r>
              <a:rPr lang="en-IN" sz="2000">
                <a:solidFill>
                  <a:schemeClr val="bg1">
                    <a:lumMod val="75000"/>
                  </a:schemeClr>
                </a:solidFill>
                <a:latin typeface="Arial"/>
                <a:cs typeface="Arial"/>
              </a:rPr>
              <a:t>a very formal dark robe; equivalent to the Western “</a:t>
            </a:r>
            <a:r>
              <a:rPr lang="en-IN" sz="2000" i="1">
                <a:solidFill>
                  <a:schemeClr val="bg1">
                    <a:lumMod val="75000"/>
                  </a:schemeClr>
                </a:solidFill>
                <a:latin typeface="Arial"/>
                <a:cs typeface="Arial"/>
              </a:rPr>
              <a:t>white tie”</a:t>
            </a:r>
            <a:endParaRPr lang="en-IN" sz="2000">
              <a:solidFill>
                <a:schemeClr val="bg1">
                  <a:lumMod val="75000"/>
                </a:schemeClr>
              </a:solidFill>
              <a:latin typeface="Arial"/>
              <a:cs typeface="Arial"/>
            </a:endParaRPr>
          </a:p>
          <a:p>
            <a:endParaRPr lang="en-US" sz="2000"/>
          </a:p>
        </p:txBody>
      </p:sp>
      <p:sp>
        <p:nvSpPr>
          <p:cNvPr id="6" name="Rectangle 5"/>
          <p:cNvSpPr/>
          <p:nvPr/>
        </p:nvSpPr>
        <p:spPr>
          <a:xfrm>
            <a:off x="214313" y="3576638"/>
            <a:ext cx="4572000" cy="923925"/>
          </a:xfrm>
          <a:prstGeom prst="rect">
            <a:avLst/>
          </a:prstGeom>
        </p:spPr>
        <p:txBody>
          <a:bodyPr>
            <a:spAutoFit/>
          </a:bodyPr>
          <a:lstStyle/>
          <a:p>
            <a:pPr marL="274320" indent="-274320" eaLnBrk="1" hangingPunct="1" fontAlgn="auto">
              <a:spcAft>
                <a:spcPts val="0"/>
              </a:spcAft>
              <a:buClr>
                <a:schemeClr val="accent1">
                  <a:lumMod val="60000"/>
                  <a:lumOff val="40000"/>
                </a:schemeClr>
              </a:buClr>
            </a:pPr>
            <a:r>
              <a:rPr lang="en-IN">
                <a:solidFill>
                  <a:srgbClr val="FFC000"/>
                </a:solidFill>
                <a:latin typeface="Arial"/>
              </a:rPr>
              <a:t>Shenyi</a:t>
            </a:r>
            <a:r>
              <a:rPr lang="en-IN">
                <a:latin typeface="Arial"/>
              </a:rPr>
              <a:t> </a:t>
            </a:r>
            <a:r>
              <a:rPr lang="en-IN">
                <a:solidFill>
                  <a:schemeClr val="bg1">
                    <a:lumMod val="75000"/>
                  </a:schemeClr>
                </a:solidFill>
                <a:latin typeface="Arial"/>
              </a:rPr>
              <a:t>(</a:t>
            </a:r>
            <a:r>
              <a:rPr lang="ja-JP">
                <a:solidFill>
                  <a:schemeClr val="bg1">
                    <a:lumMod val="75000"/>
                  </a:schemeClr>
                </a:solidFill>
                <a:latin typeface="Arial"/>
              </a:rPr>
              <a:t>深衣</a:t>
            </a:r>
            <a:r>
              <a:rPr lang="en-US">
                <a:solidFill>
                  <a:schemeClr val="bg1">
                    <a:lumMod val="75000"/>
                  </a:schemeClr>
                </a:solidFill>
                <a:latin typeface="Arial"/>
              </a:rPr>
              <a:t>): </a:t>
            </a:r>
            <a:r>
              <a:rPr lang="en-IN">
                <a:solidFill>
                  <a:schemeClr val="bg1">
                    <a:lumMod val="75000"/>
                  </a:schemeClr>
                </a:solidFill>
                <a:latin typeface="Arial"/>
              </a:rPr>
              <a:t>a long full    body garment</a:t>
            </a:r>
          </a:p>
          <a:p>
            <a:pPr eaLnBrk="1" hangingPunct="1" fontAlgn="auto">
              <a:spcAft>
                <a:spcPts val="0"/>
              </a:spcAft>
              <a:buClr>
                <a:schemeClr val="accent1">
                  <a:lumMod val="60000"/>
                  <a:lumOff val="40000"/>
                </a:schemeClr>
              </a:buClr>
            </a:pPr>
            <a:r>
              <a:rPr lang="en-IN">
                <a:latin typeface="Arial"/>
              </a:rPr>
              <a:t>   </a:t>
            </a:r>
            <a:r>
              <a:rPr lang="en-IN">
                <a:solidFill>
                  <a:srgbClr val="FFC000"/>
                </a:solidFill>
                <a:latin typeface="Arial"/>
              </a:rPr>
              <a:t>Quju</a:t>
            </a:r>
            <a:r>
              <a:rPr lang="en-IN">
                <a:latin typeface="Arial"/>
              </a:rPr>
              <a:t> </a:t>
            </a:r>
            <a:r>
              <a:rPr lang="en-IN">
                <a:solidFill>
                  <a:schemeClr val="bg1">
                    <a:lumMod val="75000"/>
                  </a:schemeClr>
                </a:solidFill>
                <a:latin typeface="Arial"/>
              </a:rPr>
              <a:t>(</a:t>
            </a:r>
            <a:r>
              <a:rPr lang="ja-JP">
                <a:solidFill>
                  <a:schemeClr val="bg1">
                    <a:lumMod val="75000"/>
                  </a:schemeClr>
                </a:solidFill>
                <a:latin typeface="Arial"/>
              </a:rPr>
              <a:t>曲裾</a:t>
            </a:r>
            <a:r>
              <a:rPr lang="en-US">
                <a:solidFill>
                  <a:schemeClr val="bg1">
                    <a:lumMod val="75000"/>
                  </a:schemeClr>
                </a:solidFill>
                <a:latin typeface="Arial"/>
              </a:rPr>
              <a:t>): </a:t>
            </a:r>
            <a:r>
              <a:rPr lang="en-IN">
                <a:solidFill>
                  <a:schemeClr val="bg1">
                    <a:lumMod val="75000"/>
                  </a:schemeClr>
                </a:solidFill>
                <a:latin typeface="Arial"/>
              </a:rPr>
              <a:t>diagonal body wrapping</a:t>
            </a:r>
          </a:p>
          <a:p>
            <a:pPr eaLnBrk="1" hangingPunct="1" fontAlgn="auto">
              <a:spcAft>
                <a:spcPts val="0"/>
              </a:spcAft>
              <a:buClr>
                <a:schemeClr val="accent1">
                  <a:lumMod val="60000"/>
                  <a:lumOff val="40000"/>
                </a:schemeClr>
              </a:buClr>
            </a:pPr>
            <a:r>
              <a:rPr lang="en-IN">
                <a:solidFill>
                  <a:srgbClr val="FFC000"/>
                </a:solidFill>
                <a:latin typeface="Arial"/>
              </a:rPr>
              <a:t>   Zhiju</a:t>
            </a:r>
            <a:r>
              <a:rPr lang="en-IN">
                <a:solidFill>
                  <a:schemeClr val="bg1">
                    <a:lumMod val="75000"/>
                  </a:schemeClr>
                </a:solidFill>
                <a:latin typeface="Arial"/>
              </a:rPr>
              <a:t> (</a:t>
            </a:r>
            <a:r>
              <a:rPr lang="ja-JP">
                <a:solidFill>
                  <a:schemeClr val="bg1">
                    <a:lumMod val="75000"/>
                  </a:schemeClr>
                </a:solidFill>
                <a:latin typeface="Arial"/>
              </a:rPr>
              <a:t>直裾</a:t>
            </a:r>
            <a:r>
              <a:rPr lang="en-US">
                <a:solidFill>
                  <a:schemeClr val="bg1">
                    <a:lumMod val="75000"/>
                  </a:schemeClr>
                </a:solidFill>
                <a:latin typeface="Arial"/>
              </a:rPr>
              <a:t>): </a:t>
            </a:r>
            <a:r>
              <a:rPr lang="en-IN">
                <a:solidFill>
                  <a:schemeClr val="bg1">
                    <a:lumMod val="75000"/>
                  </a:schemeClr>
                </a:solidFill>
                <a:latin typeface="Arial"/>
              </a:rPr>
              <a:t>straight lapels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5500688"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28675" name="Picture 3"/>
          <p:cNvPicPr>
            <a:picLocks noChangeAspect="1"/>
          </p:cNvPicPr>
          <p:nvPr/>
        </p:nvPicPr>
        <p:blipFill rotWithShape="1">
          <a:blip r:embed="rId2"/>
          <a:stretch>
            <a:fillRect/>
          </a:stretch>
        </p:blipFill>
        <p:spPr>
          <a:xfrm>
            <a:off x="0" y="0"/>
            <a:ext cx="4979988" cy="6858000"/>
          </a:xfrm>
          <a:prstGeom prst="rect">
            <a:avLst/>
          </a:prstGeom>
          <a:noFill/>
          <a:ln>
            <a:noFill/>
          </a:ln>
        </p:spPr>
      </p:pic>
      <p:sp>
        <p:nvSpPr>
          <p:cNvPr id="28676" name="Content Placeholder 1"/>
          <p:cNvSpPr>
            <a:spLocks noGrp="1"/>
          </p:cNvSpPr>
          <p:nvPr>
            <p:ph idx="1"/>
          </p:nvPr>
        </p:nvSpPr>
        <p:spPr>
          <a:xfrm>
            <a:off x="0" y="3857625"/>
            <a:ext cx="4329113" cy="357188"/>
          </a:xfrm>
          <a:prstGeom prst="rect">
            <a:avLst/>
          </a:prstGeom>
        </p:spPr>
        <p:txBody>
          <a:bodyPr/>
          <a:lstStyle/>
          <a:p>
            <a:pPr marL="0" indent="0" eaLnBrk="1" hangingPunct="1">
              <a:buFont typeface="Arial"/>
              <a:buNone/>
            </a:pPr>
            <a:r>
              <a:rPr lang="en-IN" sz="2400"/>
              <a:t>:</a:t>
            </a:r>
          </a:p>
        </p:txBody>
      </p:sp>
      <p:pic>
        <p:nvPicPr>
          <p:cNvPr id="28677" name="Picture 2" descr="File:Sui Yangdi Tang.jpg"/>
          <p:cNvPicPr>
            <a:picLocks noChangeAspect="1"/>
          </p:cNvPicPr>
          <p:nvPr/>
        </p:nvPicPr>
        <p:blipFill rotWithShape="1">
          <a:blip r:embed="rId3"/>
          <a:stretch>
            <a:fillRect/>
          </a:stretch>
        </p:blipFill>
        <p:spPr>
          <a:xfrm>
            <a:off x="5211763" y="0"/>
            <a:ext cx="3932237" cy="6858000"/>
          </a:xfrm>
          <a:prstGeom prst="rect">
            <a:avLst/>
          </a:prstGeom>
          <a:noFill/>
          <a:ln>
            <a:noFill/>
          </a:ln>
        </p:spPr>
      </p:pic>
      <p:sp>
        <p:nvSpPr>
          <p:cNvPr id="5" name="Rectangle 4"/>
          <p:cNvSpPr/>
          <p:nvPr/>
        </p:nvSpPr>
        <p:spPr>
          <a:xfrm>
            <a:off x="0" y="4714875"/>
            <a:ext cx="3286125" cy="135731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r>
              <a:rPr lang="en-IN" sz="2800"/>
              <a:t>Xuanduan</a:t>
            </a:r>
            <a:r>
              <a:rPr lang="en-IN" sz="2800"/>
              <a:t> Official Formal Wear</a:t>
            </a:r>
            <a:r>
              <a:rPr lang="en-IN" sz="2800">
                <a:solidFill>
                  <a:schemeClr val="bg1"/>
                </a:solidFill>
                <a:latin typeface="Arial"/>
                <a:cs typeface="Arial"/>
              </a:rPr>
              <a:t> </a:t>
            </a:r>
            <a:endParaRPr lang="en-US" sz="280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18435" name="Content Placeholder 1"/>
          <p:cNvSpPr>
            <a:spLocks noGrp="1"/>
          </p:cNvSpPr>
          <p:nvPr>
            <p:ph idx="1"/>
          </p:nvPr>
        </p:nvSpPr>
        <p:spPr>
          <a:xfrm>
            <a:off x="1143000" y="4764088"/>
            <a:ext cx="7138988" cy="1951037"/>
          </a:xfrm>
          <a:prstGeom prst="rect">
            <a:avLst/>
          </a:prstGeom>
        </p:spPr>
        <p:txBody>
          <a:bodyPr rtlCol="0">
            <a:normAutofit/>
          </a:bodyPr>
          <a:lstStyle/>
          <a:p>
            <a:pPr marL="0" indent="0" algn="ctr" eaLnBrk="1" hangingPunct="1" fontAlgn="auto">
              <a:spcAft>
                <a:spcPts val="0"/>
              </a:spcAft>
              <a:buFont typeface="Arial"/>
              <a:buNone/>
            </a:pPr>
            <a:r>
              <a:rPr lang="en-IN" sz="2400">
                <a:solidFill>
                  <a:srgbClr val="FFC000"/>
                </a:solidFill>
              </a:rPr>
              <a:t>Shenyi</a:t>
            </a:r>
            <a:r>
              <a:rPr lang="en-IN" sz="2400">
                <a:solidFill>
                  <a:srgbClr val="FFC000"/>
                </a:solidFill>
              </a:rPr>
              <a:t>: </a:t>
            </a:r>
            <a:r>
              <a:rPr lang="en-IN" sz="2400">
                <a:solidFill>
                  <a:schemeClr val="bg1">
                    <a:lumMod val="85000"/>
                  </a:schemeClr>
                </a:solidFill>
              </a:rPr>
              <a:t>The most famous Court Wear and the most accounted for Formal Wear in ancient Chinese's Han Clothing. This style is knee length </a:t>
            </a:r>
            <a:r>
              <a:rPr lang="en-IN" sz="2400">
                <a:solidFill>
                  <a:schemeClr val="bg1">
                    <a:lumMod val="85000"/>
                  </a:schemeClr>
                </a:solidFill>
              </a:rPr>
              <a:t>Quju</a:t>
            </a:r>
            <a:r>
              <a:rPr lang="en-IN" sz="2400">
                <a:solidFill>
                  <a:schemeClr val="bg1">
                    <a:lumMod val="85000"/>
                  </a:schemeClr>
                </a:solidFill>
              </a:rPr>
              <a:t> for Men.</a:t>
            </a:r>
          </a:p>
        </p:txBody>
      </p:sp>
      <p:pic>
        <p:nvPicPr>
          <p:cNvPr id="29700" name="Picture 2" descr="File:Zhiju.svg"/>
          <p:cNvPicPr>
            <a:picLocks noChangeAspect="1"/>
          </p:cNvPicPr>
          <p:nvPr/>
        </p:nvPicPr>
        <p:blipFill rotWithShape="1">
          <a:blip r:embed="rId2"/>
          <a:stretch>
            <a:fillRect/>
          </a:stretch>
        </p:blipFill>
        <p:spPr>
          <a:xfrm>
            <a:off x="247650" y="758825"/>
            <a:ext cx="8716963" cy="345598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19459" name="Content Placeholder 1"/>
          <p:cNvSpPr>
            <a:spLocks noGrp="1"/>
          </p:cNvSpPr>
          <p:nvPr>
            <p:ph idx="1"/>
          </p:nvPr>
        </p:nvSpPr>
        <p:spPr>
          <a:xfrm>
            <a:off x="457200" y="4652963"/>
            <a:ext cx="7931150" cy="1519237"/>
          </a:xfrm>
          <a:prstGeom prst="rect">
            <a:avLst/>
          </a:prstGeom>
        </p:spPr>
        <p:txBody>
          <a:bodyPr rtlCol="0">
            <a:normAutofit/>
          </a:bodyPr>
          <a:lstStyle/>
          <a:p>
            <a:pPr marL="0" indent="0" algn="ctr" eaLnBrk="1" hangingPunct="1" fontAlgn="auto">
              <a:spcAft>
                <a:spcPts val="0"/>
              </a:spcAft>
              <a:buFont typeface="Arial"/>
              <a:buNone/>
            </a:pPr>
            <a:r>
              <a:rPr lang="en-IN">
                <a:solidFill>
                  <a:srgbClr val="FFC000"/>
                </a:solidFill>
              </a:rPr>
              <a:t>Shenyi</a:t>
            </a:r>
            <a:r>
              <a:rPr lang="en-IN"/>
              <a:t>: </a:t>
            </a:r>
            <a:r>
              <a:rPr lang="en-IN" sz="2000">
                <a:solidFill>
                  <a:schemeClr val="bg1">
                    <a:lumMod val="85000"/>
                  </a:schemeClr>
                </a:solidFill>
              </a:rPr>
              <a:t>The most famous Court Wear and the most accounted for Formal Wear in ancient Chinese's Han Clothing. This style is the ankle or feet length </a:t>
            </a:r>
            <a:r>
              <a:rPr lang="en-IN" sz="2000">
                <a:solidFill>
                  <a:schemeClr val="bg1">
                    <a:lumMod val="85000"/>
                  </a:schemeClr>
                </a:solidFill>
              </a:rPr>
              <a:t>Quju</a:t>
            </a:r>
            <a:r>
              <a:rPr lang="en-IN" sz="2000">
                <a:solidFill>
                  <a:schemeClr val="bg1">
                    <a:lumMod val="85000"/>
                  </a:schemeClr>
                </a:solidFill>
              </a:rPr>
              <a:t> for Women.</a:t>
            </a:r>
            <a:endParaRPr lang="en-IN">
              <a:solidFill>
                <a:schemeClr val="bg1">
                  <a:lumMod val="85000"/>
                </a:schemeClr>
              </a:solidFill>
            </a:endParaRPr>
          </a:p>
          <a:p>
            <a:pPr marL="0" indent="0" algn="ctr" eaLnBrk="1" hangingPunct="1" fontAlgn="auto">
              <a:spcAft>
                <a:spcPts val="0"/>
              </a:spcAft>
              <a:buFont typeface="Arial"/>
              <a:buNone/>
            </a:pPr>
            <a:endParaRPr lang="en-IN"/>
          </a:p>
        </p:txBody>
      </p:sp>
      <p:pic>
        <p:nvPicPr>
          <p:cNvPr id="30724" name="Picture 4" descr="http://upload.wikimedia.org/wikipedia/commons/thumb/0/03/Shenyi.svg/500px-Shenyi.svg.png"/>
          <p:cNvPicPr>
            <a:picLocks noChangeAspect="1"/>
          </p:cNvPicPr>
          <p:nvPr/>
        </p:nvPicPr>
        <p:blipFill rotWithShape="1">
          <a:blip r:embed="rId2"/>
          <a:stretch>
            <a:fillRect/>
          </a:stretch>
        </p:blipFill>
        <p:spPr>
          <a:xfrm>
            <a:off x="250825" y="684213"/>
            <a:ext cx="8634413" cy="3816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pic>
        <p:nvPicPr>
          <p:cNvPr id="31747" name="Picture 4" descr="C:\Users\ajay pc\Desktop\images (5).jpg"/>
          <p:cNvPicPr>
            <a:picLocks noChangeAspect="1"/>
          </p:cNvPicPr>
          <p:nvPr/>
        </p:nvPicPr>
        <p:blipFill rotWithShape="1">
          <a:blip r:embed="rId2"/>
          <a:stretch>
            <a:fillRect/>
          </a:stretch>
        </p:blipFill>
        <p:spPr>
          <a:xfrm>
            <a:off x="285750" y="357188"/>
            <a:ext cx="3646488" cy="5429250"/>
          </a:xfrm>
          <a:prstGeom prst="rect">
            <a:avLst/>
          </a:prstGeom>
          <a:noFill/>
          <a:ln>
            <a:noFill/>
          </a:ln>
        </p:spPr>
      </p:pic>
      <p:sp>
        <p:nvSpPr>
          <p:cNvPr id="31748" name="Content Placeholder 1"/>
          <p:cNvSpPr>
            <a:spLocks noGrp="1"/>
          </p:cNvSpPr>
          <p:nvPr>
            <p:ph idx="1"/>
          </p:nvPr>
        </p:nvSpPr>
        <p:spPr>
          <a:xfrm>
            <a:off x="3143250" y="6029325"/>
            <a:ext cx="2900363" cy="542925"/>
          </a:xfrm>
          <a:prstGeom prst="rect">
            <a:avLst/>
          </a:prstGeom>
        </p:spPr>
        <p:txBody>
          <a:bodyPr/>
          <a:lstStyle/>
          <a:p>
            <a:pPr marL="0" indent="0" eaLnBrk="1" hangingPunct="1">
              <a:buFont typeface="Arial"/>
              <a:buNone/>
            </a:pPr>
            <a:r>
              <a:rPr lang="en-IN" sz="2400">
                <a:solidFill>
                  <a:srgbClr val="FFC000"/>
                </a:solidFill>
              </a:rPr>
              <a:t>Women’s Quju Shenyi</a:t>
            </a:r>
          </a:p>
        </p:txBody>
      </p:sp>
      <p:pic>
        <p:nvPicPr>
          <p:cNvPr id="31749" name="Picture 2" descr="File:Xin Zhui 1.JPG"/>
          <p:cNvPicPr>
            <a:picLocks noChangeAspect="1"/>
          </p:cNvPicPr>
          <p:nvPr/>
        </p:nvPicPr>
        <p:blipFill rotWithShape="1">
          <a:blip r:embed="rId3"/>
          <a:srcRect l="0" t="0" r="0" b="11575"/>
          <a:stretch>
            <a:fillRect/>
          </a:stretch>
        </p:blipFill>
        <p:spPr>
          <a:xfrm>
            <a:off x="4287838" y="357188"/>
            <a:ext cx="4498975" cy="5597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4" name="Rectangle 3"/>
          <p:cNvSpPr/>
          <p:nvPr/>
        </p:nvSpPr>
        <p:spPr>
          <a:xfrm>
            <a:off x="214313" y="3214688"/>
            <a:ext cx="812800" cy="369887"/>
          </a:xfrm>
          <a:prstGeom prst="rect">
            <a:avLst/>
          </a:prstGeom>
        </p:spPr>
        <p:txBody>
          <a:bodyPr wrap="none">
            <a:spAutoFit/>
          </a:bodyPr>
          <a:lstStyle/>
          <a:p>
            <a:pPr eaLnBrk="1" hangingPunct="1"/>
            <a:r>
              <a:rPr lang="en-IN">
                <a:solidFill>
                  <a:srgbClr val="FFC000"/>
                </a:solidFill>
                <a:latin typeface="Arial"/>
              </a:rPr>
              <a:t> Zhiju</a:t>
            </a:r>
            <a:r>
              <a:rPr lang="en-IN">
                <a:solidFill>
                  <a:schemeClr val="bg1">
                    <a:lumMod val="75000"/>
                  </a:schemeClr>
                </a:solidFill>
                <a:latin typeface="Arial"/>
              </a:rPr>
              <a:t> </a:t>
            </a:r>
            <a:endParaRPr lang="en-US"/>
          </a:p>
        </p:txBody>
      </p:sp>
      <p:sp>
        <p:nvSpPr>
          <p:cNvPr id="5" name="Rectangle 4"/>
          <p:cNvSpPr/>
          <p:nvPr/>
        </p:nvSpPr>
        <p:spPr>
          <a:xfrm>
            <a:off x="0" y="3214688"/>
            <a:ext cx="1357313" cy="50006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r>
              <a:rPr lang="en-IN" sz="2800">
                <a:solidFill>
                  <a:schemeClr val="bg1">
                    <a:lumMod val="85000"/>
                  </a:schemeClr>
                </a:solidFill>
                <a:latin typeface="Arial"/>
              </a:rPr>
              <a:t> Zhiju </a:t>
            </a:r>
            <a:endParaRPr lang="en-US" sz="2800">
              <a:solidFill>
                <a:schemeClr val="bg1">
                  <a:lumMod val="85000"/>
                </a:schemeClr>
              </a:solidFill>
            </a:endParaRPr>
          </a:p>
        </p:txBody>
      </p:sp>
      <p:pic>
        <p:nvPicPr>
          <p:cNvPr id="32773" name="Picture 2" descr="C:\Users\ajay pc\Desktop\534bfe410f012cebc03397834a97a03b--ancient-china-hanfu.jpg"/>
          <p:cNvPicPr>
            <a:picLocks noChangeAspect="1"/>
          </p:cNvPicPr>
          <p:nvPr/>
        </p:nvPicPr>
        <p:blipFill rotWithShape="1">
          <a:blip r:embed="rId2"/>
          <a:stretch>
            <a:fillRect/>
          </a:stretch>
        </p:blipFill>
        <p:spPr>
          <a:xfrm>
            <a:off x="4572000" y="0"/>
            <a:ext cx="4572000" cy="6858000"/>
          </a:xfrm>
          <a:prstGeom prst="rect">
            <a:avLst/>
          </a:prstGeom>
          <a:noFill/>
          <a:ln>
            <a:noFill/>
          </a:ln>
        </p:spPr>
      </p:pic>
      <p:pic>
        <p:nvPicPr>
          <p:cNvPr id="32774" name="Picture 3" descr="C:\Users\ajay pc\Desktop\Male-Chinese-Traditional-Costume-Man-Hanfu-Clothing-Adult-Chinese-Folk-Costume-Ming-Costume-Robe-Ancient-Clothing.jpg_640x640.jpg"/>
          <p:cNvPicPr>
            <a:picLocks noChangeAspect="1"/>
          </p:cNvPicPr>
          <p:nvPr/>
        </p:nvPicPr>
        <p:blipFill rotWithShape="1">
          <a:blip r:embed="rId3"/>
          <a:srcRect l="0" t="0" r="55196" b="0"/>
          <a:stretch>
            <a:fillRect/>
          </a:stretch>
        </p:blipFill>
        <p:spPr>
          <a:xfrm>
            <a:off x="1785938" y="0"/>
            <a:ext cx="3071812" cy="685641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3" name="Title 2"/>
          <p:cNvSpPr>
            <a:spLocks noGrp="1"/>
          </p:cNvSpPr>
          <p:nvPr>
            <p:ph type="title"/>
          </p:nvPr>
        </p:nvSpPr>
        <p:spPr>
          <a:xfrm>
            <a:off x="6715125" y="2857500"/>
            <a:ext cx="2197100" cy="1728788"/>
          </a:xfrm>
          <a:prstGeom prst="rect">
            <a:avLst/>
          </a:prstGeom>
        </p:spPr>
        <p:txBody>
          <a:bodyPr rtlCol="0" wrap="square" lIns="45720" rIns="45720">
            <a:normAutofit fontScale="90000"/>
          </a:bodyPr>
          <a:lstStyle/>
          <a:p>
            <a:pPr eaLnBrk="1" hangingPunct="1" fontAlgn="auto">
              <a:spcAft>
                <a:spcPts val="500"/>
              </a:spcAft>
            </a:pPr>
            <a:r>
              <a:rPr sz="2600" b="1" i="0">
                <a:solidFill>
                  <a:schemeClr val="accent6"/>
                </a:solidFill>
                <a:latin typeface="Arial"/>
              </a:rPr>
              <a:t>China &amp;
Morocco</a:t>
            </a:r>
          </a:p>
        </p:txBody>
      </p:sp>
      <p:graphicFrame>
        <p:nvGraphicFramePr>
          <p:cNvPr id="4" name="Content Placeholder 3"/>
          <p:cNvGraphicFramePr>
            <a:graphicFrameLocks noGrp="1"/>
          </p:cNvGraphicFramePr>
          <p:nvPr>
            <p:ph idx="1"/>
          </p:nvPr>
        </p:nvGraphicFramePr>
        <p:xfrm>
          <a:off x="250825" y="450850"/>
          <a:ext cx="6693407" cy="5413248"/>
        </p:xfrm>
        <a:graphic>
          <a:graphicData uri="http://schemas.openxmlformats.org/drawingml/2006/table">
            <a:tbl>
              <a:tblPr>
                <a:tableStyleId>{5940675A-B579-460E-94D1-54222C63F5DA}</a:tableStyleId>
              </a:tblPr>
              <a:tblGrid>
                <a:gridCol w="1298448"/>
                <a:gridCol w="2615184"/>
                <a:gridCol w="2779776"/>
              </a:tblGrid>
              <a:tr h="475488">
                <a:tc>
                  <a:txBody>
                    <a:bodyPr/>
                    <a:lstStyle/>
                    <a:p>
                      <a:pPr>
                        <a:spcAft>
                          <a:spcPts val="0"/>
                        </a:spcAft>
                      </a:pPr>
                      <a:r>
                        <a:rPr sz="1100" b="1">
                          <a:solidFill>
                            <a:srgbClr val="4B251A"/>
                          </a:solidFill>
                          <a:latin typeface="Arial"/>
                        </a:rPr>
                        <a:t>FEATURE</a:t>
                      </a:r>
                    </a:p>
                  </a:txBody>
                  <a:tcPr marL="64008" marR="54864" marT="36576" marB="27432" anchor="ctr">
                    <a:lnL>
                      <a:noFill/>
                    </a:lnL>
                    <a:lnR>
                      <a:noFill/>
                    </a:lnR>
                    <a:lnT>
                      <a:noFill/>
                    </a:lnT>
                    <a:lnB>
                      <a:noFill/>
                    </a:lnB>
                  </a:tcPr>
                </a:tc>
                <a:tc>
                  <a:txBody>
                    <a:bodyPr/>
                    <a:lstStyle/>
                    <a:p>
                      <a:pPr>
                        <a:spcAft>
                          <a:spcPts val="0"/>
                        </a:spcAft>
                      </a:pPr>
                      <a:r>
                        <a:rPr sz="1100" b="1">
                          <a:solidFill>
                            <a:srgbClr val="4B251A"/>
                          </a:solidFill>
                          <a:latin typeface="Arial"/>
                        </a:rPr>
                        <a:t>CHINA</a:t>
                      </a:r>
                    </a:p>
                  </a:txBody>
                  <a:tcPr marL="64008" marR="54864" marT="36576" marB="27432" anchor="ctr">
                    <a:lnL>
                      <a:noFill/>
                    </a:lnL>
                    <a:lnR>
                      <a:noFill/>
                    </a:lnR>
                    <a:lnT>
                      <a:noFill/>
                    </a:lnT>
                    <a:lnB>
                      <a:noFill/>
                    </a:lnB>
                  </a:tcPr>
                </a:tc>
                <a:tc>
                  <a:txBody>
                    <a:bodyPr/>
                    <a:lstStyle/>
                    <a:p>
                      <a:pPr>
                        <a:spcAft>
                          <a:spcPts val="0"/>
                        </a:spcAft>
                      </a:pPr>
                      <a:r>
                        <a:rPr sz="1100" b="1">
                          <a:solidFill>
                            <a:srgbClr val="4B251A"/>
                          </a:solidFill>
                          <a:latin typeface="Arial"/>
                        </a:rPr>
                        <a:t>MOROCCO</a:t>
                      </a:r>
                    </a:p>
                  </a:txBody>
                  <a:tcPr marL="64008" marR="54864" marT="36576" marB="27432" anchor="ctr">
                    <a:lnL>
                      <a:noFill/>
                    </a:lnL>
                    <a:lnR>
                      <a:noFill/>
                    </a:lnR>
                    <a:lnT>
                      <a:noFill/>
                    </a:lnT>
                    <a:lnB>
                      <a:noFill/>
                    </a:lnB>
                  </a:tcPr>
                </a:tc>
              </a:tr>
              <a:tr h="1024128">
                <a:tc>
                  <a:txBody>
                    <a:bodyPr/>
                    <a:lstStyle/>
                    <a:p>
                      <a:pPr>
                        <a:spcAft>
                          <a:spcPts val="0"/>
                        </a:spcAft>
                      </a:pPr>
                      <a:r>
                        <a:rPr sz="1000" b="1">
                          <a:solidFill>
                            <a:srgbClr val="4B251A"/>
                          </a:solidFill>
                          <a:latin typeface="Arial"/>
                        </a:rPr>
                        <a:t>Silhouette</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Layered robes; crossed collars and waist ties recur in many styles.</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Djellaba outerwear; caftan / takchita for formal occasions.</a:t>
                      </a:r>
                    </a:p>
                  </a:txBody>
                  <a:tcPr marL="64008" marR="54864" marT="36576" marB="27432" anchor="ctr">
                    <a:lnL>
                      <a:noFill/>
                    </a:lnL>
                    <a:lnR>
                      <a:noFill/>
                    </a:lnR>
                    <a:lnT>
                      <a:noFill/>
                    </a:lnT>
                    <a:lnB>
                      <a:noFill/>
                    </a:lnB>
                  </a:tcPr>
                </a:tc>
              </a:tr>
              <a:tr h="932688">
                <a:tc>
                  <a:txBody>
                    <a:bodyPr/>
                    <a:lstStyle/>
                    <a:p>
                      <a:pPr>
                        <a:spcAft>
                          <a:spcPts val="0"/>
                        </a:spcAft>
                      </a:pPr>
                      <a:r>
                        <a:rPr sz="1000" b="1">
                          <a:solidFill>
                            <a:srgbClr val="4B251A"/>
                          </a:solidFill>
                          <a:latin typeface="Arial"/>
                        </a:rPr>
                        <a:t>Materials</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Silk, hemp, and cotton across different periods.</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Wool, cotton, and silk in varied regional uses.</a:t>
                      </a:r>
                    </a:p>
                  </a:txBody>
                  <a:tcPr marL="64008" marR="54864" marT="36576" marB="27432" anchor="ctr">
                    <a:lnL>
                      <a:noFill/>
                    </a:lnL>
                    <a:lnR>
                      <a:noFill/>
                    </a:lnR>
                    <a:lnT>
                      <a:noFill/>
                    </a:lnT>
                    <a:lnB>
                      <a:noFill/>
                    </a:lnB>
                  </a:tcPr>
                </a:tc>
              </a:tr>
              <a:tr h="1024128">
                <a:tc>
                  <a:txBody>
                    <a:bodyPr/>
                    <a:lstStyle/>
                    <a:p>
                      <a:pPr>
                        <a:spcAft>
                          <a:spcPts val="0"/>
                        </a:spcAft>
                      </a:pPr>
                      <a:r>
                        <a:rPr sz="1000" b="1">
                          <a:solidFill>
                            <a:srgbClr val="4B251A"/>
                          </a:solidFill>
                          <a:latin typeface="Arial"/>
                        </a:rPr>
                        <a:t>Color &amp; craft</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Plant dyes, woven patterns, and embroidery.</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Regional palettes, embroidery, and braided sfifa trim.</a:t>
                      </a:r>
                    </a:p>
                  </a:txBody>
                  <a:tcPr marL="64008" marR="54864" marT="36576" marB="27432" anchor="ctr">
                    <a:lnL>
                      <a:noFill/>
                    </a:lnL>
                    <a:lnR>
                      <a:noFill/>
                    </a:lnR>
                    <a:lnT>
                      <a:noFill/>
                    </a:lnT>
                    <a:lnB>
                      <a:noFill/>
                    </a:lnB>
                  </a:tcPr>
                </a:tc>
              </a:tr>
              <a:tr h="932688">
                <a:tc>
                  <a:txBody>
                    <a:bodyPr/>
                    <a:lstStyle/>
                    <a:p>
                      <a:pPr>
                        <a:spcAft>
                          <a:spcPts val="0"/>
                        </a:spcAft>
                      </a:pPr>
                      <a:r>
                        <a:rPr sz="1000" b="1">
                          <a:solidFill>
                            <a:srgbClr val="4B251A"/>
                          </a:solidFill>
                          <a:latin typeface="Arial"/>
                        </a:rPr>
                        <a:t>Meaning</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Can express era, occasion, status, and identity.</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Can express region, occasion, craft, and identity.</a:t>
                      </a:r>
                    </a:p>
                  </a:txBody>
                  <a:tcPr marL="64008" marR="54864" marT="36576" marB="27432" anchor="ctr">
                    <a:lnL>
                      <a:noFill/>
                    </a:lnL>
                    <a:lnR>
                      <a:noFill/>
                    </a:lnR>
                    <a:lnT>
                      <a:noFill/>
                    </a:lnT>
                    <a:lnB>
                      <a:noFill/>
                    </a:lnB>
                  </a:tcPr>
                </a:tc>
              </a:tr>
              <a:tr h="1024128">
                <a:tc>
                  <a:txBody>
                    <a:bodyPr/>
                    <a:lstStyle/>
                    <a:p>
                      <a:pPr>
                        <a:spcAft>
                          <a:spcPts val="0"/>
                        </a:spcAft>
                      </a:pPr>
                      <a:r>
                        <a:rPr sz="1000" b="1">
                          <a:solidFill>
                            <a:srgbClr val="4B251A"/>
                          </a:solidFill>
                          <a:latin typeface="Arial"/>
                        </a:rPr>
                        <a:t>Shared value</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Clothing carries cultural memory and makers’ skill.</a:t>
                      </a:r>
                    </a:p>
                  </a:txBody>
                  <a:tcPr marL="64008" marR="54864" marT="36576" marB="27432" anchor="ctr">
                    <a:lnL>
                      <a:noFill/>
                    </a:lnL>
                    <a:lnR>
                      <a:noFill/>
                    </a:lnR>
                    <a:lnT>
                      <a:noFill/>
                    </a:lnT>
                    <a:lnB>
                      <a:noFill/>
                    </a:lnB>
                  </a:tcPr>
                </a:tc>
                <a:tc>
                  <a:txBody>
                    <a:bodyPr/>
                    <a:lstStyle/>
                    <a:p>
                      <a:pPr>
                        <a:spcAft>
                          <a:spcPts val="0"/>
                        </a:spcAft>
                      </a:pPr>
                      <a:r>
                        <a:rPr sz="1000" b="0">
                          <a:solidFill>
                            <a:srgbClr val="4B251A"/>
                          </a:solidFill>
                          <a:latin typeface="Arial"/>
                        </a:rPr>
                        <a:t>Clothing carries cultural memory and makers’ skill.</a:t>
                      </a:r>
                    </a:p>
                  </a:txBody>
                  <a:tcPr marL="64008" marR="54864" marT="36576" marB="27432" anchor="ctr">
                    <a:lnL>
                      <a:noFill/>
                    </a:lnL>
                    <a:lnR>
                      <a:noFill/>
                    </a:lnR>
                    <a:lnT>
                      <a:noFill/>
                    </a:lnT>
                    <a:lnB>
                      <a:noFill/>
                    </a:lnB>
                  </a:tcPr>
                </a:tc>
              </a:tr>
            </a:tbl>
          </a:graphicData>
        </a:graphic>
      </p:graphicFrame>
      <p:sp>
        <p:nvSpPr>
          <p:cNvPr id="6" name="TextBox 5"/>
          <p:cNvSpPr txBox="1"/>
          <p:nvPr/>
        </p:nvSpPr>
        <p:spPr>
          <a:xfrm>
            <a:off x="7059168" y="4617720"/>
            <a:ext cx="1828800" cy="1207008"/>
          </a:xfrm>
          <a:prstGeom prst="rect">
            <a:avLst/>
          </a:prstGeom>
          <a:noFill/>
        </p:spPr>
        <p:txBody>
          <a:bodyPr wrap="square" lIns="27432" rIns="27432" tIns="18288" bIns="18288">
            <a:spAutoFit/>
          </a:bodyPr>
          <a:lstStyle/>
          <a:p>
            <a:pPr>
              <a:spcAft>
                <a:spcPts val="0"/>
              </a:spcAft>
            </a:pPr>
            <a:r>
              <a:rPr sz="1500" b="0" i="1">
                <a:solidFill>
                  <a:srgbClr val="5B3025"/>
                </a:solidFill>
                <a:latin typeface="Baskerville Old Face"/>
              </a:rPr>
              <a:t>Different histories.
Shared respect for
craft and identity.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71438" y="-142875"/>
            <a:ext cx="4736592" cy="1143000"/>
          </a:xfrm>
          <a:prstGeom prst="rect">
            <a:avLst/>
          </a:prstGeom>
        </p:spPr>
        <p:txBody>
          <a:bodyPr wrap="square" lIns="73152" rIns="73152" tIns="73152" bIns="73152"/>
          <a:lstStyle/>
          <a:p>
            <a:pPr>
              <a:spcAft>
                <a:spcPts val="500"/>
              </a:spcAft>
            </a:pPr>
            <a:r>
              <a:rPr sz="1600" b="1" i="0">
                <a:solidFill>
                  <a:schemeClr val="accent2"/>
                </a:solidFill>
                <a:latin typeface="Arial"/>
              </a:rPr>
              <a:t>China</a:t>
            </a:r>
          </a:p>
          <a:p>
            <a:pPr>
              <a:spcAft>
                <a:spcPts val="500"/>
              </a:spcAft>
            </a:pPr>
            <a:r>
              <a:rPr sz="1300" b="0" i="0">
                <a:solidFill>
                  <a:schemeClr val="accent2"/>
                </a:solidFill>
                <a:latin typeface="Arial"/>
              </a:rPr>
              <a:t>Indigo, safflower, and yellow-producing plants are examples of historic dye sources. Resist and repeated-dip methods create different shades and patterns.</a:t>
            </a:r>
          </a:p>
          <a:p>
            <a:pPr>
              <a:spcAft>
                <a:spcPts val="500"/>
              </a:spcAft>
            </a:pPr>
            <a:r>
              <a:rPr sz="1600" b="1" i="0">
                <a:solidFill>
                  <a:schemeClr val="accent2"/>
                </a:solidFill>
                <a:latin typeface="Arial"/>
              </a:rPr>
              <a:t>Morocco</a:t>
            </a:r>
          </a:p>
          <a:p>
            <a:pPr>
              <a:spcAft>
                <a:spcPts val="500"/>
              </a:spcAft>
            </a:pPr>
            <a:r>
              <a:rPr sz="1300" b="0" i="0">
                <a:solidFill>
                  <a:schemeClr val="accent2"/>
                </a:solidFill>
                <a:latin typeface="Arial"/>
              </a:rPr>
              <a:t>Dye practice varies by region and material. Fez is known for historic leather dyeing; its vats show a related craft, not garment-fabric dyeing.</a:t>
            </a:r>
          </a:p>
          <a:p>
            <a:pPr>
              <a:spcAft>
                <a:spcPts val="500"/>
              </a:spcAft>
            </a:pPr>
            <a:r>
              <a:rPr sz="1300" b="0" i="0">
                <a:solidFill>
                  <a:schemeClr val="accent2"/>
                </a:solidFill>
                <a:latin typeface="Arial"/>
              </a:rPr>
              <a:t>In both places, color depends on preparation, the dye bath, rinsing, and careful finishing.</a:t>
            </a:r>
          </a:p>
        </p:txBody>
      </p:sp>
      <p:sp>
        <p:nvSpPr>
          <p:cNvPr id="34820" name="Content Placeholder 2"/>
          <p:cNvSpPr>
            <a:spLocks noGrp="1"/>
          </p:cNvSpPr>
          <p:nvPr>
            <p:ph idx="1"/>
          </p:nvPr>
        </p:nvSpPr>
        <p:spPr>
          <a:xfrm>
            <a:off x="457200" y="785813"/>
            <a:ext cx="5329238" cy="4525962"/>
          </a:xfrm>
          <a:prstGeom prst="rect">
            <a:avLst/>
          </a:prstGeom>
        </p:spPr>
        <p:txBody>
          <a:bodyPr/>
          <a:lstStyle/>
          <a:p>
            <a:r>
              <a:rPr lang="en-US" sz="1800"/>
              <a:t>Chinese favoured beautiful, petite women with pale skin, bright eyes and white teeth.</a:t>
            </a:r>
          </a:p>
          <a:p>
            <a:r>
              <a:rPr lang="en-US" sz="1800"/>
              <a:t>The typical look was bushy, sprawling eye brows, long slanted eyes, </a:t>
            </a:r>
            <a:r>
              <a:rPr lang="en-US" sz="1800">
                <a:solidFill>
                  <a:srgbClr val="FFC000"/>
                </a:solidFill>
              </a:rPr>
              <a:t>thick pouting lips</a:t>
            </a:r>
            <a:r>
              <a:rPr lang="en-US" sz="1800"/>
              <a:t>, an expansive coating of rouge on the cheeks and </a:t>
            </a:r>
            <a:r>
              <a:rPr lang="en-US" sz="1800">
                <a:solidFill>
                  <a:srgbClr val="FFC000"/>
                </a:solidFill>
              </a:rPr>
              <a:t>dainty flowers </a:t>
            </a:r>
            <a:r>
              <a:rPr lang="en-US" sz="1800"/>
              <a:t>painted on the forehead.</a:t>
            </a:r>
          </a:p>
          <a:p>
            <a:r>
              <a:rPr lang="en-US" sz="1800"/>
              <a:t>Tang Dynasty there were seven steps to applying cosmetics. First they applied the powder base then they applied colour to their face, eyebrow darkening came next, then they applied 'forehead gold' or 'floral gold', then they painted the dimples, decorated the cheeks and, lastly, applied lip colour. </a:t>
            </a:r>
          </a:p>
          <a:p>
            <a:r>
              <a:rPr lang="en-US" sz="1800"/>
              <a:t>The Ancient Chinese began to stain their nails with </a:t>
            </a:r>
            <a:r>
              <a:rPr lang="en-US" sz="1800">
                <a:solidFill>
                  <a:srgbClr val="FFC000"/>
                </a:solidFill>
              </a:rPr>
              <a:t>gum, gelatin, beeswax and egg. </a:t>
            </a:r>
            <a:r>
              <a:rPr lang="en-US" sz="1800"/>
              <a:t>This was an early form of nail polish. </a:t>
            </a:r>
          </a:p>
          <a:p>
            <a:r>
              <a:rPr lang="en-US" sz="1800"/>
              <a:t>Lower class were forbidden to colour their nails with bright colours.</a:t>
            </a:r>
          </a:p>
          <a:p>
            <a:r>
              <a:rPr lang="en-US" sz="1800"/>
              <a:t>Women used </a:t>
            </a:r>
            <a:r>
              <a:rPr lang="en-US" sz="1800">
                <a:solidFill>
                  <a:srgbClr val="FFC000"/>
                </a:solidFill>
              </a:rPr>
              <a:t>rice powder </a:t>
            </a:r>
            <a:r>
              <a:rPr lang="en-US" sz="1800"/>
              <a:t>to make their </a:t>
            </a:r>
            <a:r>
              <a:rPr lang="en-US" sz="1800">
                <a:solidFill>
                  <a:srgbClr val="FFC000"/>
                </a:solidFill>
              </a:rPr>
              <a:t>faces white and Henna dyes</a:t>
            </a:r>
            <a:r>
              <a:rPr lang="en-US" sz="1800"/>
              <a:t> to stain their hair.</a:t>
            </a:r>
          </a:p>
        </p:txBody>
      </p:sp>
      <p:pic>
        <p:nvPicPr>
          <p:cNvPr id="34821" name="Picture 34820" descr="wikimedia-commons-traditional-moroccan-d-2.jpg"/>
          <p:cNvPicPr>
            <a:picLocks noChangeAspect="1"/>
          </p:cNvPicPr>
          <p:nvPr/>
        </p:nvPicPr>
        <p:blipFill>
          <a:blip r:embed="rId4"/>
          <a:srcRect l="8678" r="8678"/>
          <a:stretch>
            <a:fillRect/>
          </a:stretch>
        </p:blipFill>
        <p:spPr>
          <a:xfrm>
            <a:off x="5334000" y="214313"/>
            <a:ext cx="3810000" cy="3457575"/>
          </a:xfrm>
          <a:prstGeom prst="rect">
            <a:avLst/>
          </a:prstGeom>
        </p:spPr>
      </p:pic>
      <p:pic>
        <p:nvPicPr>
          <p:cNvPr id="34822" name="Picture 34821" descr="image.jpeg"/>
          <p:cNvPicPr>
            <a:picLocks noChangeAspect="1"/>
          </p:cNvPicPr>
          <p:nvPr/>
        </p:nvPicPr>
        <p:blipFill>
          <a:blip r:embed="rId5"/>
          <a:srcRect l="20697" r="20697"/>
          <a:stretch>
            <a:fillRect/>
          </a:stretch>
        </p:blipFill>
        <p:spPr>
          <a:xfrm>
            <a:off x="6215063" y="3629025"/>
            <a:ext cx="2571750" cy="3228975"/>
          </a:xfrm>
          <a:prstGeom prst="rect">
            <a:avLst/>
          </a:prstGeom>
        </p:spPr>
      </p:pic>
      <p:sp>
        <p:nvSpPr>
          <p:cNvPr id="34823" name="TextBox 34822"/>
          <p:cNvSpPr txBox="1"/>
          <p:nvPr/>
        </p:nvSpPr>
        <p:spPr>
          <a:xfrm>
            <a:off x="502920" y="6364224"/>
            <a:ext cx="4754880" cy="228600"/>
          </a:xfrm>
          <a:prstGeom prst="rect">
            <a:avLst/>
          </a:prstGeom>
          <a:noFill/>
        </p:spPr>
        <p:txBody>
          <a:bodyPr wrap="square" lIns="27432" rIns="27432" tIns="18288" bIns="18288">
            <a:spAutoFit/>
          </a:bodyPr>
          <a:lstStyle/>
          <a:p>
            <a:pPr>
              <a:spcAft>
                <a:spcPts val="0"/>
              </a:spcAft>
            </a:pPr>
            <a:r>
              <a:rPr sz="700" b="0" i="1">
                <a:solidFill>
                  <a:srgbClr val="51463B"/>
                </a:solidFill>
                <a:latin typeface="Arial"/>
              </a:rPr>
              <a:t>Fez tannery image: Marrakeche.com. Lower textile image reused from the original presentation.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2"/>
          <p:cNvSpPr>
            <a:spLocks noGrp="1"/>
          </p:cNvSpPr>
          <p:nvPr>
            <p:ph idx="1"/>
          </p:nvPr>
        </p:nvSpPr>
        <p:spPr>
          <a:xfrm>
            <a:off x="3500438" y="214313"/>
            <a:ext cx="4186237" cy="2714625"/>
          </a:xfrm>
          <a:prstGeom prst="rect">
            <a:avLst/>
          </a:prstGeom>
        </p:spPr>
        <p:txBody>
          <a:bodyPr/>
          <a:lstStyle/>
          <a:p>
            <a:r>
              <a:rPr lang="en-US" sz="1600"/>
              <a:t>Tang Dynasty women scraped off their eyebrows and drew them on instead using dai, a black pigment.</a:t>
            </a:r>
          </a:p>
          <a:p>
            <a:r>
              <a:rPr lang="en-US" sz="1600"/>
              <a:t>Women glued gold, silver, jewel and jade flakes to the forehead, around the eyes and cheeks. Materials used to stick to the cheeks were extensive including dragon fly wings, bird feathers and fish scales</a:t>
            </a:r>
          </a:p>
          <a:p>
            <a:r>
              <a:rPr lang="en-US" sz="1600"/>
              <a:t> In Ancient China lip gloss was made of vermillion minerals and animal grease. Ancient Chinese liked cherry-like small lips. </a:t>
            </a:r>
          </a:p>
        </p:txBody>
      </p:sp>
      <p:pic>
        <p:nvPicPr>
          <p:cNvPr id="35843" name="Picture 2" descr="C:\Users\ajay pc\Desktop\5303431.jpg"/>
          <p:cNvPicPr>
            <a:picLocks noChangeAspect="1"/>
          </p:cNvPicPr>
          <p:nvPr/>
        </p:nvPicPr>
        <p:blipFill rotWithShape="1">
          <a:blip r:embed="rId2"/>
          <a:stretch>
            <a:fillRect/>
          </a:stretch>
        </p:blipFill>
        <p:spPr>
          <a:xfrm>
            <a:off x="7643813" y="0"/>
            <a:ext cx="1500187" cy="3551238"/>
          </a:xfrm>
          <a:prstGeom prst="rect">
            <a:avLst/>
          </a:prstGeom>
          <a:noFill/>
          <a:ln>
            <a:noFill/>
          </a:ln>
        </p:spPr>
      </p:pic>
      <p:pic>
        <p:nvPicPr>
          <p:cNvPr id="35844" name="Picture 3" descr="C:\Users\ajay pc\Desktop\4bf9927ee0851d633836f3ed7ca74ade.jpg"/>
          <p:cNvPicPr>
            <a:picLocks noChangeAspect="1"/>
          </p:cNvPicPr>
          <p:nvPr/>
        </p:nvPicPr>
        <p:blipFill rotWithShape="1">
          <a:blip r:embed="rId3"/>
          <a:stretch>
            <a:fillRect/>
          </a:stretch>
        </p:blipFill>
        <p:spPr>
          <a:xfrm>
            <a:off x="5857875" y="3571875"/>
            <a:ext cx="3286125" cy="3286125"/>
          </a:xfrm>
          <a:prstGeom prst="rect">
            <a:avLst/>
          </a:prstGeom>
          <a:noFill/>
          <a:ln>
            <a:noFill/>
          </a:ln>
        </p:spPr>
      </p:pic>
      <p:pic>
        <p:nvPicPr>
          <p:cNvPr id="35845" name="Picture 4" descr="C:\Users\ajay pc\Desktop\95fdfd4ec21e4c255b565a3371751d0e.jpg"/>
          <p:cNvPicPr>
            <a:picLocks noChangeAspect="1"/>
          </p:cNvPicPr>
          <p:nvPr/>
        </p:nvPicPr>
        <p:blipFill rotWithShape="1">
          <a:blip r:embed="rId4"/>
          <a:stretch>
            <a:fillRect/>
          </a:stretch>
        </p:blipFill>
        <p:spPr>
          <a:xfrm>
            <a:off x="3057525" y="3500438"/>
            <a:ext cx="3074988" cy="3357562"/>
          </a:xfrm>
          <a:prstGeom prst="rect">
            <a:avLst/>
          </a:prstGeom>
          <a:noFill/>
          <a:ln>
            <a:noFill/>
          </a:ln>
        </p:spPr>
      </p:pic>
      <p:pic>
        <p:nvPicPr>
          <p:cNvPr id="35846" name="Picture 5" descr="C:\Users\ajay pc\Desktop\f9891bb2e1baca26b1aeddfb73d39573.jpg"/>
          <p:cNvPicPr>
            <a:picLocks noChangeAspect="1"/>
          </p:cNvPicPr>
          <p:nvPr/>
        </p:nvPicPr>
        <p:blipFill rotWithShape="1">
          <a:blip r:embed="rId5"/>
          <a:stretch>
            <a:fillRect/>
          </a:stretch>
        </p:blipFill>
        <p:spPr>
          <a:xfrm>
            <a:off x="0" y="0"/>
            <a:ext cx="3429000" cy="6858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chemeClr val="tx1">
              <a:lumMod val="75000"/>
              <a:lumOff val="25000"/>
            </a:schemeClr>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endParaRPr lang="en-US"/>
          </a:p>
        </p:txBody>
      </p:sp>
      <p:sp>
        <p:nvSpPr>
          <p:cNvPr id="31746" name="Title 1"/>
          <p:cNvSpPr>
            <a:spLocks noGrp="1"/>
          </p:cNvSpPr>
          <p:nvPr>
            <p:ph type="title"/>
          </p:nvPr>
        </p:nvSpPr>
        <p:spPr/>
        <p:txBody>
          <a:bodyPr/>
          <a:lstStyle/>
          <a:p>
            <a:pPr eaLnBrk="1" hangingPunct="1"/>
            <a:r>
              <a:rPr lang="en-US">
                <a:solidFill>
                  <a:schemeClr val="bg1">
                    <a:lumMod val="85000"/>
                  </a:schemeClr>
                </a:solidFill>
              </a:rPr>
              <a:t>Foot wear</a:t>
            </a:r>
          </a:p>
        </p:txBody>
      </p:sp>
      <p:sp>
        <p:nvSpPr>
          <p:cNvPr id="3" name="Content Placeholder 2"/>
          <p:cNvSpPr>
            <a:spLocks noGrp="1"/>
          </p:cNvSpPr>
          <p:nvPr>
            <p:ph idx="1"/>
          </p:nvPr>
        </p:nvSpPr>
        <p:spPr>
          <a:xfrm>
            <a:off x="428625" y="1571625"/>
            <a:ext cx="8229600" cy="4525963"/>
          </a:xfrm>
          <a:prstGeom prst="rect">
            <a:avLst/>
          </a:prstGeom>
        </p:spPr>
        <p:txBody>
          <a:bodyPr/>
          <a:lstStyle/>
          <a:p>
            <a:pPr marL="274320" indent="-274320" eaLnBrk="1" hangingPunct="1" fontAlgn="auto">
              <a:spcAft>
                <a:spcPts val="0"/>
              </a:spcAft>
              <a:buClr>
                <a:schemeClr val="accent1">
                  <a:lumMod val="60000"/>
                  <a:lumOff val="40000"/>
                </a:schemeClr>
              </a:buClr>
            </a:pPr>
            <a:endParaRPr lang="en-IN" sz="1800">
              <a:solidFill>
                <a:schemeClr val="bg1">
                  <a:lumMod val="85000"/>
                </a:schemeClr>
              </a:solidFill>
              <a:latin typeface="Arial"/>
              <a:cs typeface="Arial"/>
            </a:endParaRPr>
          </a:p>
          <a:p>
            <a:pPr marL="274320" indent="-274320" eaLnBrk="1" hangingPunct="1" fontAlgn="auto">
              <a:spcAft>
                <a:spcPts val="0"/>
              </a:spcAft>
              <a:buClr>
                <a:schemeClr val="accent1">
                  <a:lumMod val="60000"/>
                  <a:lumOff val="40000"/>
                </a:schemeClr>
              </a:buClr>
            </a:pPr>
            <a:r>
              <a:rPr lang="en-IN" sz="1800">
                <a:solidFill>
                  <a:schemeClr val="bg1">
                    <a:lumMod val="85000"/>
                  </a:schemeClr>
                </a:solidFill>
                <a:latin typeface="Arial"/>
                <a:cs typeface="Arial"/>
              </a:rPr>
              <a:t>Most Chinese men wore Chinese black cotton shoes, but wealthy higher class people would wear tough black leather shoes for formal occasions. </a:t>
            </a:r>
          </a:p>
          <a:p>
            <a:pPr marL="274320" indent="-274320" eaLnBrk="1" hangingPunct="1" fontAlgn="auto">
              <a:spcAft>
                <a:spcPts val="0"/>
              </a:spcAft>
              <a:buClr>
                <a:schemeClr val="accent1">
                  <a:lumMod val="60000"/>
                  <a:lumOff val="40000"/>
                </a:schemeClr>
              </a:buClr>
            </a:pPr>
            <a:endParaRPr lang="en-IN" sz="1800">
              <a:solidFill>
                <a:schemeClr val="bg1">
                  <a:lumMod val="85000"/>
                </a:schemeClr>
              </a:solidFill>
              <a:latin typeface="Arial"/>
              <a:cs typeface="Arial"/>
            </a:endParaRPr>
          </a:p>
          <a:p>
            <a:pPr marL="274320" indent="-274320" eaLnBrk="1" hangingPunct="1" fontAlgn="auto">
              <a:spcAft>
                <a:spcPts val="0"/>
              </a:spcAft>
              <a:buClr>
                <a:schemeClr val="accent1">
                  <a:lumMod val="60000"/>
                  <a:lumOff val="40000"/>
                </a:schemeClr>
              </a:buClr>
            </a:pPr>
            <a:r>
              <a:rPr lang="en-IN" sz="1800">
                <a:solidFill>
                  <a:schemeClr val="bg1">
                    <a:lumMod val="85000"/>
                  </a:schemeClr>
                </a:solidFill>
                <a:latin typeface="Arial"/>
                <a:cs typeface="Arial"/>
              </a:rPr>
              <a:t>Very rich and wealthy men would wear very bright, beautiful silk shoes sometimes having leather on the inside.</a:t>
            </a:r>
          </a:p>
          <a:p>
            <a:pPr eaLnBrk="1" hangingPunct="1"/>
            <a:endParaRPr lang="en-US" sz="1800">
              <a:solidFill>
                <a:schemeClr val="bg1">
                  <a:lumMod val="85000"/>
                </a:schemeClr>
              </a:solidFill>
            </a:endParaRPr>
          </a:p>
        </p:txBody>
      </p:sp>
      <p:pic>
        <p:nvPicPr>
          <p:cNvPr id="36869" name="Picture 4" descr="C:\Users\ajay pc\Desktop\images.jpg"/>
          <p:cNvPicPr>
            <a:picLocks noChangeAspect="1"/>
          </p:cNvPicPr>
          <p:nvPr/>
        </p:nvPicPr>
        <p:blipFill rotWithShape="1">
          <a:blip r:embed="rId2"/>
          <a:srcRect l="11583" t="7692" r="7335" b="0"/>
          <a:stretch>
            <a:fillRect/>
          </a:stretch>
        </p:blipFill>
        <p:spPr>
          <a:xfrm>
            <a:off x="368300" y="3786188"/>
            <a:ext cx="2417763" cy="2071687"/>
          </a:xfrm>
          <a:prstGeom prst="rect">
            <a:avLst/>
          </a:prstGeom>
          <a:noFill/>
          <a:ln>
            <a:noFill/>
          </a:ln>
        </p:spPr>
      </p:pic>
      <p:pic>
        <p:nvPicPr>
          <p:cNvPr id="36870" name="Picture 5" descr="C:\Users\ajay pc\Desktop\MSH1002_200.jpg"/>
          <p:cNvPicPr>
            <a:picLocks noChangeAspect="1"/>
          </p:cNvPicPr>
          <p:nvPr/>
        </p:nvPicPr>
        <p:blipFill rotWithShape="1">
          <a:blip r:embed="rId3"/>
          <a:srcRect l="0" t="18333" r="2499" b="20000"/>
          <a:stretch>
            <a:fillRect/>
          </a:stretch>
        </p:blipFill>
        <p:spPr>
          <a:xfrm>
            <a:off x="3316288" y="3786188"/>
            <a:ext cx="2184400" cy="2071687"/>
          </a:xfrm>
          <a:prstGeom prst="rect">
            <a:avLst/>
          </a:prstGeom>
          <a:noFill/>
          <a:ln>
            <a:noFill/>
          </a:ln>
        </p:spPr>
      </p:pic>
      <p:pic>
        <p:nvPicPr>
          <p:cNvPr id="36871" name="Picture 7" descr="C:\Users\ajay pc\Desktop\0013729e44e10a467b343c.bmp"/>
          <p:cNvPicPr>
            <a:picLocks noChangeAspect="1"/>
          </p:cNvPicPr>
          <p:nvPr/>
        </p:nvPicPr>
        <p:blipFill rotWithShape="1">
          <a:blip r:embed="rId4"/>
          <a:srcRect l="9999" t="15050" r="6667" b="4681"/>
          <a:stretch>
            <a:fillRect/>
          </a:stretch>
        </p:blipFill>
        <p:spPr>
          <a:xfrm>
            <a:off x="6357938" y="3786188"/>
            <a:ext cx="1643062" cy="210343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solidFill>
            <a:schemeClr val="phClr">
              <a:shade val="95000"/>
              <a:satMod val="105000"/>
            </a:schemeClr>
          </a:solidFill>
          <a:prstDash val="solid"/>
        </a:ln>
        <a:ln w="25400" cap="flat" cmpd="sng">
          <a:solidFill>
            <a:schemeClr val="phClr"/>
          </a:solidFill>
          <a:prstDash val="solid"/>
        </a:ln>
        <a:ln w="38100" cap="flat" cmpd="sng">
          <a:solidFill>
            <a:schemeClr val="phClr"/>
          </a:solidFill>
          <a:prstDash val="solid"/>
        </a:ln>
      </a:lnStyleLst>
      <a:effectStyleLst>
        <a:effectStyle>
          <a:effectLst>
            <a:outerShdw blurRad="40000" dist="20000" dir="5400000" algn="b" rotWithShape="0">
              <a:srgbClr val="000000">
                <a:alpha val="38000"/>
              </a:srgbClr>
            </a:outerShdw>
          </a:effectLst>
        </a:effectStyle>
        <a:effectStyle>
          <a:effectLst>
            <a:outerShdw blurRad="40000" dist="23000" dir="5400000" algn="b" rotWithShape="0">
              <a:srgbClr val="000000">
                <a:alpha val="35000"/>
              </a:srgbClr>
            </a:outerShdw>
          </a:effectLst>
        </a:effectStyle>
        <a:effectStyle>
          <a:effectLst>
            <a:outerShdw blurRad="40000" dist="23000" dir="5400000" algn="b" rotWithShape="0">
              <a:srgbClr val="000000">
                <a:alpha val="35000"/>
              </a:srgbClr>
            </a:outerShdw>
          </a:effectLst>
          <a:scene3d xmlns:a="http://schemas.openxmlformats.org/drawingml/2006/main">
            <a:camera prst="orthographicFront">
              <a:rot lat="0" lon="0" rev="0"/>
            </a:camera>
            <a:lightRig rig="threePt" dir="t">
              <a:rot lat="0" lon="0" rev="1200000"/>
            </a:lightRig>
          </a:scene3d>
          <a:sp3d xmlns:a="http://schemas.openxmlformats.org/drawingml/2006/main">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xmlns:a="http://schemas.openxmlformats.org/drawingml/2006/main"/>
  <a:extraClrSchemeLst xmlns:a="http://schemas.openxmlformats.org/drawingml/2006/main"/>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DeckCraft</Application>
  <Slides>35</Slides>
  <Notes>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Traditional Costumes and Dyeing: China and Morocco</dc:title>
  <dc:creator>Akash</dc:creator>
  <cp:lastModifiedBy>haytam kharbouch</cp:lastModifiedBy>
  <cp:revision>128</cp:revision>
  <dcterms:created xsi:type="dcterms:W3CDTF">2013-10-23T00:33:38Z</dcterms:created>
  <dcterms:modified xsi:type="dcterms:W3CDTF">2026-10-16T16:13:04Z</dcterms:modified>
  <dc:subject>Chinese elective course report; six-minute comparison</dc:subject>
</cp:coreProperties>
</file>