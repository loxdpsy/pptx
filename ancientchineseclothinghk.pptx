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Hello. This presentation is about traditional costumes and dyeing in China and Morocco. I will look at the materials, shapes, and colors that make clothing meaningful, then compare what the two traditions share and how they differ. The goal is not to treat either country as having one fixed style, but to notice how clothing changes with time, place, and purpose.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helpful way to read a garment is to ask four questions. What is it made from? How is it cut and worn? Where does its color come from? What do its patterns or details communicate? These clues connect everyday choices with history, technology, identity, and skilled work. They also give us a fair structure for comparing Chinese and Moroccan clothing without assuming that every garment tells the same story.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Chinese clothing includes many historical forms. Hanfu is a broad term used for a family of traditional styles, not one exact outfit worn identically in every dynasty. Many garments use layers, overlapping collars, and ties or sashes, though designs vary. Silk is especially associated with Chinese textile history, while hemp and cotton also mattered. A sleeve, pattern, accessory, or fabric could help show occasion, identity, or rank, depending on the period and wearer.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Dyeing links natural materials to color. In China, examples of historic dye sources include indigo for blue, safflower for reds and pinks, and plants such as gardenia for yellows. In Morocco and the wider region, indigo, madder, henna, saffron, and other local sources have all contributed to color traditions. Dye recipes differed from place to place. A dyer prepared the fiber, applied color, and might use a mordant to help it bind. Repeated dipping, rinsing, and drying could build depth. Today, many textiles use synthetic dyes, so we should distinguish older practices from modern production.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quick timeline shows how Chinese costume changed. Tang clothing is often associated with vivid color, movement, and the cosmopolitan character of the period. Song styles are sometimes described through ideals of restraint, graceful lines, and harmony. Ming clothing could feature structured layers and richly patterned textiles, especially in formal contexts. These are broad visual tendencies, not rules that apply to everyone. Fashion depends on status, region, gender, occasion, and what materials were available.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Moroccan clothing is also varied by region and occasion. A djellaba is a long outer garment often recognized by its hood. Caftans and takchitas are associated with formal dress and can involve layers, belts, embroidery, and braided sfifa trim. These details call attention to the maker's skill. Traditional palettes and materials vary, and we should not assume that every Moroccan garment uses the same dyes or decoration. The photographs here are examples, not a complete picture of Moroccan dress.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Comparing the traditions, we can see different silhouettes and histories. Many Chinese historical outfits use wrapped or overlapping robes and waist ties; Moroccan examples include hooded djellabas and formal caftans or takchitas. Textile choices and dye methods also vary within both countries. The shared point is that clothing can express identity, occasion, rank, memory, and craft. In both contexts, the garment is not simply decoration: it carries the work of skilled makers and the values of communities. A good comparison makes room for similarities without erasing differences.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conclude, costume and dyeing are a kind of cultural record. Color depends on materials and knowledge; garment shapes respond to history and use; and details preserve skill and identity. China and Morocco developed distinct styles, but both show how clothing can connect people to place and tradition. When we value a garment, we also value the people and knowledge woven into it. Thank you.</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jp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image" Target="../media/image4.jp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202A36"/>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B947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720840" y="512064"/>
            <a:ext cx="4983480" cy="5833872"/>
          </a:xfrm>
          <a:prstGeom prst="rect">
            <a:avLst/>
          </a:prstGeom>
          <a:solidFill>
            <a:srgbClr val="D8A6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image45.jpeg"/>
          <p:cNvPicPr>
            <a:picLocks noChangeAspect="1"/>
          </p:cNvPicPr>
          <p:nvPr/>
        </p:nvPicPr>
        <p:blipFill>
          <a:blip r:embed="rId2"/>
          <a:srcRect l="22096" r="22095"/>
          <a:stretch>
            <a:fillRect/>
          </a:stretch>
        </p:blipFill>
        <p:spPr>
          <a:xfrm>
            <a:off x="6839712" y="621792"/>
            <a:ext cx="2350008" cy="5614416"/>
          </a:xfrm>
          <a:prstGeom prst="rect">
            <a:avLst/>
          </a:prstGeom>
        </p:spPr>
      </p:pic>
      <p:pic>
        <p:nvPicPr>
          <p:cNvPr id="5" name="Picture 4" descr="site-commons-wikimedia-org-moroccan-caft-1.jpg"/>
          <p:cNvPicPr>
            <a:picLocks noChangeAspect="1"/>
          </p:cNvPicPr>
          <p:nvPr/>
        </p:nvPicPr>
        <p:blipFill>
          <a:blip r:embed="rId3"/>
          <a:srcRect l="17590" r="17589"/>
          <a:stretch>
            <a:fillRect/>
          </a:stretch>
        </p:blipFill>
        <p:spPr>
          <a:xfrm>
            <a:off x="9253728" y="621792"/>
            <a:ext cx="2286000" cy="5614416"/>
          </a:xfrm>
          <a:prstGeom prst="rect">
            <a:avLst/>
          </a:prstGeom>
        </p:spPr>
      </p:pic>
      <p:sp>
        <p:nvSpPr>
          <p:cNvPr id="6" name="Rounded Rectangle 5"/>
          <p:cNvSpPr/>
          <p:nvPr/>
        </p:nvSpPr>
        <p:spPr>
          <a:xfrm>
            <a:off x="6949440" y="6309360"/>
            <a:ext cx="1325880" cy="292608"/>
          </a:xfrm>
          <a:prstGeom prst="roundRect">
            <a:avLst>
              <a:gd name="adj" fmla="val 12000"/>
            </a:avLst>
          </a:prstGeom>
          <a:solidFill>
            <a:srgbClr val="243B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022592" y="6345936"/>
            <a:ext cx="1179576" cy="173736"/>
          </a:xfrm>
          <a:prstGeom prst="rect">
            <a:avLst/>
          </a:prstGeom>
          <a:noFill/>
        </p:spPr>
        <p:txBody>
          <a:bodyPr wrap="square" lIns="27432" rIns="27432" tIns="27432" bIns="27432" anchor="ctr">
            <a:spAutoFit/>
          </a:bodyPr>
          <a:lstStyle/>
          <a:p>
            <a:pPr algn="ctr"/>
            <a:r>
              <a:rPr sz="1000" b="1" i="0">
                <a:solidFill>
                  <a:srgbClr val="FFFFFF"/>
                </a:solidFill>
                <a:latin typeface="Aptos"/>
              </a:rPr>
              <a:t>CHINA</a:t>
            </a:r>
          </a:p>
        </p:txBody>
      </p:sp>
      <p:sp>
        <p:nvSpPr>
          <p:cNvPr id="8" name="Rounded Rectangle 7"/>
          <p:cNvSpPr/>
          <p:nvPr/>
        </p:nvSpPr>
        <p:spPr>
          <a:xfrm>
            <a:off x="9628632" y="6309360"/>
            <a:ext cx="1508760" cy="292608"/>
          </a:xfrm>
          <a:prstGeom prst="roundRect">
            <a:avLst>
              <a:gd name="adj" fmla="val 12000"/>
            </a:avLst>
          </a:prstGeom>
          <a:solidFill>
            <a:srgbClr val="B947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701784" y="6345936"/>
            <a:ext cx="1362456" cy="173736"/>
          </a:xfrm>
          <a:prstGeom prst="rect">
            <a:avLst/>
          </a:prstGeom>
          <a:noFill/>
        </p:spPr>
        <p:txBody>
          <a:bodyPr wrap="square" lIns="27432" rIns="27432" tIns="27432" bIns="27432" anchor="ctr">
            <a:spAutoFit/>
          </a:bodyPr>
          <a:lstStyle/>
          <a:p>
            <a:pPr algn="ctr"/>
            <a:r>
              <a:rPr sz="1000" b="1" i="0">
                <a:solidFill>
                  <a:srgbClr val="FFFFFF"/>
                </a:solidFill>
                <a:latin typeface="Aptos"/>
              </a:rPr>
              <a:t>MOROCCO</a:t>
            </a:r>
          </a:p>
        </p:txBody>
      </p:sp>
      <p:sp>
        <p:nvSpPr>
          <p:cNvPr id="10" name="TextBox 9"/>
          <p:cNvSpPr txBox="1"/>
          <p:nvPr/>
        </p:nvSpPr>
        <p:spPr>
          <a:xfrm>
            <a:off x="658368" y="1042415"/>
            <a:ext cx="5669280" cy="1417320"/>
          </a:xfrm>
          <a:prstGeom prst="rect">
            <a:avLst/>
          </a:prstGeom>
          <a:noFill/>
        </p:spPr>
        <p:txBody>
          <a:bodyPr wrap="square" lIns="27432" rIns="27432" tIns="27432" bIns="27432" anchor="t">
            <a:spAutoFit/>
          </a:bodyPr>
          <a:lstStyle/>
          <a:p>
            <a:pPr algn="l"/>
            <a:r>
              <a:rPr sz="3400" b="1" i="0">
                <a:solidFill>
                  <a:srgbClr val="FFFFFF"/>
                </a:solidFill>
                <a:latin typeface="Georgia"/>
              </a:rPr>
              <a:t>TRADITIONAL COSTUMES
&amp; DYEING</a:t>
            </a:r>
          </a:p>
        </p:txBody>
      </p:sp>
      <p:sp>
        <p:nvSpPr>
          <p:cNvPr id="11" name="Rectangle 10"/>
          <p:cNvSpPr/>
          <p:nvPr/>
        </p:nvSpPr>
        <p:spPr>
          <a:xfrm>
            <a:off x="676656" y="2770632"/>
            <a:ext cx="960120" cy="64008"/>
          </a:xfrm>
          <a:prstGeom prst="rect">
            <a:avLst/>
          </a:prstGeom>
          <a:solidFill>
            <a:srgbClr val="D8A6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8368" y="3017520"/>
            <a:ext cx="5303520" cy="502920"/>
          </a:xfrm>
          <a:prstGeom prst="rect">
            <a:avLst/>
          </a:prstGeom>
          <a:noFill/>
        </p:spPr>
        <p:txBody>
          <a:bodyPr wrap="square" lIns="27432" rIns="27432" tIns="27432" bIns="27432" anchor="t">
            <a:spAutoFit/>
          </a:bodyPr>
          <a:lstStyle/>
          <a:p>
            <a:pPr algn="l"/>
            <a:r>
              <a:rPr sz="2200" b="0" i="1">
                <a:solidFill>
                  <a:srgbClr val="E8C879"/>
                </a:solidFill>
                <a:latin typeface="Georgia"/>
              </a:rPr>
              <a:t>Threads across time</a:t>
            </a:r>
          </a:p>
        </p:txBody>
      </p:sp>
      <p:sp>
        <p:nvSpPr>
          <p:cNvPr id="13" name="TextBox 12"/>
          <p:cNvSpPr txBox="1"/>
          <p:nvPr/>
        </p:nvSpPr>
        <p:spPr>
          <a:xfrm>
            <a:off x="685800" y="3675887"/>
            <a:ext cx="5440680" cy="640080"/>
          </a:xfrm>
          <a:prstGeom prst="rect">
            <a:avLst/>
          </a:prstGeom>
          <a:noFill/>
        </p:spPr>
        <p:txBody>
          <a:bodyPr wrap="square" lIns="27432" rIns="27432" tIns="27432" bIns="27432" anchor="t">
            <a:spAutoFit/>
          </a:bodyPr>
          <a:lstStyle/>
          <a:p>
            <a:pPr algn="l"/>
            <a:r>
              <a:rPr sz="1900" b="0" i="0">
                <a:solidFill>
                  <a:srgbClr val="F4EEE4"/>
                </a:solidFill>
                <a:latin typeface="Aptos"/>
              </a:rPr>
              <a:t>A comparative look at China and Morocco</a:t>
            </a:r>
          </a:p>
        </p:txBody>
      </p:sp>
      <p:sp>
        <p:nvSpPr>
          <p:cNvPr id="14" name="TextBox 13"/>
          <p:cNvSpPr txBox="1"/>
          <p:nvPr/>
        </p:nvSpPr>
        <p:spPr>
          <a:xfrm>
            <a:off x="694944" y="5120640"/>
            <a:ext cx="5394960" cy="228600"/>
          </a:xfrm>
          <a:prstGeom prst="rect">
            <a:avLst/>
          </a:prstGeom>
          <a:noFill/>
        </p:spPr>
        <p:txBody>
          <a:bodyPr wrap="square" lIns="27432" rIns="27432" tIns="27432" bIns="27432" anchor="t">
            <a:spAutoFit/>
          </a:bodyPr>
          <a:lstStyle/>
          <a:p>
            <a:pPr algn="l"/>
            <a:r>
              <a:rPr sz="1100" b="1" i="0">
                <a:solidFill>
                  <a:srgbClr val="D6DCE2"/>
                </a:solidFill>
                <a:latin typeface="Aptos"/>
              </a:rPr>
              <a:t>CHINESE ELECTIVE  •  COURSE REPORT</a:t>
            </a:r>
          </a:p>
        </p:txBody>
      </p:sp>
      <p:sp>
        <p:nvSpPr>
          <p:cNvPr id="15" name="TextBox 14"/>
          <p:cNvSpPr txBox="1"/>
          <p:nvPr/>
        </p:nvSpPr>
        <p:spPr>
          <a:xfrm>
            <a:off x="694944" y="5468112"/>
            <a:ext cx="5120640" cy="274320"/>
          </a:xfrm>
          <a:prstGeom prst="rect">
            <a:avLst/>
          </a:prstGeom>
          <a:noFill/>
        </p:spPr>
        <p:txBody>
          <a:bodyPr wrap="square" lIns="27432" rIns="27432" tIns="27432" bIns="27432" anchor="t">
            <a:spAutoFit/>
          </a:bodyPr>
          <a:lstStyle/>
          <a:p>
            <a:pPr algn="l"/>
            <a:r>
              <a:rPr sz="1400" b="1" i="0">
                <a:solidFill>
                  <a:srgbClr val="FFFFFF"/>
                </a:solidFill>
                <a:latin typeface="Aptos"/>
              </a:rPr>
              <a:t>6 minutes  |  40 points</a:t>
            </a:r>
          </a:p>
        </p:txBody>
      </p:sp>
      <p:sp>
        <p:nvSpPr>
          <p:cNvPr id="16" name="TextBox 15"/>
          <p:cNvSpPr txBox="1"/>
          <p:nvPr/>
        </p:nvSpPr>
        <p:spPr>
          <a:xfrm>
            <a:off x="694944" y="6199632"/>
            <a:ext cx="5669280" cy="384048"/>
          </a:xfrm>
          <a:prstGeom prst="rect">
            <a:avLst/>
          </a:prstGeom>
          <a:noFill/>
        </p:spPr>
        <p:txBody>
          <a:bodyPr wrap="square" lIns="27432" rIns="27432" tIns="27432" bIns="27432" anchor="t">
            <a:spAutoFit/>
          </a:bodyPr>
          <a:lstStyle/>
          <a:p>
            <a:pPr algn="l"/>
            <a:r>
              <a:rPr sz="800" b="0" i="0">
                <a:solidFill>
                  <a:srgbClr val="C4CCD2"/>
                </a:solidFill>
                <a:latin typeface="Aptos"/>
              </a:rPr>
              <a:t>Cover image: Chinese costume image from supplied deck; Moroccan caftan image: Wikimedia Commons, “Moroccan woman in traditional Caftan.”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2E9"/>
        </a:solidFill>
        <a:effectLst/>
      </p:bgPr>
    </p:bg>
    <p:spTree>
      <p:nvGrpSpPr>
        <p:cNvPr id="1" name=""/>
        <p:cNvGrpSpPr/>
        <p:nvPr/>
      </p:nvGrpSpPr>
      <p:grpSpPr/>
      <p:sp>
        <p:nvSpPr>
          <p:cNvPr id="2" name="Rectangle 1"/>
          <p:cNvSpPr/>
          <p:nvPr/>
        </p:nvSpPr>
        <p:spPr>
          <a:xfrm>
            <a:off x="0" y="0"/>
            <a:ext cx="155448" cy="6858000"/>
          </a:xfrm>
          <a:prstGeom prst="rect">
            <a:avLst/>
          </a:prstGeom>
          <a:solidFill>
            <a:srgbClr val="B947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38912" y="228600"/>
            <a:ext cx="7315200" cy="201168"/>
          </a:xfrm>
          <a:prstGeom prst="rect">
            <a:avLst/>
          </a:prstGeom>
          <a:noFill/>
        </p:spPr>
        <p:txBody>
          <a:bodyPr wrap="square" lIns="27432" rIns="27432" tIns="27432" bIns="27432" anchor="t">
            <a:spAutoFit/>
          </a:bodyPr>
          <a:lstStyle/>
          <a:p>
            <a:pPr algn="l"/>
            <a:r>
              <a:rPr sz="1000" b="1" i="0">
                <a:solidFill>
                  <a:srgbClr val="B9472D"/>
                </a:solidFill>
                <a:latin typeface="Aptos"/>
              </a:rPr>
              <a:t>A LENS FOR COMPARISON</a:t>
            </a:r>
          </a:p>
        </p:txBody>
      </p:sp>
      <p:sp>
        <p:nvSpPr>
          <p:cNvPr id="4" name="Rectangle 3"/>
          <p:cNvSpPr/>
          <p:nvPr/>
        </p:nvSpPr>
        <p:spPr>
          <a:xfrm>
            <a:off x="438912" y="576072"/>
            <a:ext cx="11292840" cy="13716"/>
          </a:xfrm>
          <a:prstGeom prst="rect">
            <a:avLst/>
          </a:prstGeom>
          <a:solidFill>
            <a:srgbClr val="D9CEB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744200" y="6547104"/>
            <a:ext cx="960120" cy="164592"/>
          </a:xfrm>
          <a:prstGeom prst="rect">
            <a:avLst/>
          </a:prstGeom>
          <a:noFill/>
        </p:spPr>
        <p:txBody>
          <a:bodyPr wrap="square" lIns="27432" rIns="27432" tIns="27432" bIns="27432" anchor="t">
            <a:spAutoFit/>
          </a:bodyPr>
          <a:lstStyle/>
          <a:p>
            <a:pPr algn="r"/>
            <a:r>
              <a:rPr sz="900" b="1" i="0">
                <a:solidFill>
                  <a:srgbClr val="63707A"/>
                </a:solidFill>
                <a:latin typeface="Aptos"/>
              </a:rPr>
              <a:t>02  /  8</a:t>
            </a:r>
          </a:p>
        </p:txBody>
      </p:sp>
      <p:sp>
        <p:nvSpPr>
          <p:cNvPr id="6" name="TextBox 5"/>
          <p:cNvSpPr txBox="1"/>
          <p:nvPr/>
        </p:nvSpPr>
        <p:spPr>
          <a:xfrm>
            <a:off x="9326880" y="228600"/>
            <a:ext cx="2377440" cy="201168"/>
          </a:xfrm>
          <a:prstGeom prst="rect">
            <a:avLst/>
          </a:prstGeom>
          <a:noFill/>
        </p:spPr>
        <p:txBody>
          <a:bodyPr wrap="square" lIns="27432" rIns="27432" tIns="27432" bIns="27432" anchor="t">
            <a:spAutoFit/>
          </a:bodyPr>
          <a:lstStyle/>
          <a:p>
            <a:pPr algn="r"/>
            <a:r>
              <a:rPr sz="1000" b="1" i="0">
                <a:solidFill>
                  <a:srgbClr val="63707A"/>
                </a:solidFill>
                <a:latin typeface="Aptos"/>
              </a:rPr>
              <a:t>0:25–1:00  •  35 sec</a:t>
            </a:r>
          </a:p>
        </p:txBody>
      </p:sp>
      <p:sp>
        <p:nvSpPr>
          <p:cNvPr id="7" name="TextBox 6"/>
          <p:cNvSpPr txBox="1"/>
          <p:nvPr/>
        </p:nvSpPr>
        <p:spPr>
          <a:xfrm>
            <a:off x="502920" y="758952"/>
            <a:ext cx="11109960" cy="502920"/>
          </a:xfrm>
          <a:prstGeom prst="rect">
            <a:avLst/>
          </a:prstGeom>
          <a:noFill/>
        </p:spPr>
        <p:txBody>
          <a:bodyPr wrap="square" lIns="27432" rIns="27432" tIns="27432" bIns="27432" anchor="t">
            <a:spAutoFit/>
          </a:bodyPr>
          <a:lstStyle/>
          <a:p>
            <a:pPr algn="l"/>
            <a:r>
              <a:rPr sz="2900" b="1" i="0">
                <a:solidFill>
                  <a:srgbClr val="202A36"/>
                </a:solidFill>
                <a:latin typeface="Georgia"/>
              </a:rPr>
              <a:t>A garment is more than a look</a:t>
            </a:r>
          </a:p>
        </p:txBody>
      </p:sp>
      <p:sp>
        <p:nvSpPr>
          <p:cNvPr id="8" name="TextBox 7"/>
          <p:cNvSpPr txBox="1"/>
          <p:nvPr/>
        </p:nvSpPr>
        <p:spPr>
          <a:xfrm>
            <a:off x="530352" y="1298448"/>
            <a:ext cx="11064240" cy="365760"/>
          </a:xfrm>
          <a:prstGeom prst="rect">
            <a:avLst/>
          </a:prstGeom>
          <a:noFill/>
        </p:spPr>
        <p:txBody>
          <a:bodyPr wrap="square" lIns="27432" rIns="27432" tIns="27432" bIns="27432" anchor="t">
            <a:spAutoFit/>
          </a:bodyPr>
          <a:lstStyle/>
          <a:p>
            <a:pPr algn="l"/>
            <a:r>
              <a:rPr sz="1500" b="0" i="0">
                <a:solidFill>
                  <a:srgbClr val="63707A"/>
                </a:solidFill>
                <a:latin typeface="Aptos"/>
              </a:rPr>
              <a:t>Four clues help us read what clothing says about a culture.</a:t>
            </a:r>
          </a:p>
        </p:txBody>
      </p:sp>
      <p:sp>
        <p:nvSpPr>
          <p:cNvPr id="9" name="Rounded Rectangle 8"/>
          <p:cNvSpPr/>
          <p:nvPr/>
        </p:nvSpPr>
        <p:spPr>
          <a:xfrm>
            <a:off x="566928" y="1993392"/>
            <a:ext cx="2606040" cy="242316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66928" y="1993392"/>
            <a:ext cx="2606040" cy="109728"/>
          </a:xfrm>
          <a:prstGeom prst="roundRect">
            <a:avLst>
              <a:gd name="adj" fmla="val 12000"/>
            </a:avLst>
          </a:prstGeom>
          <a:solidFill>
            <a:srgbClr val="B947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49808" y="2249424"/>
            <a:ext cx="502920" cy="384048"/>
          </a:xfrm>
          <a:prstGeom prst="rect">
            <a:avLst/>
          </a:prstGeom>
          <a:noFill/>
        </p:spPr>
        <p:txBody>
          <a:bodyPr wrap="square" lIns="27432" rIns="27432" tIns="27432" bIns="27432" anchor="t">
            <a:spAutoFit/>
          </a:bodyPr>
          <a:lstStyle/>
          <a:p>
            <a:pPr algn="l"/>
            <a:r>
              <a:rPr sz="2000" b="1" i="0">
                <a:solidFill>
                  <a:srgbClr val="B9472D"/>
                </a:solidFill>
                <a:latin typeface="Georgia"/>
              </a:rPr>
              <a:t>01</a:t>
            </a:r>
          </a:p>
        </p:txBody>
      </p:sp>
      <p:sp>
        <p:nvSpPr>
          <p:cNvPr id="12" name="TextBox 11"/>
          <p:cNvSpPr txBox="1"/>
          <p:nvPr/>
        </p:nvSpPr>
        <p:spPr>
          <a:xfrm>
            <a:off x="749808" y="2761488"/>
            <a:ext cx="2194560" cy="274320"/>
          </a:xfrm>
          <a:prstGeom prst="rect">
            <a:avLst/>
          </a:prstGeom>
          <a:noFill/>
        </p:spPr>
        <p:txBody>
          <a:bodyPr wrap="square" lIns="27432" rIns="27432" tIns="27432" bIns="27432" anchor="t">
            <a:spAutoFit/>
          </a:bodyPr>
          <a:lstStyle/>
          <a:p>
            <a:pPr algn="l"/>
            <a:r>
              <a:rPr sz="1200" b="1" i="0">
                <a:solidFill>
                  <a:srgbClr val="202A36"/>
                </a:solidFill>
                <a:latin typeface="Aptos"/>
              </a:rPr>
              <a:t>MATERIAL</a:t>
            </a:r>
          </a:p>
        </p:txBody>
      </p:sp>
      <p:sp>
        <p:nvSpPr>
          <p:cNvPr id="13" name="TextBox 12"/>
          <p:cNvSpPr txBox="1"/>
          <p:nvPr/>
        </p:nvSpPr>
        <p:spPr>
          <a:xfrm>
            <a:off x="749808" y="3127248"/>
            <a:ext cx="2240280" cy="566928"/>
          </a:xfrm>
          <a:prstGeom prst="rect">
            <a:avLst/>
          </a:prstGeom>
          <a:noFill/>
        </p:spPr>
        <p:txBody>
          <a:bodyPr wrap="square" lIns="27432" rIns="27432" tIns="27432" bIns="27432" anchor="t">
            <a:spAutoFit/>
          </a:bodyPr>
          <a:lstStyle/>
          <a:p>
            <a:pPr algn="l"/>
            <a:r>
              <a:rPr sz="1700" b="1" i="0">
                <a:solidFill>
                  <a:srgbClr val="202A36"/>
                </a:solidFill>
                <a:latin typeface="Aptos"/>
              </a:rPr>
              <a:t>What fibers were available?</a:t>
            </a:r>
          </a:p>
        </p:txBody>
      </p:sp>
      <p:sp>
        <p:nvSpPr>
          <p:cNvPr id="14" name="TextBox 13"/>
          <p:cNvSpPr txBox="1"/>
          <p:nvPr/>
        </p:nvSpPr>
        <p:spPr>
          <a:xfrm>
            <a:off x="749808" y="3858768"/>
            <a:ext cx="2212848" cy="384048"/>
          </a:xfrm>
          <a:prstGeom prst="rect">
            <a:avLst/>
          </a:prstGeom>
          <a:noFill/>
        </p:spPr>
        <p:txBody>
          <a:bodyPr wrap="square" lIns="27432" rIns="27432" tIns="27432" bIns="27432" anchor="t">
            <a:spAutoFit/>
          </a:bodyPr>
          <a:lstStyle/>
          <a:p>
            <a:pPr algn="l"/>
            <a:r>
              <a:rPr sz="1200" b="0" i="0">
                <a:solidFill>
                  <a:srgbClr val="63707A"/>
                </a:solidFill>
                <a:latin typeface="Aptos"/>
              </a:rPr>
              <a:t>Silk, cotton, wool, hemp</a:t>
            </a:r>
          </a:p>
        </p:txBody>
      </p:sp>
      <p:sp>
        <p:nvSpPr>
          <p:cNvPr id="15" name="Rounded Rectangle 14"/>
          <p:cNvSpPr/>
          <p:nvPr/>
        </p:nvSpPr>
        <p:spPr>
          <a:xfrm>
            <a:off x="3419856" y="1993392"/>
            <a:ext cx="2606040" cy="242316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3419856" y="1993392"/>
            <a:ext cx="2606040" cy="109728"/>
          </a:xfrm>
          <a:prstGeom prst="roundRect">
            <a:avLst>
              <a:gd name="adj" fmla="val 12000"/>
            </a:avLst>
          </a:prstGeom>
          <a:solidFill>
            <a:srgbClr val="243B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2736" y="2249424"/>
            <a:ext cx="502920" cy="384048"/>
          </a:xfrm>
          <a:prstGeom prst="rect">
            <a:avLst/>
          </a:prstGeom>
          <a:noFill/>
        </p:spPr>
        <p:txBody>
          <a:bodyPr wrap="square" lIns="27432" rIns="27432" tIns="27432" bIns="27432" anchor="t">
            <a:spAutoFit/>
          </a:bodyPr>
          <a:lstStyle/>
          <a:p>
            <a:pPr algn="l"/>
            <a:r>
              <a:rPr sz="2000" b="1" i="0">
                <a:solidFill>
                  <a:srgbClr val="243B5A"/>
                </a:solidFill>
                <a:latin typeface="Georgia"/>
              </a:rPr>
              <a:t>02</a:t>
            </a:r>
          </a:p>
        </p:txBody>
      </p:sp>
      <p:sp>
        <p:nvSpPr>
          <p:cNvPr id="18" name="TextBox 17"/>
          <p:cNvSpPr txBox="1"/>
          <p:nvPr/>
        </p:nvSpPr>
        <p:spPr>
          <a:xfrm>
            <a:off x="3602736" y="2761488"/>
            <a:ext cx="2194560" cy="274320"/>
          </a:xfrm>
          <a:prstGeom prst="rect">
            <a:avLst/>
          </a:prstGeom>
          <a:noFill/>
        </p:spPr>
        <p:txBody>
          <a:bodyPr wrap="square" lIns="27432" rIns="27432" tIns="27432" bIns="27432" anchor="t">
            <a:spAutoFit/>
          </a:bodyPr>
          <a:lstStyle/>
          <a:p>
            <a:pPr algn="l"/>
            <a:r>
              <a:rPr sz="1200" b="1" i="0">
                <a:solidFill>
                  <a:srgbClr val="202A36"/>
                </a:solidFill>
                <a:latin typeface="Aptos"/>
              </a:rPr>
              <a:t>CUT</a:t>
            </a:r>
          </a:p>
        </p:txBody>
      </p:sp>
      <p:sp>
        <p:nvSpPr>
          <p:cNvPr id="19" name="TextBox 18"/>
          <p:cNvSpPr txBox="1"/>
          <p:nvPr/>
        </p:nvSpPr>
        <p:spPr>
          <a:xfrm>
            <a:off x="3602736" y="3127248"/>
            <a:ext cx="2240280" cy="566928"/>
          </a:xfrm>
          <a:prstGeom prst="rect">
            <a:avLst/>
          </a:prstGeom>
          <a:noFill/>
        </p:spPr>
        <p:txBody>
          <a:bodyPr wrap="square" lIns="27432" rIns="27432" tIns="27432" bIns="27432" anchor="t">
            <a:spAutoFit/>
          </a:bodyPr>
          <a:lstStyle/>
          <a:p>
            <a:pPr algn="l"/>
            <a:r>
              <a:rPr sz="1700" b="1" i="0">
                <a:solidFill>
                  <a:srgbClr val="202A36"/>
                </a:solidFill>
                <a:latin typeface="Aptos"/>
              </a:rPr>
              <a:t>How is the garment shaped?</a:t>
            </a:r>
          </a:p>
        </p:txBody>
      </p:sp>
      <p:sp>
        <p:nvSpPr>
          <p:cNvPr id="20" name="TextBox 19"/>
          <p:cNvSpPr txBox="1"/>
          <p:nvPr/>
        </p:nvSpPr>
        <p:spPr>
          <a:xfrm>
            <a:off x="3602736" y="3858768"/>
            <a:ext cx="2212848" cy="384048"/>
          </a:xfrm>
          <a:prstGeom prst="rect">
            <a:avLst/>
          </a:prstGeom>
          <a:noFill/>
        </p:spPr>
        <p:txBody>
          <a:bodyPr wrap="square" lIns="27432" rIns="27432" tIns="27432" bIns="27432" anchor="t">
            <a:spAutoFit/>
          </a:bodyPr>
          <a:lstStyle/>
          <a:p>
            <a:pPr algn="l"/>
            <a:r>
              <a:rPr sz="1200" b="0" i="0">
                <a:solidFill>
                  <a:srgbClr val="63707A"/>
                </a:solidFill>
                <a:latin typeface="Aptos"/>
              </a:rPr>
              <a:t>Wrap, robe, tunic, layers</a:t>
            </a:r>
          </a:p>
        </p:txBody>
      </p:sp>
      <p:sp>
        <p:nvSpPr>
          <p:cNvPr id="21" name="Rounded Rectangle 20"/>
          <p:cNvSpPr/>
          <p:nvPr/>
        </p:nvSpPr>
        <p:spPr>
          <a:xfrm>
            <a:off x="6272784" y="1993392"/>
            <a:ext cx="2606040" cy="242316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6272784" y="1993392"/>
            <a:ext cx="2606040" cy="109728"/>
          </a:xfrm>
          <a:prstGeom prst="roundRect">
            <a:avLst>
              <a:gd name="adj" fmla="val 12000"/>
            </a:avLst>
          </a:prstGeom>
          <a:solidFill>
            <a:srgbClr val="D8A6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55664" y="2249424"/>
            <a:ext cx="502920" cy="384048"/>
          </a:xfrm>
          <a:prstGeom prst="rect">
            <a:avLst/>
          </a:prstGeom>
          <a:noFill/>
        </p:spPr>
        <p:txBody>
          <a:bodyPr wrap="square" lIns="27432" rIns="27432" tIns="27432" bIns="27432" anchor="t">
            <a:spAutoFit/>
          </a:bodyPr>
          <a:lstStyle/>
          <a:p>
            <a:pPr algn="l"/>
            <a:r>
              <a:rPr sz="2000" b="1" i="0">
                <a:solidFill>
                  <a:srgbClr val="D8A64A"/>
                </a:solidFill>
                <a:latin typeface="Georgia"/>
              </a:rPr>
              <a:t>03</a:t>
            </a:r>
          </a:p>
        </p:txBody>
      </p:sp>
      <p:sp>
        <p:nvSpPr>
          <p:cNvPr id="24" name="TextBox 23"/>
          <p:cNvSpPr txBox="1"/>
          <p:nvPr/>
        </p:nvSpPr>
        <p:spPr>
          <a:xfrm>
            <a:off x="6455664" y="2761488"/>
            <a:ext cx="2194560" cy="274320"/>
          </a:xfrm>
          <a:prstGeom prst="rect">
            <a:avLst/>
          </a:prstGeom>
          <a:noFill/>
        </p:spPr>
        <p:txBody>
          <a:bodyPr wrap="square" lIns="27432" rIns="27432" tIns="27432" bIns="27432" anchor="t">
            <a:spAutoFit/>
          </a:bodyPr>
          <a:lstStyle/>
          <a:p>
            <a:pPr algn="l"/>
            <a:r>
              <a:rPr sz="1200" b="1" i="0">
                <a:solidFill>
                  <a:srgbClr val="202A36"/>
                </a:solidFill>
                <a:latin typeface="Aptos"/>
              </a:rPr>
              <a:t>COLOR</a:t>
            </a:r>
          </a:p>
        </p:txBody>
      </p:sp>
      <p:sp>
        <p:nvSpPr>
          <p:cNvPr id="25" name="TextBox 24"/>
          <p:cNvSpPr txBox="1"/>
          <p:nvPr/>
        </p:nvSpPr>
        <p:spPr>
          <a:xfrm>
            <a:off x="6455664" y="3127248"/>
            <a:ext cx="2240280" cy="566928"/>
          </a:xfrm>
          <a:prstGeom prst="rect">
            <a:avLst/>
          </a:prstGeom>
          <a:noFill/>
        </p:spPr>
        <p:txBody>
          <a:bodyPr wrap="square" lIns="27432" rIns="27432" tIns="27432" bIns="27432" anchor="t">
            <a:spAutoFit/>
          </a:bodyPr>
          <a:lstStyle/>
          <a:p>
            <a:pPr algn="l"/>
            <a:r>
              <a:rPr sz="1700" b="1" i="0">
                <a:solidFill>
                  <a:srgbClr val="202A36"/>
                </a:solidFill>
                <a:latin typeface="Aptos"/>
              </a:rPr>
              <a:t>How was color made and read?</a:t>
            </a:r>
          </a:p>
        </p:txBody>
      </p:sp>
      <p:sp>
        <p:nvSpPr>
          <p:cNvPr id="26" name="TextBox 25"/>
          <p:cNvSpPr txBox="1"/>
          <p:nvPr/>
        </p:nvSpPr>
        <p:spPr>
          <a:xfrm>
            <a:off x="6455664" y="3858768"/>
            <a:ext cx="2212848" cy="384048"/>
          </a:xfrm>
          <a:prstGeom prst="rect">
            <a:avLst/>
          </a:prstGeom>
          <a:noFill/>
        </p:spPr>
        <p:txBody>
          <a:bodyPr wrap="square" lIns="27432" rIns="27432" tIns="27432" bIns="27432" anchor="t">
            <a:spAutoFit/>
          </a:bodyPr>
          <a:lstStyle/>
          <a:p>
            <a:pPr algn="l"/>
            <a:r>
              <a:rPr sz="1200" b="0" i="0">
                <a:solidFill>
                  <a:srgbClr val="63707A"/>
                </a:solidFill>
                <a:latin typeface="Aptos"/>
              </a:rPr>
              <a:t>Plant dyes, status, occasion</a:t>
            </a:r>
          </a:p>
        </p:txBody>
      </p:sp>
      <p:sp>
        <p:nvSpPr>
          <p:cNvPr id="27" name="Rounded Rectangle 26"/>
          <p:cNvSpPr/>
          <p:nvPr/>
        </p:nvSpPr>
        <p:spPr>
          <a:xfrm>
            <a:off x="9125711" y="1993392"/>
            <a:ext cx="2606040" cy="242316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9125711" y="1993392"/>
            <a:ext cx="2606040" cy="109728"/>
          </a:xfrm>
          <a:prstGeom prst="roundRect">
            <a:avLst>
              <a:gd name="adj" fmla="val 12000"/>
            </a:avLst>
          </a:prstGeom>
          <a:solidFill>
            <a:srgbClr val="5677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308591" y="2249424"/>
            <a:ext cx="502920" cy="384048"/>
          </a:xfrm>
          <a:prstGeom prst="rect">
            <a:avLst/>
          </a:prstGeom>
          <a:noFill/>
        </p:spPr>
        <p:txBody>
          <a:bodyPr wrap="square" lIns="27432" rIns="27432" tIns="27432" bIns="27432" anchor="t">
            <a:spAutoFit/>
          </a:bodyPr>
          <a:lstStyle/>
          <a:p>
            <a:pPr algn="l"/>
            <a:r>
              <a:rPr sz="2000" b="1" i="0">
                <a:solidFill>
                  <a:srgbClr val="567766"/>
                </a:solidFill>
                <a:latin typeface="Georgia"/>
              </a:rPr>
              <a:t>04</a:t>
            </a:r>
          </a:p>
        </p:txBody>
      </p:sp>
      <p:sp>
        <p:nvSpPr>
          <p:cNvPr id="30" name="TextBox 29"/>
          <p:cNvSpPr txBox="1"/>
          <p:nvPr/>
        </p:nvSpPr>
        <p:spPr>
          <a:xfrm>
            <a:off x="9308591" y="2761488"/>
            <a:ext cx="2194560" cy="274320"/>
          </a:xfrm>
          <a:prstGeom prst="rect">
            <a:avLst/>
          </a:prstGeom>
          <a:noFill/>
        </p:spPr>
        <p:txBody>
          <a:bodyPr wrap="square" lIns="27432" rIns="27432" tIns="27432" bIns="27432" anchor="t">
            <a:spAutoFit/>
          </a:bodyPr>
          <a:lstStyle/>
          <a:p>
            <a:pPr algn="l"/>
            <a:r>
              <a:rPr sz="1200" b="1" i="0">
                <a:solidFill>
                  <a:srgbClr val="202A36"/>
                </a:solidFill>
                <a:latin typeface="Aptos"/>
              </a:rPr>
              <a:t>DETAIL</a:t>
            </a:r>
          </a:p>
        </p:txBody>
      </p:sp>
      <p:sp>
        <p:nvSpPr>
          <p:cNvPr id="31" name="TextBox 30"/>
          <p:cNvSpPr txBox="1"/>
          <p:nvPr/>
        </p:nvSpPr>
        <p:spPr>
          <a:xfrm>
            <a:off x="9308591" y="3127248"/>
            <a:ext cx="2240280" cy="566928"/>
          </a:xfrm>
          <a:prstGeom prst="rect">
            <a:avLst/>
          </a:prstGeom>
          <a:noFill/>
        </p:spPr>
        <p:txBody>
          <a:bodyPr wrap="square" lIns="27432" rIns="27432" tIns="27432" bIns="27432" anchor="t">
            <a:spAutoFit/>
          </a:bodyPr>
          <a:lstStyle/>
          <a:p>
            <a:pPr algn="l"/>
            <a:r>
              <a:rPr sz="1700" b="1" i="0">
                <a:solidFill>
                  <a:srgbClr val="202A36"/>
                </a:solidFill>
                <a:latin typeface="Aptos"/>
              </a:rPr>
              <a:t>What do patterns communicate?</a:t>
            </a:r>
          </a:p>
        </p:txBody>
      </p:sp>
      <p:sp>
        <p:nvSpPr>
          <p:cNvPr id="32" name="TextBox 31"/>
          <p:cNvSpPr txBox="1"/>
          <p:nvPr/>
        </p:nvSpPr>
        <p:spPr>
          <a:xfrm>
            <a:off x="9308591" y="3858768"/>
            <a:ext cx="2212848" cy="384048"/>
          </a:xfrm>
          <a:prstGeom prst="rect">
            <a:avLst/>
          </a:prstGeom>
          <a:noFill/>
        </p:spPr>
        <p:txBody>
          <a:bodyPr wrap="square" lIns="27432" rIns="27432" tIns="27432" bIns="27432" anchor="t">
            <a:spAutoFit/>
          </a:bodyPr>
          <a:lstStyle/>
          <a:p>
            <a:pPr algn="l"/>
            <a:r>
              <a:rPr sz="1200" b="0" i="0">
                <a:solidFill>
                  <a:srgbClr val="63707A"/>
                </a:solidFill>
                <a:latin typeface="Aptos"/>
              </a:rPr>
              <a:t>Craft, identity, good wishes</a:t>
            </a:r>
          </a:p>
        </p:txBody>
      </p:sp>
      <p:sp>
        <p:nvSpPr>
          <p:cNvPr id="33" name="Rounded Rectangle 32"/>
          <p:cNvSpPr/>
          <p:nvPr/>
        </p:nvSpPr>
        <p:spPr>
          <a:xfrm>
            <a:off x="566928" y="4800600"/>
            <a:ext cx="11000232" cy="914400"/>
          </a:xfrm>
          <a:prstGeom prst="roundRect">
            <a:avLst>
              <a:gd name="adj" fmla="val 12000"/>
            </a:avLst>
          </a:prstGeom>
          <a:solidFill>
            <a:srgbClr val="EEE4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22960" y="5074920"/>
            <a:ext cx="10469880" cy="320040"/>
          </a:xfrm>
          <a:prstGeom prst="rect">
            <a:avLst/>
          </a:prstGeom>
          <a:noFill/>
        </p:spPr>
        <p:txBody>
          <a:bodyPr wrap="square" lIns="27432" rIns="27432" tIns="18288" bIns="18288">
            <a:spAutoFit/>
          </a:bodyPr>
          <a:lstStyle/>
          <a:p>
            <a:pPr algn="l"/>
            <a:r>
              <a:rPr sz="1900" b="1">
                <a:solidFill>
                  <a:srgbClr val="B9472D"/>
                </a:solidFill>
                <a:latin typeface="Aptos"/>
              </a:rPr>
              <a:t>Main idea: </a:t>
            </a:r>
            <a:r>
              <a:rPr sz="1900" b="0">
                <a:solidFill>
                  <a:srgbClr val="202A36"/>
                </a:solidFill>
                <a:latin typeface="Aptos"/>
              </a:rPr>
              <a:t>style changes with time, place, materials, and the people who wear it.</a:t>
            </a:r>
          </a:p>
        </p:txBody>
      </p:sp>
      <p:sp>
        <p:nvSpPr>
          <p:cNvPr id="35" name="TextBox 34"/>
          <p:cNvSpPr txBox="1"/>
          <p:nvPr/>
        </p:nvSpPr>
        <p:spPr>
          <a:xfrm>
            <a:off x="822960" y="5486400"/>
            <a:ext cx="10241280" cy="274320"/>
          </a:xfrm>
          <a:prstGeom prst="rect">
            <a:avLst/>
          </a:prstGeom>
          <a:noFill/>
        </p:spPr>
        <p:txBody>
          <a:bodyPr wrap="square" lIns="27432" rIns="27432" tIns="27432" bIns="27432" anchor="t">
            <a:spAutoFit/>
          </a:bodyPr>
          <a:lstStyle/>
          <a:p>
            <a:pPr algn="l"/>
            <a:r>
              <a:rPr sz="1300" b="0" i="1">
                <a:solidFill>
                  <a:srgbClr val="63707A"/>
                </a:solidFill>
                <a:latin typeface="Aptos"/>
              </a:rPr>
              <a:t>Keep these four clues in mind as we move between the two traditions.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2E9"/>
        </a:solidFill>
        <a:effectLst/>
      </p:bgPr>
    </p:bg>
    <p:spTree>
      <p:nvGrpSpPr>
        <p:cNvPr id="1" name=""/>
        <p:cNvGrpSpPr/>
        <p:nvPr/>
      </p:nvGrpSpPr>
      <p:grpSpPr/>
      <p:sp>
        <p:nvSpPr>
          <p:cNvPr id="2" name="Rectangle 1"/>
          <p:cNvSpPr/>
          <p:nvPr/>
        </p:nvSpPr>
        <p:spPr>
          <a:xfrm>
            <a:off x="0" y="0"/>
            <a:ext cx="155448" cy="6858000"/>
          </a:xfrm>
          <a:prstGeom prst="rect">
            <a:avLst/>
          </a:prstGeom>
          <a:solidFill>
            <a:srgbClr val="B947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38912" y="228600"/>
            <a:ext cx="7315200" cy="201168"/>
          </a:xfrm>
          <a:prstGeom prst="rect">
            <a:avLst/>
          </a:prstGeom>
          <a:noFill/>
        </p:spPr>
        <p:txBody>
          <a:bodyPr wrap="square" lIns="27432" rIns="27432" tIns="27432" bIns="27432" anchor="t">
            <a:spAutoFit/>
          </a:bodyPr>
          <a:lstStyle/>
          <a:p>
            <a:pPr algn="l"/>
            <a:r>
              <a:rPr sz="1000" b="1" i="0">
                <a:solidFill>
                  <a:srgbClr val="B9472D"/>
                </a:solidFill>
                <a:latin typeface="Aptos"/>
              </a:rPr>
              <a:t>CHINESE CLOTHING</a:t>
            </a:r>
          </a:p>
        </p:txBody>
      </p:sp>
      <p:sp>
        <p:nvSpPr>
          <p:cNvPr id="4" name="Rectangle 3"/>
          <p:cNvSpPr/>
          <p:nvPr/>
        </p:nvSpPr>
        <p:spPr>
          <a:xfrm>
            <a:off x="438912" y="576072"/>
            <a:ext cx="11292840" cy="13716"/>
          </a:xfrm>
          <a:prstGeom prst="rect">
            <a:avLst/>
          </a:prstGeom>
          <a:solidFill>
            <a:srgbClr val="D9CEB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744200" y="6547104"/>
            <a:ext cx="960120" cy="164592"/>
          </a:xfrm>
          <a:prstGeom prst="rect">
            <a:avLst/>
          </a:prstGeom>
          <a:noFill/>
        </p:spPr>
        <p:txBody>
          <a:bodyPr wrap="square" lIns="27432" rIns="27432" tIns="27432" bIns="27432" anchor="t">
            <a:spAutoFit/>
          </a:bodyPr>
          <a:lstStyle/>
          <a:p>
            <a:pPr algn="r"/>
            <a:r>
              <a:rPr sz="900" b="1" i="0">
                <a:solidFill>
                  <a:srgbClr val="63707A"/>
                </a:solidFill>
                <a:latin typeface="Aptos"/>
              </a:rPr>
              <a:t>03  /  8</a:t>
            </a:r>
          </a:p>
        </p:txBody>
      </p:sp>
      <p:sp>
        <p:nvSpPr>
          <p:cNvPr id="6" name="TextBox 5"/>
          <p:cNvSpPr txBox="1"/>
          <p:nvPr/>
        </p:nvSpPr>
        <p:spPr>
          <a:xfrm>
            <a:off x="9326880" y="228600"/>
            <a:ext cx="2377440" cy="201168"/>
          </a:xfrm>
          <a:prstGeom prst="rect">
            <a:avLst/>
          </a:prstGeom>
          <a:noFill/>
        </p:spPr>
        <p:txBody>
          <a:bodyPr wrap="square" lIns="27432" rIns="27432" tIns="27432" bIns="27432" anchor="t">
            <a:spAutoFit/>
          </a:bodyPr>
          <a:lstStyle/>
          <a:p>
            <a:pPr algn="r"/>
            <a:r>
              <a:rPr sz="1000" b="1" i="0">
                <a:solidFill>
                  <a:srgbClr val="63707A"/>
                </a:solidFill>
                <a:latin typeface="Aptos"/>
              </a:rPr>
              <a:t>1:00–1:45  •  45 sec</a:t>
            </a:r>
          </a:p>
        </p:txBody>
      </p:sp>
      <p:sp>
        <p:nvSpPr>
          <p:cNvPr id="7" name="TextBox 6"/>
          <p:cNvSpPr txBox="1"/>
          <p:nvPr/>
        </p:nvSpPr>
        <p:spPr>
          <a:xfrm>
            <a:off x="502920" y="758952"/>
            <a:ext cx="11109960" cy="502920"/>
          </a:xfrm>
          <a:prstGeom prst="rect">
            <a:avLst/>
          </a:prstGeom>
          <a:noFill/>
        </p:spPr>
        <p:txBody>
          <a:bodyPr wrap="square" lIns="27432" rIns="27432" tIns="27432" bIns="27432" anchor="t">
            <a:spAutoFit/>
          </a:bodyPr>
          <a:lstStyle/>
          <a:p>
            <a:pPr algn="l"/>
            <a:r>
              <a:rPr sz="2900" b="1" i="0">
                <a:solidFill>
                  <a:srgbClr val="202A36"/>
                </a:solidFill>
                <a:latin typeface="Georgia"/>
              </a:rPr>
              <a:t>China: form, fiber, and meaning</a:t>
            </a:r>
          </a:p>
        </p:txBody>
      </p:sp>
      <p:sp>
        <p:nvSpPr>
          <p:cNvPr id="8" name="TextBox 7"/>
          <p:cNvSpPr txBox="1"/>
          <p:nvPr/>
        </p:nvSpPr>
        <p:spPr>
          <a:xfrm>
            <a:off x="530352" y="1298448"/>
            <a:ext cx="11064240" cy="365760"/>
          </a:xfrm>
          <a:prstGeom prst="rect">
            <a:avLst/>
          </a:prstGeom>
          <a:noFill/>
        </p:spPr>
        <p:txBody>
          <a:bodyPr wrap="square" lIns="27432" rIns="27432" tIns="27432" bIns="27432" anchor="t">
            <a:spAutoFit/>
          </a:bodyPr>
          <a:lstStyle/>
          <a:p>
            <a:pPr algn="l"/>
            <a:r>
              <a:rPr sz="1500" b="0" i="0">
                <a:solidFill>
                  <a:srgbClr val="63707A"/>
                </a:solidFill>
                <a:latin typeface="Aptos"/>
              </a:rPr>
              <a:t>“Hanfu” describes a broad family of historical styles—not one single, unchanging outfit.</a:t>
            </a:r>
          </a:p>
        </p:txBody>
      </p:sp>
      <p:sp>
        <p:nvSpPr>
          <p:cNvPr id="9" name="Rectangle 8"/>
          <p:cNvSpPr/>
          <p:nvPr/>
        </p:nvSpPr>
        <p:spPr>
          <a:xfrm>
            <a:off x="8119871" y="1792223"/>
            <a:ext cx="3465576" cy="428853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image47.jpeg"/>
          <p:cNvPicPr>
            <a:picLocks noChangeAspect="1"/>
          </p:cNvPicPr>
          <p:nvPr/>
        </p:nvPicPr>
        <p:blipFill>
          <a:blip r:embed="rId2"/>
          <a:srcRect t="6702" b="15639"/>
          <a:stretch>
            <a:fillRect/>
          </a:stretch>
        </p:blipFill>
        <p:spPr>
          <a:xfrm>
            <a:off x="8247888" y="1920240"/>
            <a:ext cx="3209544" cy="4032504"/>
          </a:xfrm>
          <a:prstGeom prst="rect">
            <a:avLst/>
          </a:prstGeom>
        </p:spPr>
      </p:pic>
      <p:sp>
        <p:nvSpPr>
          <p:cNvPr id="11" name="Rounded Rectangle 10"/>
          <p:cNvSpPr/>
          <p:nvPr/>
        </p:nvSpPr>
        <p:spPr>
          <a:xfrm>
            <a:off x="8138160" y="6117336"/>
            <a:ext cx="3474720" cy="292608"/>
          </a:xfrm>
          <a:prstGeom prst="roundRect">
            <a:avLst>
              <a:gd name="adj" fmla="val 12000"/>
            </a:avLst>
          </a:prstGeom>
          <a:solidFill>
            <a:srgbClr val="243B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11312" y="6153912"/>
            <a:ext cx="3328415" cy="173736"/>
          </a:xfrm>
          <a:prstGeom prst="rect">
            <a:avLst/>
          </a:prstGeom>
          <a:noFill/>
        </p:spPr>
        <p:txBody>
          <a:bodyPr wrap="square" lIns="27432" rIns="27432" tIns="27432" bIns="27432" anchor="ctr">
            <a:spAutoFit/>
          </a:bodyPr>
          <a:lstStyle/>
          <a:p>
            <a:pPr algn="ctr"/>
            <a:r>
              <a:rPr sz="1000" b="1" i="0">
                <a:solidFill>
                  <a:srgbClr val="FFFFFF"/>
                </a:solidFill>
                <a:latin typeface="Aptos"/>
              </a:rPr>
              <a:t>A historical costume image from the supplied deck</a:t>
            </a:r>
          </a:p>
        </p:txBody>
      </p:sp>
      <p:sp>
        <p:nvSpPr>
          <p:cNvPr id="13" name="Rounded Rectangle 12"/>
          <p:cNvSpPr/>
          <p:nvPr/>
        </p:nvSpPr>
        <p:spPr>
          <a:xfrm>
            <a:off x="612648" y="1901952"/>
            <a:ext cx="7132320" cy="1042415"/>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822960" y="2066544"/>
            <a:ext cx="1170432" cy="292608"/>
          </a:xfrm>
          <a:prstGeom prst="roundRect">
            <a:avLst>
              <a:gd name="adj" fmla="val 12000"/>
            </a:avLst>
          </a:prstGeom>
          <a:solidFill>
            <a:srgbClr val="B947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96112" y="2103120"/>
            <a:ext cx="1024128" cy="173736"/>
          </a:xfrm>
          <a:prstGeom prst="rect">
            <a:avLst/>
          </a:prstGeom>
          <a:noFill/>
        </p:spPr>
        <p:txBody>
          <a:bodyPr wrap="square" lIns="27432" rIns="27432" tIns="27432" bIns="27432" anchor="ctr">
            <a:spAutoFit/>
          </a:bodyPr>
          <a:lstStyle/>
          <a:p>
            <a:pPr algn="ctr"/>
            <a:r>
              <a:rPr sz="1000" b="1" i="0">
                <a:solidFill>
                  <a:srgbClr val="FFFFFF"/>
                </a:solidFill>
                <a:latin typeface="Aptos"/>
              </a:rPr>
              <a:t>SHAPE</a:t>
            </a:r>
          </a:p>
        </p:txBody>
      </p:sp>
      <p:sp>
        <p:nvSpPr>
          <p:cNvPr id="16" name="TextBox 15"/>
          <p:cNvSpPr txBox="1"/>
          <p:nvPr/>
        </p:nvSpPr>
        <p:spPr>
          <a:xfrm>
            <a:off x="2212848" y="2066544"/>
            <a:ext cx="5285232" cy="694944"/>
          </a:xfrm>
          <a:prstGeom prst="rect">
            <a:avLst/>
          </a:prstGeom>
          <a:noFill/>
        </p:spPr>
        <p:txBody>
          <a:bodyPr wrap="square" lIns="27432" rIns="27432" tIns="27432" bIns="27432" anchor="t">
            <a:spAutoFit/>
          </a:bodyPr>
          <a:lstStyle/>
          <a:p>
            <a:pPr algn="l"/>
            <a:r>
              <a:rPr sz="1600" b="0" i="0">
                <a:solidFill>
                  <a:srgbClr val="202A36"/>
                </a:solidFill>
                <a:latin typeface="Aptos"/>
              </a:rPr>
              <a:t>Often layered robes, overlapping collars, and waist ties; exact cuts varied by period and use.</a:t>
            </a:r>
          </a:p>
        </p:txBody>
      </p:sp>
      <p:sp>
        <p:nvSpPr>
          <p:cNvPr id="17" name="Rounded Rectangle 16"/>
          <p:cNvSpPr/>
          <p:nvPr/>
        </p:nvSpPr>
        <p:spPr>
          <a:xfrm>
            <a:off x="612648" y="3163824"/>
            <a:ext cx="7132320" cy="1042415"/>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822960" y="3328416"/>
            <a:ext cx="1170432" cy="292608"/>
          </a:xfrm>
          <a:prstGeom prst="roundRect">
            <a:avLst>
              <a:gd name="adj" fmla="val 12000"/>
            </a:avLst>
          </a:prstGeom>
          <a:solidFill>
            <a:srgbClr val="243B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96112" y="3364992"/>
            <a:ext cx="1024128" cy="173736"/>
          </a:xfrm>
          <a:prstGeom prst="rect">
            <a:avLst/>
          </a:prstGeom>
          <a:noFill/>
        </p:spPr>
        <p:txBody>
          <a:bodyPr wrap="square" lIns="27432" rIns="27432" tIns="27432" bIns="27432" anchor="ctr">
            <a:spAutoFit/>
          </a:bodyPr>
          <a:lstStyle/>
          <a:p>
            <a:pPr algn="ctr"/>
            <a:r>
              <a:rPr sz="1000" b="1" i="0">
                <a:solidFill>
                  <a:srgbClr val="FFFFFF"/>
                </a:solidFill>
                <a:latin typeface="Aptos"/>
              </a:rPr>
              <a:t>FIBERS</a:t>
            </a:r>
          </a:p>
        </p:txBody>
      </p:sp>
      <p:sp>
        <p:nvSpPr>
          <p:cNvPr id="20" name="TextBox 19"/>
          <p:cNvSpPr txBox="1"/>
          <p:nvPr/>
        </p:nvSpPr>
        <p:spPr>
          <a:xfrm>
            <a:off x="2212848" y="3328416"/>
            <a:ext cx="5285232" cy="694944"/>
          </a:xfrm>
          <a:prstGeom prst="rect">
            <a:avLst/>
          </a:prstGeom>
          <a:noFill/>
        </p:spPr>
        <p:txBody>
          <a:bodyPr wrap="square" lIns="27432" rIns="27432" tIns="27432" bIns="27432" anchor="t">
            <a:spAutoFit/>
          </a:bodyPr>
          <a:lstStyle/>
          <a:p>
            <a:pPr algn="l"/>
            <a:r>
              <a:rPr sz="1600" b="0" i="0">
                <a:solidFill>
                  <a:srgbClr val="202A36"/>
                </a:solidFill>
                <a:latin typeface="Aptos"/>
              </a:rPr>
              <a:t>Silk held prestige; hemp and later cotton were also important. Access depended on region and status.</a:t>
            </a:r>
          </a:p>
        </p:txBody>
      </p:sp>
      <p:sp>
        <p:nvSpPr>
          <p:cNvPr id="21" name="Rounded Rectangle 20"/>
          <p:cNvSpPr/>
          <p:nvPr/>
        </p:nvSpPr>
        <p:spPr>
          <a:xfrm>
            <a:off x="612648" y="4425696"/>
            <a:ext cx="7132320" cy="1042415"/>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822960" y="4590288"/>
            <a:ext cx="1170432" cy="292608"/>
          </a:xfrm>
          <a:prstGeom prst="roundRect">
            <a:avLst>
              <a:gd name="adj" fmla="val 12000"/>
            </a:avLst>
          </a:prstGeom>
          <a:solidFill>
            <a:srgbClr val="5677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96112" y="4626864"/>
            <a:ext cx="1024128" cy="173736"/>
          </a:xfrm>
          <a:prstGeom prst="rect">
            <a:avLst/>
          </a:prstGeom>
          <a:noFill/>
        </p:spPr>
        <p:txBody>
          <a:bodyPr wrap="square" lIns="27432" rIns="27432" tIns="27432" bIns="27432" anchor="ctr">
            <a:spAutoFit/>
          </a:bodyPr>
          <a:lstStyle/>
          <a:p>
            <a:pPr algn="ctr"/>
            <a:r>
              <a:rPr sz="1000" b="1" i="0">
                <a:solidFill>
                  <a:srgbClr val="FFFFFF"/>
                </a:solidFill>
                <a:latin typeface="Aptos"/>
              </a:rPr>
              <a:t>DETAIL</a:t>
            </a:r>
          </a:p>
        </p:txBody>
      </p:sp>
      <p:sp>
        <p:nvSpPr>
          <p:cNvPr id="24" name="TextBox 23"/>
          <p:cNvSpPr txBox="1"/>
          <p:nvPr/>
        </p:nvSpPr>
        <p:spPr>
          <a:xfrm>
            <a:off x="2212848" y="4590288"/>
            <a:ext cx="5285232" cy="694944"/>
          </a:xfrm>
          <a:prstGeom prst="rect">
            <a:avLst/>
          </a:prstGeom>
          <a:noFill/>
        </p:spPr>
        <p:txBody>
          <a:bodyPr wrap="square" lIns="27432" rIns="27432" tIns="27432" bIns="27432" anchor="t">
            <a:spAutoFit/>
          </a:bodyPr>
          <a:lstStyle/>
          <a:p>
            <a:pPr algn="l"/>
            <a:r>
              <a:rPr sz="1600" b="0" i="0">
                <a:solidFill>
                  <a:srgbClr val="202A36"/>
                </a:solidFill>
                <a:latin typeface="Aptos"/>
              </a:rPr>
              <a:t>Sleeves, sashes, woven patterns, and accessories could signal occasion, identity, or rank.</a:t>
            </a:r>
          </a:p>
        </p:txBody>
      </p:sp>
      <p:sp>
        <p:nvSpPr>
          <p:cNvPr id="25" name="TextBox 24"/>
          <p:cNvSpPr txBox="1"/>
          <p:nvPr/>
        </p:nvSpPr>
        <p:spPr>
          <a:xfrm>
            <a:off x="804672" y="5897880"/>
            <a:ext cx="6995160" cy="329184"/>
          </a:xfrm>
          <a:prstGeom prst="rect">
            <a:avLst/>
          </a:prstGeom>
          <a:noFill/>
        </p:spPr>
        <p:txBody>
          <a:bodyPr wrap="square" lIns="27432" rIns="27432" tIns="27432" bIns="27432" anchor="t">
            <a:spAutoFit/>
          </a:bodyPr>
          <a:lstStyle/>
          <a:p>
            <a:pPr algn="l"/>
            <a:r>
              <a:rPr sz="1400" b="1" i="0">
                <a:solidFill>
                  <a:srgbClr val="B9472D"/>
                </a:solidFill>
                <a:latin typeface="Aptos"/>
              </a:rPr>
              <a:t>Think: the same broad garment language could look very different across centuries.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2E9"/>
        </a:solidFill>
        <a:effectLst/>
      </p:bgPr>
    </p:bg>
    <p:spTree>
      <p:nvGrpSpPr>
        <p:cNvPr id="1" name=""/>
        <p:cNvGrpSpPr/>
        <p:nvPr/>
      </p:nvGrpSpPr>
      <p:grpSpPr/>
      <p:sp>
        <p:nvSpPr>
          <p:cNvPr id="2" name="Rectangle 1"/>
          <p:cNvSpPr/>
          <p:nvPr/>
        </p:nvSpPr>
        <p:spPr>
          <a:xfrm>
            <a:off x="0" y="0"/>
            <a:ext cx="155448" cy="6858000"/>
          </a:xfrm>
          <a:prstGeom prst="rect">
            <a:avLst/>
          </a:prstGeom>
          <a:solidFill>
            <a:srgbClr val="B947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38912" y="228600"/>
            <a:ext cx="7315200" cy="201168"/>
          </a:xfrm>
          <a:prstGeom prst="rect">
            <a:avLst/>
          </a:prstGeom>
          <a:noFill/>
        </p:spPr>
        <p:txBody>
          <a:bodyPr wrap="square" lIns="27432" rIns="27432" tIns="27432" bIns="27432" anchor="t">
            <a:spAutoFit/>
          </a:bodyPr>
          <a:lstStyle/>
          <a:p>
            <a:pPr algn="l"/>
            <a:r>
              <a:rPr sz="1000" b="1" i="0">
                <a:solidFill>
                  <a:srgbClr val="B9472D"/>
                </a:solidFill>
                <a:latin typeface="Aptos"/>
              </a:rPr>
              <a:t>DYEING TRADITIONS</a:t>
            </a:r>
          </a:p>
        </p:txBody>
      </p:sp>
      <p:sp>
        <p:nvSpPr>
          <p:cNvPr id="4" name="Rectangle 3"/>
          <p:cNvSpPr/>
          <p:nvPr/>
        </p:nvSpPr>
        <p:spPr>
          <a:xfrm>
            <a:off x="438912" y="576072"/>
            <a:ext cx="11292840" cy="13716"/>
          </a:xfrm>
          <a:prstGeom prst="rect">
            <a:avLst/>
          </a:prstGeom>
          <a:solidFill>
            <a:srgbClr val="D9CEB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744200" y="6547104"/>
            <a:ext cx="960120" cy="164592"/>
          </a:xfrm>
          <a:prstGeom prst="rect">
            <a:avLst/>
          </a:prstGeom>
          <a:noFill/>
        </p:spPr>
        <p:txBody>
          <a:bodyPr wrap="square" lIns="27432" rIns="27432" tIns="27432" bIns="27432" anchor="t">
            <a:spAutoFit/>
          </a:bodyPr>
          <a:lstStyle/>
          <a:p>
            <a:pPr algn="r"/>
            <a:r>
              <a:rPr sz="900" b="1" i="0">
                <a:solidFill>
                  <a:srgbClr val="63707A"/>
                </a:solidFill>
                <a:latin typeface="Aptos"/>
              </a:rPr>
              <a:t>04  /  8</a:t>
            </a:r>
          </a:p>
        </p:txBody>
      </p:sp>
      <p:sp>
        <p:nvSpPr>
          <p:cNvPr id="6" name="TextBox 5"/>
          <p:cNvSpPr txBox="1"/>
          <p:nvPr/>
        </p:nvSpPr>
        <p:spPr>
          <a:xfrm>
            <a:off x="9326880" y="228600"/>
            <a:ext cx="2377440" cy="201168"/>
          </a:xfrm>
          <a:prstGeom prst="rect">
            <a:avLst/>
          </a:prstGeom>
          <a:noFill/>
        </p:spPr>
        <p:txBody>
          <a:bodyPr wrap="square" lIns="27432" rIns="27432" tIns="27432" bIns="27432" anchor="t">
            <a:spAutoFit/>
          </a:bodyPr>
          <a:lstStyle/>
          <a:p>
            <a:pPr algn="r"/>
            <a:r>
              <a:rPr sz="1000" b="1" i="0">
                <a:solidFill>
                  <a:srgbClr val="63707A"/>
                </a:solidFill>
                <a:latin typeface="Aptos"/>
              </a:rPr>
              <a:t>1:45–2:40  •  55 sec</a:t>
            </a:r>
          </a:p>
        </p:txBody>
      </p:sp>
      <p:sp>
        <p:nvSpPr>
          <p:cNvPr id="7" name="TextBox 6"/>
          <p:cNvSpPr txBox="1"/>
          <p:nvPr/>
        </p:nvSpPr>
        <p:spPr>
          <a:xfrm>
            <a:off x="502920" y="758952"/>
            <a:ext cx="11109960" cy="502920"/>
          </a:xfrm>
          <a:prstGeom prst="rect">
            <a:avLst/>
          </a:prstGeom>
          <a:noFill/>
        </p:spPr>
        <p:txBody>
          <a:bodyPr wrap="square" lIns="27432" rIns="27432" tIns="27432" bIns="27432" anchor="t">
            <a:spAutoFit/>
          </a:bodyPr>
          <a:lstStyle/>
          <a:p>
            <a:pPr algn="l"/>
            <a:r>
              <a:rPr sz="2900" b="1" i="0">
                <a:solidFill>
                  <a:srgbClr val="202A36"/>
                </a:solidFill>
                <a:latin typeface="Georgia"/>
              </a:rPr>
              <a:t>Color begins with a source—and a process</a:t>
            </a:r>
          </a:p>
        </p:txBody>
      </p:sp>
      <p:sp>
        <p:nvSpPr>
          <p:cNvPr id="8" name="TextBox 7"/>
          <p:cNvSpPr txBox="1"/>
          <p:nvPr/>
        </p:nvSpPr>
        <p:spPr>
          <a:xfrm>
            <a:off x="530352" y="1298448"/>
            <a:ext cx="11064240" cy="365760"/>
          </a:xfrm>
          <a:prstGeom prst="rect">
            <a:avLst/>
          </a:prstGeom>
          <a:noFill/>
        </p:spPr>
        <p:txBody>
          <a:bodyPr wrap="square" lIns="27432" rIns="27432" tIns="27432" bIns="27432" anchor="t">
            <a:spAutoFit/>
          </a:bodyPr>
          <a:lstStyle/>
          <a:p>
            <a:pPr algn="l"/>
            <a:r>
              <a:rPr sz="1500" b="0" i="0">
                <a:solidFill>
                  <a:srgbClr val="63707A"/>
                </a:solidFill>
                <a:latin typeface="Aptos"/>
              </a:rPr>
              <a:t>Natural dyes, fiber choice, and repeated dyeing shape the final color and pattern.</a:t>
            </a:r>
          </a:p>
        </p:txBody>
      </p:sp>
      <p:sp>
        <p:nvSpPr>
          <p:cNvPr id="9" name="Rounded Rectangle 8"/>
          <p:cNvSpPr/>
          <p:nvPr/>
        </p:nvSpPr>
        <p:spPr>
          <a:xfrm>
            <a:off x="594360" y="1828800"/>
            <a:ext cx="5349240" cy="342900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217920" y="1828800"/>
            <a:ext cx="5349240" cy="342900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841248" y="2057400"/>
            <a:ext cx="1143000" cy="292608"/>
          </a:xfrm>
          <a:prstGeom prst="roundRect">
            <a:avLst>
              <a:gd name="adj" fmla="val 12000"/>
            </a:avLst>
          </a:prstGeom>
          <a:solidFill>
            <a:srgbClr val="243B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2093976"/>
            <a:ext cx="996696" cy="173736"/>
          </a:xfrm>
          <a:prstGeom prst="rect">
            <a:avLst/>
          </a:prstGeom>
          <a:noFill/>
        </p:spPr>
        <p:txBody>
          <a:bodyPr wrap="square" lIns="27432" rIns="27432" tIns="27432" bIns="27432" anchor="ctr">
            <a:spAutoFit/>
          </a:bodyPr>
          <a:lstStyle/>
          <a:p>
            <a:pPr algn="ctr"/>
            <a:r>
              <a:rPr sz="1000" b="1" i="0">
                <a:solidFill>
                  <a:srgbClr val="FFFFFF"/>
                </a:solidFill>
                <a:latin typeface="Aptos"/>
              </a:rPr>
              <a:t>CHINA</a:t>
            </a:r>
          </a:p>
        </p:txBody>
      </p:sp>
      <p:sp>
        <p:nvSpPr>
          <p:cNvPr id="13" name="Rounded Rectangle 12"/>
          <p:cNvSpPr/>
          <p:nvPr/>
        </p:nvSpPr>
        <p:spPr>
          <a:xfrm>
            <a:off x="6473952" y="2057400"/>
            <a:ext cx="1508760" cy="292608"/>
          </a:xfrm>
          <a:prstGeom prst="roundRect">
            <a:avLst>
              <a:gd name="adj" fmla="val 12000"/>
            </a:avLst>
          </a:prstGeom>
          <a:solidFill>
            <a:srgbClr val="B947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47104" y="2093976"/>
            <a:ext cx="1362456" cy="173736"/>
          </a:xfrm>
          <a:prstGeom prst="rect">
            <a:avLst/>
          </a:prstGeom>
          <a:noFill/>
        </p:spPr>
        <p:txBody>
          <a:bodyPr wrap="square" lIns="27432" rIns="27432" tIns="27432" bIns="27432" anchor="ctr">
            <a:spAutoFit/>
          </a:bodyPr>
          <a:lstStyle/>
          <a:p>
            <a:pPr algn="ctr"/>
            <a:r>
              <a:rPr sz="1000" b="1" i="0">
                <a:solidFill>
                  <a:srgbClr val="FFFFFF"/>
                </a:solidFill>
                <a:latin typeface="Aptos"/>
              </a:rPr>
              <a:t>MOROCCO</a:t>
            </a:r>
          </a:p>
        </p:txBody>
      </p:sp>
      <p:sp>
        <p:nvSpPr>
          <p:cNvPr id="15" name="TextBox 14"/>
          <p:cNvSpPr txBox="1"/>
          <p:nvPr/>
        </p:nvSpPr>
        <p:spPr>
          <a:xfrm>
            <a:off x="859536" y="2487168"/>
            <a:ext cx="4709160" cy="292608"/>
          </a:xfrm>
          <a:prstGeom prst="rect">
            <a:avLst/>
          </a:prstGeom>
          <a:noFill/>
        </p:spPr>
        <p:txBody>
          <a:bodyPr wrap="square" lIns="27432" rIns="27432" tIns="27432" bIns="27432" anchor="t">
            <a:spAutoFit/>
          </a:bodyPr>
          <a:lstStyle/>
          <a:p>
            <a:pPr algn="l"/>
            <a:r>
              <a:rPr sz="1600" b="1" i="0">
                <a:solidFill>
                  <a:srgbClr val="202A36"/>
                </a:solidFill>
                <a:latin typeface="Aptos"/>
              </a:rPr>
              <a:t>Examples of traditional dye sources</a:t>
            </a:r>
          </a:p>
        </p:txBody>
      </p:sp>
      <p:sp>
        <p:nvSpPr>
          <p:cNvPr id="16" name="TextBox 15"/>
          <p:cNvSpPr txBox="1"/>
          <p:nvPr/>
        </p:nvSpPr>
        <p:spPr>
          <a:xfrm>
            <a:off x="6492240" y="2487168"/>
            <a:ext cx="4709160" cy="292608"/>
          </a:xfrm>
          <a:prstGeom prst="rect">
            <a:avLst/>
          </a:prstGeom>
          <a:noFill/>
        </p:spPr>
        <p:txBody>
          <a:bodyPr wrap="square" lIns="27432" rIns="27432" tIns="27432" bIns="27432" anchor="t">
            <a:spAutoFit/>
          </a:bodyPr>
          <a:lstStyle/>
          <a:p>
            <a:pPr algn="l"/>
            <a:r>
              <a:rPr sz="1600" b="1" i="0">
                <a:solidFill>
                  <a:srgbClr val="202A36"/>
                </a:solidFill>
                <a:latin typeface="Aptos"/>
              </a:rPr>
              <a:t>Examples of regional dye sources</a:t>
            </a:r>
          </a:p>
        </p:txBody>
      </p:sp>
      <p:sp>
        <p:nvSpPr>
          <p:cNvPr id="17" name="Rounded Rectangle 16"/>
          <p:cNvSpPr/>
          <p:nvPr/>
        </p:nvSpPr>
        <p:spPr>
          <a:xfrm>
            <a:off x="877824" y="2990088"/>
            <a:ext cx="256032" cy="256032"/>
          </a:xfrm>
          <a:prstGeom prst="roundRect">
            <a:avLst>
              <a:gd name="adj" fmla="val 12000"/>
            </a:avLst>
          </a:prstGeom>
          <a:solidFill>
            <a:srgbClr val="243B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271016" y="2980944"/>
            <a:ext cx="4343400" cy="301752"/>
          </a:xfrm>
          <a:prstGeom prst="rect">
            <a:avLst/>
          </a:prstGeom>
          <a:noFill/>
        </p:spPr>
        <p:txBody>
          <a:bodyPr wrap="square" lIns="27432" rIns="27432" tIns="18288" bIns="18288">
            <a:spAutoFit/>
          </a:bodyPr>
          <a:lstStyle/>
          <a:p>
            <a:pPr algn="l"/>
            <a:r>
              <a:rPr sz="1400" b="1">
                <a:solidFill>
                  <a:srgbClr val="202A36"/>
                </a:solidFill>
                <a:latin typeface="Aptos"/>
              </a:rPr>
              <a:t>INDIGO</a:t>
            </a:r>
            <a:r>
              <a:rPr sz="1400" b="0">
                <a:solidFill>
                  <a:srgbClr val="63707A"/>
                </a:solidFill>
                <a:latin typeface="Aptos"/>
              </a:rPr>
              <a:t>  →  blue</a:t>
            </a:r>
          </a:p>
        </p:txBody>
      </p:sp>
      <p:sp>
        <p:nvSpPr>
          <p:cNvPr id="19" name="Rounded Rectangle 18"/>
          <p:cNvSpPr/>
          <p:nvPr/>
        </p:nvSpPr>
        <p:spPr>
          <a:xfrm>
            <a:off x="877824" y="3566160"/>
            <a:ext cx="256032" cy="256032"/>
          </a:xfrm>
          <a:prstGeom prst="roundRect">
            <a:avLst>
              <a:gd name="adj" fmla="val 12000"/>
            </a:avLst>
          </a:prstGeom>
          <a:solidFill>
            <a:srgbClr val="B947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271016" y="3557016"/>
            <a:ext cx="4343400" cy="301752"/>
          </a:xfrm>
          <a:prstGeom prst="rect">
            <a:avLst/>
          </a:prstGeom>
          <a:noFill/>
        </p:spPr>
        <p:txBody>
          <a:bodyPr wrap="square" lIns="27432" rIns="27432" tIns="18288" bIns="18288">
            <a:spAutoFit/>
          </a:bodyPr>
          <a:lstStyle/>
          <a:p>
            <a:pPr algn="l"/>
            <a:r>
              <a:rPr sz="1400" b="1">
                <a:solidFill>
                  <a:srgbClr val="202A36"/>
                </a:solidFill>
                <a:latin typeface="Aptos"/>
              </a:rPr>
              <a:t>SAFFLOWER</a:t>
            </a:r>
            <a:r>
              <a:rPr sz="1400" b="0">
                <a:solidFill>
                  <a:srgbClr val="63707A"/>
                </a:solidFill>
                <a:latin typeface="Aptos"/>
              </a:rPr>
              <a:t>  →  red / pink</a:t>
            </a:r>
          </a:p>
        </p:txBody>
      </p:sp>
      <p:sp>
        <p:nvSpPr>
          <p:cNvPr id="21" name="Rounded Rectangle 20"/>
          <p:cNvSpPr/>
          <p:nvPr/>
        </p:nvSpPr>
        <p:spPr>
          <a:xfrm>
            <a:off x="877824" y="4142232"/>
            <a:ext cx="256032" cy="256032"/>
          </a:xfrm>
          <a:prstGeom prst="roundRect">
            <a:avLst>
              <a:gd name="adj" fmla="val 12000"/>
            </a:avLst>
          </a:prstGeom>
          <a:solidFill>
            <a:srgbClr val="D8A6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271016" y="4133088"/>
            <a:ext cx="4343400" cy="301752"/>
          </a:xfrm>
          <a:prstGeom prst="rect">
            <a:avLst/>
          </a:prstGeom>
          <a:noFill/>
        </p:spPr>
        <p:txBody>
          <a:bodyPr wrap="square" lIns="27432" rIns="27432" tIns="18288" bIns="18288">
            <a:spAutoFit/>
          </a:bodyPr>
          <a:lstStyle/>
          <a:p>
            <a:pPr algn="l"/>
            <a:r>
              <a:rPr sz="1400" b="1">
                <a:solidFill>
                  <a:srgbClr val="202A36"/>
                </a:solidFill>
                <a:latin typeface="Aptos"/>
              </a:rPr>
              <a:t>GARDENIA</a:t>
            </a:r>
            <a:r>
              <a:rPr sz="1400" b="0">
                <a:solidFill>
                  <a:srgbClr val="63707A"/>
                </a:solidFill>
                <a:latin typeface="Aptos"/>
              </a:rPr>
              <a:t>  →  yellow</a:t>
            </a:r>
          </a:p>
        </p:txBody>
      </p:sp>
      <p:sp>
        <p:nvSpPr>
          <p:cNvPr id="23" name="Rounded Rectangle 22"/>
          <p:cNvSpPr/>
          <p:nvPr/>
        </p:nvSpPr>
        <p:spPr>
          <a:xfrm>
            <a:off x="6510528" y="2990088"/>
            <a:ext cx="256032" cy="256032"/>
          </a:xfrm>
          <a:prstGeom prst="roundRect">
            <a:avLst>
              <a:gd name="adj" fmla="val 12000"/>
            </a:avLst>
          </a:prstGeom>
          <a:solidFill>
            <a:srgbClr val="243B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903720" y="2980944"/>
            <a:ext cx="4343400" cy="301752"/>
          </a:xfrm>
          <a:prstGeom prst="rect">
            <a:avLst/>
          </a:prstGeom>
          <a:noFill/>
        </p:spPr>
        <p:txBody>
          <a:bodyPr wrap="square" lIns="27432" rIns="27432" tIns="18288" bIns="18288">
            <a:spAutoFit/>
          </a:bodyPr>
          <a:lstStyle/>
          <a:p>
            <a:pPr algn="l"/>
            <a:r>
              <a:rPr sz="1400" b="1">
                <a:solidFill>
                  <a:srgbClr val="202A36"/>
                </a:solidFill>
                <a:latin typeface="Aptos"/>
              </a:rPr>
              <a:t>INDIGO</a:t>
            </a:r>
            <a:r>
              <a:rPr sz="1400" b="0">
                <a:solidFill>
                  <a:srgbClr val="63707A"/>
                </a:solidFill>
                <a:latin typeface="Aptos"/>
              </a:rPr>
              <a:t>  →  blue</a:t>
            </a:r>
          </a:p>
        </p:txBody>
      </p:sp>
      <p:sp>
        <p:nvSpPr>
          <p:cNvPr id="25" name="Rounded Rectangle 24"/>
          <p:cNvSpPr/>
          <p:nvPr/>
        </p:nvSpPr>
        <p:spPr>
          <a:xfrm>
            <a:off x="6510528" y="3566160"/>
            <a:ext cx="256032" cy="256032"/>
          </a:xfrm>
          <a:prstGeom prst="roundRect">
            <a:avLst>
              <a:gd name="adj" fmla="val 12000"/>
            </a:avLst>
          </a:prstGeom>
          <a:solidFill>
            <a:srgbClr val="B86A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903720" y="3557016"/>
            <a:ext cx="4343400" cy="301752"/>
          </a:xfrm>
          <a:prstGeom prst="rect">
            <a:avLst/>
          </a:prstGeom>
          <a:noFill/>
        </p:spPr>
        <p:txBody>
          <a:bodyPr wrap="square" lIns="27432" rIns="27432" tIns="18288" bIns="18288">
            <a:spAutoFit/>
          </a:bodyPr>
          <a:lstStyle/>
          <a:p>
            <a:pPr algn="l"/>
            <a:r>
              <a:rPr sz="1400" b="1">
                <a:solidFill>
                  <a:srgbClr val="202A36"/>
                </a:solidFill>
                <a:latin typeface="Aptos"/>
              </a:rPr>
              <a:t>HENNA</a:t>
            </a:r>
            <a:r>
              <a:rPr sz="1400" b="0">
                <a:solidFill>
                  <a:srgbClr val="63707A"/>
                </a:solidFill>
                <a:latin typeface="Aptos"/>
              </a:rPr>
              <a:t>  →  rust / orange</a:t>
            </a:r>
          </a:p>
        </p:txBody>
      </p:sp>
      <p:sp>
        <p:nvSpPr>
          <p:cNvPr id="27" name="Rounded Rectangle 26"/>
          <p:cNvSpPr/>
          <p:nvPr/>
        </p:nvSpPr>
        <p:spPr>
          <a:xfrm>
            <a:off x="6510528" y="4142232"/>
            <a:ext cx="256032" cy="256032"/>
          </a:xfrm>
          <a:prstGeom prst="roundRect">
            <a:avLst>
              <a:gd name="adj" fmla="val 12000"/>
            </a:avLst>
          </a:prstGeom>
          <a:solidFill>
            <a:srgbClr val="A83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903720" y="4133088"/>
            <a:ext cx="4343400" cy="301752"/>
          </a:xfrm>
          <a:prstGeom prst="rect">
            <a:avLst/>
          </a:prstGeom>
          <a:noFill/>
        </p:spPr>
        <p:txBody>
          <a:bodyPr wrap="square" lIns="27432" rIns="27432" tIns="18288" bIns="18288">
            <a:spAutoFit/>
          </a:bodyPr>
          <a:lstStyle/>
          <a:p>
            <a:pPr algn="l"/>
            <a:r>
              <a:rPr sz="1400" b="1">
                <a:solidFill>
                  <a:srgbClr val="202A36"/>
                </a:solidFill>
                <a:latin typeface="Aptos"/>
              </a:rPr>
              <a:t>MADDER</a:t>
            </a:r>
            <a:r>
              <a:rPr sz="1400" b="0">
                <a:solidFill>
                  <a:srgbClr val="63707A"/>
                </a:solidFill>
                <a:latin typeface="Aptos"/>
              </a:rPr>
              <a:t>  →  red</a:t>
            </a:r>
          </a:p>
        </p:txBody>
      </p:sp>
      <p:sp>
        <p:nvSpPr>
          <p:cNvPr id="29" name="Rounded Rectangle 28"/>
          <p:cNvSpPr/>
          <p:nvPr/>
        </p:nvSpPr>
        <p:spPr>
          <a:xfrm>
            <a:off x="731520" y="5541264"/>
            <a:ext cx="10881360" cy="585216"/>
          </a:xfrm>
          <a:prstGeom prst="roundRect">
            <a:avLst>
              <a:gd name="adj" fmla="val 12000"/>
            </a:avLst>
          </a:prstGeom>
          <a:solidFill>
            <a:srgbClr val="EEE4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60120" y="5724144"/>
            <a:ext cx="10378440" cy="237744"/>
          </a:xfrm>
          <a:prstGeom prst="rect">
            <a:avLst/>
          </a:prstGeom>
          <a:noFill/>
        </p:spPr>
        <p:txBody>
          <a:bodyPr wrap="square" lIns="27432" rIns="27432" tIns="18288" bIns="18288">
            <a:spAutoFit/>
          </a:bodyPr>
          <a:lstStyle/>
          <a:p>
            <a:pPr algn="l"/>
            <a:r>
              <a:rPr sz="1500" b="1">
                <a:solidFill>
                  <a:srgbClr val="B9472D"/>
                </a:solidFill>
                <a:latin typeface="Aptos"/>
              </a:rPr>
              <a:t>Shared craft: </a:t>
            </a:r>
            <a:r>
              <a:rPr sz="1500" b="0">
                <a:solidFill>
                  <a:srgbClr val="202A36"/>
                </a:solidFill>
                <a:latin typeface="Aptos"/>
              </a:rPr>
              <a:t>prepare the fiber → apply color (often with a mordant) → rinse, dry, and repeat for depth.</a:t>
            </a:r>
          </a:p>
        </p:txBody>
      </p:sp>
      <p:sp>
        <p:nvSpPr>
          <p:cNvPr id="31" name="TextBox 30"/>
          <p:cNvSpPr txBox="1"/>
          <p:nvPr/>
        </p:nvSpPr>
        <p:spPr>
          <a:xfrm>
            <a:off x="868680" y="6236208"/>
            <a:ext cx="10424160" cy="201168"/>
          </a:xfrm>
          <a:prstGeom prst="rect">
            <a:avLst/>
          </a:prstGeom>
          <a:noFill/>
        </p:spPr>
        <p:txBody>
          <a:bodyPr wrap="square" lIns="27432" rIns="27432" tIns="27432" bIns="27432" anchor="t">
            <a:spAutoFit/>
          </a:bodyPr>
          <a:lstStyle/>
          <a:p>
            <a:pPr algn="l"/>
            <a:r>
              <a:rPr sz="1000" b="0" i="1">
                <a:solidFill>
                  <a:srgbClr val="63707A"/>
                </a:solidFill>
                <a:latin typeface="Aptos"/>
              </a:rPr>
              <a:t>Dye plants and recipes varied by region and era; modern textiles may use synthetic dyes.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2E9"/>
        </a:solidFill>
        <a:effectLst/>
      </p:bgPr>
    </p:bg>
    <p:spTree>
      <p:nvGrpSpPr>
        <p:cNvPr id="1" name=""/>
        <p:cNvGrpSpPr/>
        <p:nvPr/>
      </p:nvGrpSpPr>
      <p:grpSpPr/>
      <p:sp>
        <p:nvSpPr>
          <p:cNvPr id="2" name="Rectangle 1"/>
          <p:cNvSpPr/>
          <p:nvPr/>
        </p:nvSpPr>
        <p:spPr>
          <a:xfrm>
            <a:off x="0" y="0"/>
            <a:ext cx="155448" cy="6858000"/>
          </a:xfrm>
          <a:prstGeom prst="rect">
            <a:avLst/>
          </a:prstGeom>
          <a:solidFill>
            <a:srgbClr val="B947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38912" y="228600"/>
            <a:ext cx="7315200" cy="201168"/>
          </a:xfrm>
          <a:prstGeom prst="rect">
            <a:avLst/>
          </a:prstGeom>
          <a:noFill/>
        </p:spPr>
        <p:txBody>
          <a:bodyPr wrap="square" lIns="27432" rIns="27432" tIns="27432" bIns="27432" anchor="t">
            <a:spAutoFit/>
          </a:bodyPr>
          <a:lstStyle/>
          <a:p>
            <a:pPr algn="l"/>
            <a:r>
              <a:rPr sz="1000" b="1" i="0">
                <a:solidFill>
                  <a:srgbClr val="B9472D"/>
                </a:solidFill>
                <a:latin typeface="Aptos"/>
              </a:rPr>
              <a:t>STYLE THROUGH TIME</a:t>
            </a:r>
          </a:p>
        </p:txBody>
      </p:sp>
      <p:sp>
        <p:nvSpPr>
          <p:cNvPr id="4" name="Rectangle 3"/>
          <p:cNvSpPr/>
          <p:nvPr/>
        </p:nvSpPr>
        <p:spPr>
          <a:xfrm>
            <a:off x="438912" y="576072"/>
            <a:ext cx="11292840" cy="13716"/>
          </a:xfrm>
          <a:prstGeom prst="rect">
            <a:avLst/>
          </a:prstGeom>
          <a:solidFill>
            <a:srgbClr val="D9CEB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744200" y="6547104"/>
            <a:ext cx="960120" cy="164592"/>
          </a:xfrm>
          <a:prstGeom prst="rect">
            <a:avLst/>
          </a:prstGeom>
          <a:noFill/>
        </p:spPr>
        <p:txBody>
          <a:bodyPr wrap="square" lIns="27432" rIns="27432" tIns="27432" bIns="27432" anchor="t">
            <a:spAutoFit/>
          </a:bodyPr>
          <a:lstStyle/>
          <a:p>
            <a:pPr algn="r"/>
            <a:r>
              <a:rPr sz="900" b="1" i="0">
                <a:solidFill>
                  <a:srgbClr val="63707A"/>
                </a:solidFill>
                <a:latin typeface="Aptos"/>
              </a:rPr>
              <a:t>05  /  8</a:t>
            </a:r>
          </a:p>
        </p:txBody>
      </p:sp>
      <p:sp>
        <p:nvSpPr>
          <p:cNvPr id="6" name="TextBox 5"/>
          <p:cNvSpPr txBox="1"/>
          <p:nvPr/>
        </p:nvSpPr>
        <p:spPr>
          <a:xfrm>
            <a:off x="9326880" y="228600"/>
            <a:ext cx="2377440" cy="201168"/>
          </a:xfrm>
          <a:prstGeom prst="rect">
            <a:avLst/>
          </a:prstGeom>
          <a:noFill/>
        </p:spPr>
        <p:txBody>
          <a:bodyPr wrap="square" lIns="27432" rIns="27432" tIns="27432" bIns="27432" anchor="t">
            <a:spAutoFit/>
          </a:bodyPr>
          <a:lstStyle/>
          <a:p>
            <a:pPr algn="r"/>
            <a:r>
              <a:rPr sz="1000" b="1" i="0">
                <a:solidFill>
                  <a:srgbClr val="63707A"/>
                </a:solidFill>
                <a:latin typeface="Aptos"/>
              </a:rPr>
              <a:t>2:40–3:25  •  45 sec</a:t>
            </a:r>
          </a:p>
        </p:txBody>
      </p:sp>
      <p:sp>
        <p:nvSpPr>
          <p:cNvPr id="7" name="TextBox 6"/>
          <p:cNvSpPr txBox="1"/>
          <p:nvPr/>
        </p:nvSpPr>
        <p:spPr>
          <a:xfrm>
            <a:off x="502920" y="758952"/>
            <a:ext cx="11109960" cy="502920"/>
          </a:xfrm>
          <a:prstGeom prst="rect">
            <a:avLst/>
          </a:prstGeom>
          <a:noFill/>
        </p:spPr>
        <p:txBody>
          <a:bodyPr wrap="square" lIns="27432" rIns="27432" tIns="27432" bIns="27432" anchor="t">
            <a:spAutoFit/>
          </a:bodyPr>
          <a:lstStyle/>
          <a:p>
            <a:pPr algn="l"/>
            <a:r>
              <a:rPr sz="2900" b="1" i="0">
                <a:solidFill>
                  <a:srgbClr val="202A36"/>
                </a:solidFill>
                <a:latin typeface="Georgia"/>
              </a:rPr>
              <a:t>Three eras, three visual moods</a:t>
            </a:r>
          </a:p>
        </p:txBody>
      </p:sp>
      <p:sp>
        <p:nvSpPr>
          <p:cNvPr id="8" name="TextBox 7"/>
          <p:cNvSpPr txBox="1"/>
          <p:nvPr/>
        </p:nvSpPr>
        <p:spPr>
          <a:xfrm>
            <a:off x="530352" y="1298448"/>
            <a:ext cx="11064240" cy="365760"/>
          </a:xfrm>
          <a:prstGeom prst="rect">
            <a:avLst/>
          </a:prstGeom>
          <a:noFill/>
        </p:spPr>
        <p:txBody>
          <a:bodyPr wrap="square" lIns="27432" rIns="27432" tIns="27432" bIns="27432" anchor="t">
            <a:spAutoFit/>
          </a:bodyPr>
          <a:lstStyle/>
          <a:p>
            <a:pPr algn="l"/>
            <a:r>
              <a:rPr sz="1500" b="0" i="0">
                <a:solidFill>
                  <a:srgbClr val="63707A"/>
                </a:solidFill>
                <a:latin typeface="Aptos"/>
              </a:rPr>
              <a:t>These are broad tendencies, not rules for every person or garment.</a:t>
            </a:r>
          </a:p>
        </p:txBody>
      </p:sp>
      <p:sp>
        <p:nvSpPr>
          <p:cNvPr id="9" name="Rounded Rectangle 8"/>
          <p:cNvSpPr/>
          <p:nvPr/>
        </p:nvSpPr>
        <p:spPr>
          <a:xfrm>
            <a:off x="640080" y="1965960"/>
            <a:ext cx="3474720" cy="3602736"/>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40080" y="1965960"/>
            <a:ext cx="3474720" cy="155448"/>
          </a:xfrm>
          <a:prstGeom prst="roundRect">
            <a:avLst>
              <a:gd name="adj" fmla="val 12000"/>
            </a:avLst>
          </a:prstGeom>
          <a:solidFill>
            <a:srgbClr val="B947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2313432"/>
            <a:ext cx="594360" cy="548640"/>
          </a:xfrm>
          <a:prstGeom prst="rect">
            <a:avLst/>
          </a:prstGeom>
          <a:noFill/>
        </p:spPr>
        <p:txBody>
          <a:bodyPr wrap="square" lIns="27432" rIns="27432" tIns="27432" bIns="27432" anchor="t">
            <a:spAutoFit/>
          </a:bodyPr>
          <a:lstStyle/>
          <a:p>
            <a:pPr algn="l"/>
            <a:r>
              <a:rPr sz="3200" b="1" i="0">
                <a:solidFill>
                  <a:srgbClr val="B9472D"/>
                </a:solidFill>
                <a:latin typeface="Georgia"/>
              </a:rPr>
              <a:t>✦</a:t>
            </a:r>
          </a:p>
        </p:txBody>
      </p:sp>
      <p:sp>
        <p:nvSpPr>
          <p:cNvPr id="12" name="TextBox 11"/>
          <p:cNvSpPr txBox="1"/>
          <p:nvPr/>
        </p:nvSpPr>
        <p:spPr>
          <a:xfrm>
            <a:off x="868680" y="2980944"/>
            <a:ext cx="2834640" cy="384048"/>
          </a:xfrm>
          <a:prstGeom prst="rect">
            <a:avLst/>
          </a:prstGeom>
          <a:noFill/>
        </p:spPr>
        <p:txBody>
          <a:bodyPr wrap="square" lIns="27432" rIns="27432" tIns="27432" bIns="27432" anchor="t">
            <a:spAutoFit/>
          </a:bodyPr>
          <a:lstStyle/>
          <a:p>
            <a:pPr algn="l"/>
            <a:r>
              <a:rPr sz="2200" b="1" i="0">
                <a:solidFill>
                  <a:srgbClr val="202A36"/>
                </a:solidFill>
                <a:latin typeface="Georgia"/>
              </a:rPr>
              <a:t>TANG</a:t>
            </a:r>
          </a:p>
        </p:txBody>
      </p:sp>
      <p:sp>
        <p:nvSpPr>
          <p:cNvPr id="13" name="TextBox 12"/>
          <p:cNvSpPr txBox="1"/>
          <p:nvPr/>
        </p:nvSpPr>
        <p:spPr>
          <a:xfrm>
            <a:off x="868680" y="3438144"/>
            <a:ext cx="2834640" cy="256032"/>
          </a:xfrm>
          <a:prstGeom prst="rect">
            <a:avLst/>
          </a:prstGeom>
          <a:noFill/>
        </p:spPr>
        <p:txBody>
          <a:bodyPr wrap="square" lIns="27432" rIns="27432" tIns="27432" bIns="27432" anchor="t">
            <a:spAutoFit/>
          </a:bodyPr>
          <a:lstStyle/>
          <a:p>
            <a:pPr algn="l"/>
            <a:r>
              <a:rPr sz="1200" b="1" i="0">
                <a:solidFill>
                  <a:srgbClr val="63707A"/>
                </a:solidFill>
                <a:latin typeface="Aptos"/>
              </a:rPr>
              <a:t>618–907</a:t>
            </a:r>
          </a:p>
        </p:txBody>
      </p:sp>
      <p:sp>
        <p:nvSpPr>
          <p:cNvPr id="14" name="TextBox 13"/>
          <p:cNvSpPr txBox="1"/>
          <p:nvPr/>
        </p:nvSpPr>
        <p:spPr>
          <a:xfrm>
            <a:off x="868680" y="3877056"/>
            <a:ext cx="2971800" cy="658368"/>
          </a:xfrm>
          <a:prstGeom prst="rect">
            <a:avLst/>
          </a:prstGeom>
          <a:noFill/>
        </p:spPr>
        <p:txBody>
          <a:bodyPr wrap="square" lIns="27432" rIns="27432" tIns="27432" bIns="27432" anchor="t">
            <a:spAutoFit/>
          </a:bodyPr>
          <a:lstStyle/>
          <a:p>
            <a:pPr algn="l"/>
            <a:r>
              <a:rPr sz="1700" b="1" i="0">
                <a:solidFill>
                  <a:srgbClr val="B9472D"/>
                </a:solidFill>
                <a:latin typeface="Aptos"/>
              </a:rPr>
              <a:t>Color, movement, and openness</a:t>
            </a:r>
          </a:p>
        </p:txBody>
      </p:sp>
      <p:sp>
        <p:nvSpPr>
          <p:cNvPr id="15" name="TextBox 14"/>
          <p:cNvSpPr txBox="1"/>
          <p:nvPr/>
        </p:nvSpPr>
        <p:spPr>
          <a:xfrm>
            <a:off x="868680" y="4645152"/>
            <a:ext cx="2971800" cy="685800"/>
          </a:xfrm>
          <a:prstGeom prst="rect">
            <a:avLst/>
          </a:prstGeom>
          <a:noFill/>
        </p:spPr>
        <p:txBody>
          <a:bodyPr wrap="square" lIns="27432" rIns="27432" tIns="27432" bIns="27432" anchor="t">
            <a:spAutoFit/>
          </a:bodyPr>
          <a:lstStyle/>
          <a:p>
            <a:pPr algn="l"/>
            <a:r>
              <a:rPr sz="1400" b="0" i="0">
                <a:solidFill>
                  <a:srgbClr val="202A36"/>
                </a:solidFill>
                <a:latin typeface="Aptos"/>
              </a:rPr>
              <a:t>A cosmopolitan court culture is often associated with vivid palettes and flowing forms.</a:t>
            </a:r>
          </a:p>
        </p:txBody>
      </p:sp>
      <p:sp>
        <p:nvSpPr>
          <p:cNvPr id="16" name="Rounded Rectangle 15"/>
          <p:cNvSpPr/>
          <p:nvPr/>
        </p:nvSpPr>
        <p:spPr>
          <a:xfrm>
            <a:off x="4453128" y="1965960"/>
            <a:ext cx="3474720" cy="3602736"/>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4453128" y="1965960"/>
            <a:ext cx="3474720" cy="155448"/>
          </a:xfrm>
          <a:prstGeom prst="roundRect">
            <a:avLst>
              <a:gd name="adj" fmla="val 12000"/>
            </a:avLst>
          </a:prstGeom>
          <a:solidFill>
            <a:srgbClr val="243B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81728" y="2313432"/>
            <a:ext cx="594360" cy="548640"/>
          </a:xfrm>
          <a:prstGeom prst="rect">
            <a:avLst/>
          </a:prstGeom>
          <a:noFill/>
        </p:spPr>
        <p:txBody>
          <a:bodyPr wrap="square" lIns="27432" rIns="27432" tIns="27432" bIns="27432" anchor="t">
            <a:spAutoFit/>
          </a:bodyPr>
          <a:lstStyle/>
          <a:p>
            <a:pPr algn="l"/>
            <a:r>
              <a:rPr sz="3200" b="1" i="0">
                <a:solidFill>
                  <a:srgbClr val="243B5A"/>
                </a:solidFill>
                <a:latin typeface="Georgia"/>
              </a:rPr>
              <a:t>◌</a:t>
            </a:r>
          </a:p>
        </p:txBody>
      </p:sp>
      <p:sp>
        <p:nvSpPr>
          <p:cNvPr id="19" name="TextBox 18"/>
          <p:cNvSpPr txBox="1"/>
          <p:nvPr/>
        </p:nvSpPr>
        <p:spPr>
          <a:xfrm>
            <a:off x="4681728" y="2980944"/>
            <a:ext cx="2834640" cy="384048"/>
          </a:xfrm>
          <a:prstGeom prst="rect">
            <a:avLst/>
          </a:prstGeom>
          <a:noFill/>
        </p:spPr>
        <p:txBody>
          <a:bodyPr wrap="square" lIns="27432" rIns="27432" tIns="27432" bIns="27432" anchor="t">
            <a:spAutoFit/>
          </a:bodyPr>
          <a:lstStyle/>
          <a:p>
            <a:pPr algn="l"/>
            <a:r>
              <a:rPr sz="2200" b="1" i="0">
                <a:solidFill>
                  <a:srgbClr val="202A36"/>
                </a:solidFill>
                <a:latin typeface="Georgia"/>
              </a:rPr>
              <a:t>SONG</a:t>
            </a:r>
          </a:p>
        </p:txBody>
      </p:sp>
      <p:sp>
        <p:nvSpPr>
          <p:cNvPr id="20" name="TextBox 19"/>
          <p:cNvSpPr txBox="1"/>
          <p:nvPr/>
        </p:nvSpPr>
        <p:spPr>
          <a:xfrm>
            <a:off x="4681728" y="3438144"/>
            <a:ext cx="2834640" cy="256032"/>
          </a:xfrm>
          <a:prstGeom prst="rect">
            <a:avLst/>
          </a:prstGeom>
          <a:noFill/>
        </p:spPr>
        <p:txBody>
          <a:bodyPr wrap="square" lIns="27432" rIns="27432" tIns="27432" bIns="27432" anchor="t">
            <a:spAutoFit/>
          </a:bodyPr>
          <a:lstStyle/>
          <a:p>
            <a:pPr algn="l"/>
            <a:r>
              <a:rPr sz="1200" b="1" i="0">
                <a:solidFill>
                  <a:srgbClr val="63707A"/>
                </a:solidFill>
                <a:latin typeface="Aptos"/>
              </a:rPr>
              <a:t>960–1279</a:t>
            </a:r>
          </a:p>
        </p:txBody>
      </p:sp>
      <p:sp>
        <p:nvSpPr>
          <p:cNvPr id="21" name="TextBox 20"/>
          <p:cNvSpPr txBox="1"/>
          <p:nvPr/>
        </p:nvSpPr>
        <p:spPr>
          <a:xfrm>
            <a:off x="4681728" y="3877056"/>
            <a:ext cx="2971800" cy="658368"/>
          </a:xfrm>
          <a:prstGeom prst="rect">
            <a:avLst/>
          </a:prstGeom>
          <a:noFill/>
        </p:spPr>
        <p:txBody>
          <a:bodyPr wrap="square" lIns="27432" rIns="27432" tIns="27432" bIns="27432" anchor="t">
            <a:spAutoFit/>
          </a:bodyPr>
          <a:lstStyle/>
          <a:p>
            <a:pPr algn="l"/>
            <a:r>
              <a:rPr sz="1700" b="1" i="0">
                <a:solidFill>
                  <a:srgbClr val="243B5A"/>
                </a:solidFill>
                <a:latin typeface="Aptos"/>
              </a:rPr>
              <a:t>Restraint and refinement</a:t>
            </a:r>
          </a:p>
        </p:txBody>
      </p:sp>
      <p:sp>
        <p:nvSpPr>
          <p:cNvPr id="22" name="TextBox 21"/>
          <p:cNvSpPr txBox="1"/>
          <p:nvPr/>
        </p:nvSpPr>
        <p:spPr>
          <a:xfrm>
            <a:off x="4681728" y="4645152"/>
            <a:ext cx="2971800" cy="685800"/>
          </a:xfrm>
          <a:prstGeom prst="rect">
            <a:avLst/>
          </a:prstGeom>
          <a:noFill/>
        </p:spPr>
        <p:txBody>
          <a:bodyPr wrap="square" lIns="27432" rIns="27432" tIns="27432" bIns="27432" anchor="t">
            <a:spAutoFit/>
          </a:bodyPr>
          <a:lstStyle/>
          <a:p>
            <a:pPr algn="l"/>
            <a:r>
              <a:rPr sz="1400" b="0" i="0">
                <a:solidFill>
                  <a:srgbClr val="202A36"/>
                </a:solidFill>
                <a:latin typeface="Aptos"/>
              </a:rPr>
              <a:t>Some elite ideals favored quieter colors, elegant lines, and balance with nature.</a:t>
            </a:r>
          </a:p>
        </p:txBody>
      </p:sp>
      <p:sp>
        <p:nvSpPr>
          <p:cNvPr id="23" name="Rounded Rectangle 22"/>
          <p:cNvSpPr/>
          <p:nvPr/>
        </p:nvSpPr>
        <p:spPr>
          <a:xfrm>
            <a:off x="8266175" y="1965960"/>
            <a:ext cx="3474720" cy="3602736"/>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8266175" y="1965960"/>
            <a:ext cx="3474720" cy="155448"/>
          </a:xfrm>
          <a:prstGeom prst="roundRect">
            <a:avLst>
              <a:gd name="adj" fmla="val 12000"/>
            </a:avLst>
          </a:prstGeom>
          <a:solidFill>
            <a:srgbClr val="5677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494776" y="2313432"/>
            <a:ext cx="594360" cy="548640"/>
          </a:xfrm>
          <a:prstGeom prst="rect">
            <a:avLst/>
          </a:prstGeom>
          <a:noFill/>
        </p:spPr>
        <p:txBody>
          <a:bodyPr wrap="square" lIns="27432" rIns="27432" tIns="27432" bIns="27432" anchor="t">
            <a:spAutoFit/>
          </a:bodyPr>
          <a:lstStyle/>
          <a:p>
            <a:pPr algn="l"/>
            <a:r>
              <a:rPr sz="3200" b="1" i="0">
                <a:solidFill>
                  <a:srgbClr val="567766"/>
                </a:solidFill>
                <a:latin typeface="Georgia"/>
              </a:rPr>
              <a:t>◇</a:t>
            </a:r>
          </a:p>
        </p:txBody>
      </p:sp>
      <p:sp>
        <p:nvSpPr>
          <p:cNvPr id="26" name="TextBox 25"/>
          <p:cNvSpPr txBox="1"/>
          <p:nvPr/>
        </p:nvSpPr>
        <p:spPr>
          <a:xfrm>
            <a:off x="8494776" y="2980944"/>
            <a:ext cx="2834640" cy="384048"/>
          </a:xfrm>
          <a:prstGeom prst="rect">
            <a:avLst/>
          </a:prstGeom>
          <a:noFill/>
        </p:spPr>
        <p:txBody>
          <a:bodyPr wrap="square" lIns="27432" rIns="27432" tIns="27432" bIns="27432" anchor="t">
            <a:spAutoFit/>
          </a:bodyPr>
          <a:lstStyle/>
          <a:p>
            <a:pPr algn="l"/>
            <a:r>
              <a:rPr sz="2200" b="1" i="0">
                <a:solidFill>
                  <a:srgbClr val="202A36"/>
                </a:solidFill>
                <a:latin typeface="Georgia"/>
              </a:rPr>
              <a:t>MING</a:t>
            </a:r>
          </a:p>
        </p:txBody>
      </p:sp>
      <p:sp>
        <p:nvSpPr>
          <p:cNvPr id="27" name="TextBox 26"/>
          <p:cNvSpPr txBox="1"/>
          <p:nvPr/>
        </p:nvSpPr>
        <p:spPr>
          <a:xfrm>
            <a:off x="8494776" y="3438144"/>
            <a:ext cx="2834640" cy="256032"/>
          </a:xfrm>
          <a:prstGeom prst="rect">
            <a:avLst/>
          </a:prstGeom>
          <a:noFill/>
        </p:spPr>
        <p:txBody>
          <a:bodyPr wrap="square" lIns="27432" rIns="27432" tIns="27432" bIns="27432" anchor="t">
            <a:spAutoFit/>
          </a:bodyPr>
          <a:lstStyle/>
          <a:p>
            <a:pPr algn="l"/>
            <a:r>
              <a:rPr sz="1200" b="1" i="0">
                <a:solidFill>
                  <a:srgbClr val="63707A"/>
                </a:solidFill>
                <a:latin typeface="Aptos"/>
              </a:rPr>
              <a:t>1368–1644</a:t>
            </a:r>
          </a:p>
        </p:txBody>
      </p:sp>
      <p:sp>
        <p:nvSpPr>
          <p:cNvPr id="28" name="TextBox 27"/>
          <p:cNvSpPr txBox="1"/>
          <p:nvPr/>
        </p:nvSpPr>
        <p:spPr>
          <a:xfrm>
            <a:off x="8494776" y="3877056"/>
            <a:ext cx="2971800" cy="658368"/>
          </a:xfrm>
          <a:prstGeom prst="rect">
            <a:avLst/>
          </a:prstGeom>
          <a:noFill/>
        </p:spPr>
        <p:txBody>
          <a:bodyPr wrap="square" lIns="27432" rIns="27432" tIns="27432" bIns="27432" anchor="t">
            <a:spAutoFit/>
          </a:bodyPr>
          <a:lstStyle/>
          <a:p>
            <a:pPr algn="l"/>
            <a:r>
              <a:rPr sz="1700" b="1" i="0">
                <a:solidFill>
                  <a:srgbClr val="567766"/>
                </a:solidFill>
                <a:latin typeface="Aptos"/>
              </a:rPr>
              <a:t>Structure and rich surface</a:t>
            </a:r>
          </a:p>
        </p:txBody>
      </p:sp>
      <p:sp>
        <p:nvSpPr>
          <p:cNvPr id="29" name="TextBox 28"/>
          <p:cNvSpPr txBox="1"/>
          <p:nvPr/>
        </p:nvSpPr>
        <p:spPr>
          <a:xfrm>
            <a:off x="8494776" y="4645152"/>
            <a:ext cx="2971800" cy="685800"/>
          </a:xfrm>
          <a:prstGeom prst="rect">
            <a:avLst/>
          </a:prstGeom>
          <a:noFill/>
        </p:spPr>
        <p:txBody>
          <a:bodyPr wrap="square" lIns="27432" rIns="27432" tIns="27432" bIns="27432" anchor="t">
            <a:spAutoFit/>
          </a:bodyPr>
          <a:lstStyle/>
          <a:p>
            <a:pPr algn="l"/>
            <a:r>
              <a:rPr sz="1400" b="0" i="0">
                <a:solidFill>
                  <a:srgbClr val="202A36"/>
                </a:solidFill>
                <a:latin typeface="Aptos"/>
              </a:rPr>
              <a:t>Layered robes, elaborate textiles, and formal dress could express status and occasion.</a:t>
            </a:r>
          </a:p>
        </p:txBody>
      </p:sp>
      <p:sp>
        <p:nvSpPr>
          <p:cNvPr id="30" name="Rectangle 29"/>
          <p:cNvSpPr/>
          <p:nvPr/>
        </p:nvSpPr>
        <p:spPr>
          <a:xfrm>
            <a:off x="1051560" y="5961888"/>
            <a:ext cx="10012680" cy="41148"/>
          </a:xfrm>
          <a:prstGeom prst="rect">
            <a:avLst/>
          </a:prstGeom>
          <a:solidFill>
            <a:srgbClr val="C9BBA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1051560" y="5879592"/>
            <a:ext cx="201168" cy="201168"/>
          </a:xfrm>
          <a:prstGeom prst="roundRect">
            <a:avLst>
              <a:gd name="adj" fmla="val 12000"/>
            </a:avLst>
          </a:prstGeom>
          <a:solidFill>
            <a:srgbClr val="B947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5376672" y="5879592"/>
            <a:ext cx="201168" cy="201168"/>
          </a:xfrm>
          <a:prstGeom prst="roundRect">
            <a:avLst>
              <a:gd name="adj" fmla="val 12000"/>
            </a:avLst>
          </a:prstGeom>
          <a:solidFill>
            <a:srgbClr val="243B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10789920" y="5879592"/>
            <a:ext cx="201168" cy="201168"/>
          </a:xfrm>
          <a:prstGeom prst="roundRect">
            <a:avLst>
              <a:gd name="adj" fmla="val 12000"/>
            </a:avLst>
          </a:prstGeom>
          <a:solidFill>
            <a:srgbClr val="5677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51560" y="6245352"/>
            <a:ext cx="9966960" cy="228600"/>
          </a:xfrm>
          <a:prstGeom prst="rect">
            <a:avLst/>
          </a:prstGeom>
          <a:noFill/>
        </p:spPr>
        <p:txBody>
          <a:bodyPr wrap="square" lIns="27432" rIns="27432" tIns="27432" bIns="27432" anchor="t">
            <a:spAutoFit/>
          </a:bodyPr>
          <a:lstStyle/>
          <a:p>
            <a:pPr algn="l"/>
            <a:r>
              <a:rPr sz="1300" b="0" i="1">
                <a:solidFill>
                  <a:srgbClr val="63707A"/>
                </a:solidFill>
                <a:latin typeface="Aptos"/>
              </a:rPr>
              <a:t>Notice how costume is a living record of changing taste, technology, and social life.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2E9"/>
        </a:solidFill>
        <a:effectLst/>
      </p:bgPr>
    </p:bg>
    <p:spTree>
      <p:nvGrpSpPr>
        <p:cNvPr id="1" name=""/>
        <p:cNvGrpSpPr/>
        <p:nvPr/>
      </p:nvGrpSpPr>
      <p:grpSpPr/>
      <p:sp>
        <p:nvSpPr>
          <p:cNvPr id="2" name="Rectangle 1"/>
          <p:cNvSpPr/>
          <p:nvPr/>
        </p:nvSpPr>
        <p:spPr>
          <a:xfrm>
            <a:off x="0" y="0"/>
            <a:ext cx="155448" cy="6858000"/>
          </a:xfrm>
          <a:prstGeom prst="rect">
            <a:avLst/>
          </a:prstGeom>
          <a:solidFill>
            <a:srgbClr val="B947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38912" y="228600"/>
            <a:ext cx="7315200" cy="201168"/>
          </a:xfrm>
          <a:prstGeom prst="rect">
            <a:avLst/>
          </a:prstGeom>
          <a:noFill/>
        </p:spPr>
        <p:txBody>
          <a:bodyPr wrap="square" lIns="27432" rIns="27432" tIns="27432" bIns="27432" anchor="t">
            <a:spAutoFit/>
          </a:bodyPr>
          <a:lstStyle/>
          <a:p>
            <a:pPr algn="l"/>
            <a:r>
              <a:rPr sz="1000" b="1" i="0">
                <a:solidFill>
                  <a:srgbClr val="B9472D"/>
                </a:solidFill>
                <a:latin typeface="Aptos"/>
              </a:rPr>
              <a:t>MOROCCAN CLOTHING</a:t>
            </a:r>
          </a:p>
        </p:txBody>
      </p:sp>
      <p:sp>
        <p:nvSpPr>
          <p:cNvPr id="4" name="Rectangle 3"/>
          <p:cNvSpPr/>
          <p:nvPr/>
        </p:nvSpPr>
        <p:spPr>
          <a:xfrm>
            <a:off x="438912" y="576072"/>
            <a:ext cx="11292840" cy="13716"/>
          </a:xfrm>
          <a:prstGeom prst="rect">
            <a:avLst/>
          </a:prstGeom>
          <a:solidFill>
            <a:srgbClr val="D9CEB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744200" y="6547104"/>
            <a:ext cx="960120" cy="164592"/>
          </a:xfrm>
          <a:prstGeom prst="rect">
            <a:avLst/>
          </a:prstGeom>
          <a:noFill/>
        </p:spPr>
        <p:txBody>
          <a:bodyPr wrap="square" lIns="27432" rIns="27432" tIns="27432" bIns="27432" anchor="t">
            <a:spAutoFit/>
          </a:bodyPr>
          <a:lstStyle/>
          <a:p>
            <a:pPr algn="r"/>
            <a:r>
              <a:rPr sz="900" b="1" i="0">
                <a:solidFill>
                  <a:srgbClr val="63707A"/>
                </a:solidFill>
                <a:latin typeface="Aptos"/>
              </a:rPr>
              <a:t>06  /  8</a:t>
            </a:r>
          </a:p>
        </p:txBody>
      </p:sp>
      <p:sp>
        <p:nvSpPr>
          <p:cNvPr id="6" name="TextBox 5"/>
          <p:cNvSpPr txBox="1"/>
          <p:nvPr/>
        </p:nvSpPr>
        <p:spPr>
          <a:xfrm>
            <a:off x="9326880" y="228600"/>
            <a:ext cx="2377440" cy="201168"/>
          </a:xfrm>
          <a:prstGeom prst="rect">
            <a:avLst/>
          </a:prstGeom>
          <a:noFill/>
        </p:spPr>
        <p:txBody>
          <a:bodyPr wrap="square" lIns="27432" rIns="27432" tIns="27432" bIns="27432" anchor="t">
            <a:spAutoFit/>
          </a:bodyPr>
          <a:lstStyle/>
          <a:p>
            <a:pPr algn="r"/>
            <a:r>
              <a:rPr sz="1000" b="1" i="0">
                <a:solidFill>
                  <a:srgbClr val="63707A"/>
                </a:solidFill>
                <a:latin typeface="Aptos"/>
              </a:rPr>
              <a:t>3:25–4:15  •  50 sec</a:t>
            </a:r>
          </a:p>
        </p:txBody>
      </p:sp>
      <p:sp>
        <p:nvSpPr>
          <p:cNvPr id="7" name="TextBox 6"/>
          <p:cNvSpPr txBox="1"/>
          <p:nvPr/>
        </p:nvSpPr>
        <p:spPr>
          <a:xfrm>
            <a:off x="502920" y="758952"/>
            <a:ext cx="11109960" cy="502920"/>
          </a:xfrm>
          <a:prstGeom prst="rect">
            <a:avLst/>
          </a:prstGeom>
          <a:noFill/>
        </p:spPr>
        <p:txBody>
          <a:bodyPr wrap="square" lIns="27432" rIns="27432" tIns="27432" bIns="27432" anchor="t">
            <a:spAutoFit/>
          </a:bodyPr>
          <a:lstStyle/>
          <a:p>
            <a:pPr algn="l"/>
            <a:r>
              <a:rPr sz="2900" b="1" i="0">
                <a:solidFill>
                  <a:srgbClr val="202A36"/>
                </a:solidFill>
                <a:latin typeface="Georgia"/>
              </a:rPr>
              <a:t>Morocco: layers, craft, and regional identity</a:t>
            </a:r>
          </a:p>
        </p:txBody>
      </p:sp>
      <p:sp>
        <p:nvSpPr>
          <p:cNvPr id="8" name="TextBox 7"/>
          <p:cNvSpPr txBox="1"/>
          <p:nvPr/>
        </p:nvSpPr>
        <p:spPr>
          <a:xfrm>
            <a:off x="530352" y="1298448"/>
            <a:ext cx="11064240" cy="365760"/>
          </a:xfrm>
          <a:prstGeom prst="rect">
            <a:avLst/>
          </a:prstGeom>
          <a:noFill/>
        </p:spPr>
        <p:txBody>
          <a:bodyPr wrap="square" lIns="27432" rIns="27432" tIns="27432" bIns="27432" anchor="t">
            <a:spAutoFit/>
          </a:bodyPr>
          <a:lstStyle/>
          <a:p>
            <a:pPr algn="l"/>
            <a:r>
              <a:rPr sz="1500" b="0" i="0">
                <a:solidFill>
                  <a:srgbClr val="63707A"/>
                </a:solidFill>
                <a:latin typeface="Aptos"/>
              </a:rPr>
              <a:t>Traditional clothing varies across communities, cities, regions, and occasions.</a:t>
            </a:r>
          </a:p>
        </p:txBody>
      </p:sp>
      <p:sp>
        <p:nvSpPr>
          <p:cNvPr id="9" name="Rectangle 8"/>
          <p:cNvSpPr/>
          <p:nvPr/>
        </p:nvSpPr>
        <p:spPr>
          <a:xfrm>
            <a:off x="594359" y="1810511"/>
            <a:ext cx="2916936" cy="3803903"/>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site-commons-wikimedia-org-moroccan-caft-1.jpg"/>
          <p:cNvPicPr>
            <a:picLocks noChangeAspect="1"/>
          </p:cNvPicPr>
          <p:nvPr/>
        </p:nvPicPr>
        <p:blipFill>
          <a:blip r:embed="rId2"/>
          <a:srcRect t="6499" b="9749"/>
          <a:stretch>
            <a:fillRect/>
          </a:stretch>
        </p:blipFill>
        <p:spPr>
          <a:xfrm>
            <a:off x="722376" y="1938528"/>
            <a:ext cx="2660904" cy="3547872"/>
          </a:xfrm>
          <a:prstGeom prst="rect">
            <a:avLst/>
          </a:prstGeom>
        </p:spPr>
      </p:pic>
      <p:sp>
        <p:nvSpPr>
          <p:cNvPr id="11" name="Rectangle 10"/>
          <p:cNvSpPr/>
          <p:nvPr/>
        </p:nvSpPr>
        <p:spPr>
          <a:xfrm>
            <a:off x="3547872" y="1810511"/>
            <a:ext cx="2916936" cy="3803903"/>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morocco-traditional-clothing-djellaba-mu-2.jpg"/>
          <p:cNvPicPr>
            <a:picLocks noChangeAspect="1"/>
          </p:cNvPicPr>
          <p:nvPr/>
        </p:nvPicPr>
        <p:blipFill>
          <a:blip r:embed="rId3"/>
          <a:srcRect l="29141" r="29140"/>
          <a:stretch>
            <a:fillRect/>
          </a:stretch>
        </p:blipFill>
        <p:spPr>
          <a:xfrm>
            <a:off x="3675887" y="1938528"/>
            <a:ext cx="2660904" cy="3547872"/>
          </a:xfrm>
          <a:prstGeom prst="rect">
            <a:avLst/>
          </a:prstGeom>
        </p:spPr>
      </p:pic>
      <p:sp>
        <p:nvSpPr>
          <p:cNvPr id="13" name="Rounded Rectangle 12"/>
          <p:cNvSpPr/>
          <p:nvPr/>
        </p:nvSpPr>
        <p:spPr>
          <a:xfrm>
            <a:off x="786384" y="5687568"/>
            <a:ext cx="2542032" cy="292608"/>
          </a:xfrm>
          <a:prstGeom prst="roundRect">
            <a:avLst>
              <a:gd name="adj" fmla="val 12000"/>
            </a:avLst>
          </a:prstGeom>
          <a:solidFill>
            <a:srgbClr val="243B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9536" y="5724144"/>
            <a:ext cx="2395727" cy="173736"/>
          </a:xfrm>
          <a:prstGeom prst="rect">
            <a:avLst/>
          </a:prstGeom>
          <a:noFill/>
        </p:spPr>
        <p:txBody>
          <a:bodyPr wrap="square" lIns="27432" rIns="27432" tIns="27432" bIns="27432" anchor="ctr">
            <a:spAutoFit/>
          </a:bodyPr>
          <a:lstStyle/>
          <a:p>
            <a:pPr algn="ctr"/>
            <a:r>
              <a:rPr sz="1000" b="1" i="0">
                <a:solidFill>
                  <a:srgbClr val="FFFFFF"/>
                </a:solidFill>
                <a:latin typeface="Aptos"/>
              </a:rPr>
              <a:t>CAFTAN  •  WIKIMEDIA COMMONS</a:t>
            </a:r>
          </a:p>
        </p:txBody>
      </p:sp>
      <p:sp>
        <p:nvSpPr>
          <p:cNvPr id="15" name="Rounded Rectangle 14"/>
          <p:cNvSpPr/>
          <p:nvPr/>
        </p:nvSpPr>
        <p:spPr>
          <a:xfrm>
            <a:off x="3739896" y="5687568"/>
            <a:ext cx="2542032" cy="292608"/>
          </a:xfrm>
          <a:prstGeom prst="roundRect">
            <a:avLst>
              <a:gd name="adj" fmla="val 12000"/>
            </a:avLst>
          </a:prstGeom>
          <a:solidFill>
            <a:srgbClr val="B947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813048" y="5724144"/>
            <a:ext cx="2395727" cy="173736"/>
          </a:xfrm>
          <a:prstGeom prst="rect">
            <a:avLst/>
          </a:prstGeom>
          <a:noFill/>
        </p:spPr>
        <p:txBody>
          <a:bodyPr wrap="square" lIns="27432" rIns="27432" tIns="27432" bIns="27432" anchor="ctr">
            <a:spAutoFit/>
          </a:bodyPr>
          <a:lstStyle/>
          <a:p>
            <a:pPr algn="ctr"/>
            <a:r>
              <a:rPr sz="1000" b="1" i="0">
                <a:solidFill>
                  <a:srgbClr val="FFFFFF"/>
                </a:solidFill>
                <a:latin typeface="Aptos"/>
              </a:rPr>
              <a:t>DJELLABA  •  MAGHREB MAGAZINE</a:t>
            </a:r>
          </a:p>
        </p:txBody>
      </p:sp>
      <p:sp>
        <p:nvSpPr>
          <p:cNvPr id="17" name="Rounded Rectangle 16"/>
          <p:cNvSpPr/>
          <p:nvPr/>
        </p:nvSpPr>
        <p:spPr>
          <a:xfrm>
            <a:off x="6693408" y="1874519"/>
            <a:ext cx="4800600" cy="1069848"/>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931152" y="2020824"/>
            <a:ext cx="1280160" cy="228600"/>
          </a:xfrm>
          <a:prstGeom prst="rect">
            <a:avLst/>
          </a:prstGeom>
          <a:noFill/>
        </p:spPr>
        <p:txBody>
          <a:bodyPr wrap="square" lIns="27432" rIns="27432" tIns="27432" bIns="27432" anchor="t">
            <a:spAutoFit/>
          </a:bodyPr>
          <a:lstStyle/>
          <a:p>
            <a:pPr algn="l"/>
            <a:r>
              <a:rPr sz="1100" b="1" i="0">
                <a:solidFill>
                  <a:srgbClr val="B9472D"/>
                </a:solidFill>
                <a:latin typeface="Aptos"/>
              </a:rPr>
              <a:t>GARMENTS</a:t>
            </a:r>
          </a:p>
        </p:txBody>
      </p:sp>
      <p:sp>
        <p:nvSpPr>
          <p:cNvPr id="19" name="TextBox 18"/>
          <p:cNvSpPr txBox="1"/>
          <p:nvPr/>
        </p:nvSpPr>
        <p:spPr>
          <a:xfrm>
            <a:off x="8065008" y="1993391"/>
            <a:ext cx="3182112" cy="804672"/>
          </a:xfrm>
          <a:prstGeom prst="rect">
            <a:avLst/>
          </a:prstGeom>
          <a:noFill/>
        </p:spPr>
        <p:txBody>
          <a:bodyPr wrap="square" lIns="27432" rIns="27432" tIns="27432" bIns="27432" anchor="t">
            <a:spAutoFit/>
          </a:bodyPr>
          <a:lstStyle/>
          <a:p>
            <a:pPr algn="l"/>
            <a:r>
              <a:rPr sz="1400" b="0" i="0">
                <a:solidFill>
                  <a:srgbClr val="202A36"/>
                </a:solidFill>
                <a:latin typeface="Aptos"/>
              </a:rPr>
              <a:t>The djellaba is a long outer garment, often hooded. Caftans and takchitas are associated with more formal and ceremonial dress.</a:t>
            </a:r>
          </a:p>
        </p:txBody>
      </p:sp>
      <p:sp>
        <p:nvSpPr>
          <p:cNvPr id="20" name="Rounded Rectangle 19"/>
          <p:cNvSpPr/>
          <p:nvPr/>
        </p:nvSpPr>
        <p:spPr>
          <a:xfrm>
            <a:off x="6693408" y="3154679"/>
            <a:ext cx="4800600" cy="1069848"/>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931152" y="3300984"/>
            <a:ext cx="1280160" cy="228600"/>
          </a:xfrm>
          <a:prstGeom prst="rect">
            <a:avLst/>
          </a:prstGeom>
          <a:noFill/>
        </p:spPr>
        <p:txBody>
          <a:bodyPr wrap="square" lIns="27432" rIns="27432" tIns="27432" bIns="27432" anchor="t">
            <a:spAutoFit/>
          </a:bodyPr>
          <a:lstStyle/>
          <a:p>
            <a:pPr algn="l"/>
            <a:r>
              <a:rPr sz="1100" b="1" i="0">
                <a:solidFill>
                  <a:srgbClr val="B9472D"/>
                </a:solidFill>
                <a:latin typeface="Aptos"/>
              </a:rPr>
              <a:t>CRAFT</a:t>
            </a:r>
          </a:p>
        </p:txBody>
      </p:sp>
      <p:sp>
        <p:nvSpPr>
          <p:cNvPr id="22" name="TextBox 21"/>
          <p:cNvSpPr txBox="1"/>
          <p:nvPr/>
        </p:nvSpPr>
        <p:spPr>
          <a:xfrm>
            <a:off x="8065008" y="3273551"/>
            <a:ext cx="3182112" cy="804672"/>
          </a:xfrm>
          <a:prstGeom prst="rect">
            <a:avLst/>
          </a:prstGeom>
          <a:noFill/>
        </p:spPr>
        <p:txBody>
          <a:bodyPr wrap="square" lIns="27432" rIns="27432" tIns="27432" bIns="27432" anchor="t">
            <a:spAutoFit/>
          </a:bodyPr>
          <a:lstStyle/>
          <a:p>
            <a:pPr algn="l"/>
            <a:r>
              <a:rPr sz="1400" b="0" i="0">
                <a:solidFill>
                  <a:srgbClr val="202A36"/>
                </a:solidFill>
                <a:latin typeface="Aptos"/>
              </a:rPr>
              <a:t>Braided sfifa trim, embroidery, belts, and fine finishing can turn the garment into a display of skilled handwork.</a:t>
            </a:r>
          </a:p>
        </p:txBody>
      </p:sp>
      <p:sp>
        <p:nvSpPr>
          <p:cNvPr id="23" name="Rounded Rectangle 22"/>
          <p:cNvSpPr/>
          <p:nvPr/>
        </p:nvSpPr>
        <p:spPr>
          <a:xfrm>
            <a:off x="6693408" y="4434840"/>
            <a:ext cx="4800600" cy="1069848"/>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931152" y="4581144"/>
            <a:ext cx="1280160" cy="228600"/>
          </a:xfrm>
          <a:prstGeom prst="rect">
            <a:avLst/>
          </a:prstGeom>
          <a:noFill/>
        </p:spPr>
        <p:txBody>
          <a:bodyPr wrap="square" lIns="27432" rIns="27432" tIns="27432" bIns="27432" anchor="t">
            <a:spAutoFit/>
          </a:bodyPr>
          <a:lstStyle/>
          <a:p>
            <a:pPr algn="l"/>
            <a:r>
              <a:rPr sz="1100" b="1" i="0">
                <a:solidFill>
                  <a:srgbClr val="B9472D"/>
                </a:solidFill>
                <a:latin typeface="Aptos"/>
              </a:rPr>
              <a:t>COLOR</a:t>
            </a:r>
          </a:p>
        </p:txBody>
      </p:sp>
      <p:sp>
        <p:nvSpPr>
          <p:cNvPr id="25" name="TextBox 24"/>
          <p:cNvSpPr txBox="1"/>
          <p:nvPr/>
        </p:nvSpPr>
        <p:spPr>
          <a:xfrm>
            <a:off x="8065008" y="4553712"/>
            <a:ext cx="3182112" cy="804672"/>
          </a:xfrm>
          <a:prstGeom prst="rect">
            <a:avLst/>
          </a:prstGeom>
          <a:noFill/>
        </p:spPr>
        <p:txBody>
          <a:bodyPr wrap="square" lIns="27432" rIns="27432" tIns="27432" bIns="27432" anchor="t">
            <a:spAutoFit/>
          </a:bodyPr>
          <a:lstStyle/>
          <a:p>
            <a:pPr algn="l"/>
            <a:r>
              <a:rPr sz="1400" b="0" i="0">
                <a:solidFill>
                  <a:srgbClr val="202A36"/>
                </a:solidFill>
                <a:latin typeface="Aptos"/>
              </a:rPr>
              <a:t>Regional dye histories include indigo, henna, madder, saffron, and other local sources; techniques and palettes differ.</a:t>
            </a:r>
          </a:p>
        </p:txBody>
      </p:sp>
      <p:sp>
        <p:nvSpPr>
          <p:cNvPr id="26" name="TextBox 25"/>
          <p:cNvSpPr txBox="1"/>
          <p:nvPr/>
        </p:nvSpPr>
        <p:spPr>
          <a:xfrm>
            <a:off x="6812280" y="5897880"/>
            <a:ext cx="4572000" cy="521207"/>
          </a:xfrm>
          <a:prstGeom prst="rect">
            <a:avLst/>
          </a:prstGeom>
          <a:noFill/>
        </p:spPr>
        <p:txBody>
          <a:bodyPr wrap="square" lIns="27432" rIns="27432" tIns="27432" bIns="27432" anchor="t">
            <a:spAutoFit/>
          </a:bodyPr>
          <a:lstStyle/>
          <a:p>
            <a:pPr algn="l"/>
            <a:r>
              <a:rPr sz="900" b="0" i="1">
                <a:solidFill>
                  <a:srgbClr val="63707A"/>
                </a:solidFill>
                <a:latin typeface="Aptos"/>
              </a:rPr>
              <a:t>Image credits: Wikimedia Commons, “Moroccan woman in traditional Caftan”; djellaba photo credited by Maghreb Magazine to Wikimedia Commons.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2E9"/>
        </a:solidFill>
        <a:effectLst/>
      </p:bgPr>
    </p:bg>
    <p:spTree>
      <p:nvGrpSpPr>
        <p:cNvPr id="1" name=""/>
        <p:cNvGrpSpPr/>
        <p:nvPr/>
      </p:nvGrpSpPr>
      <p:grpSpPr/>
      <p:sp>
        <p:nvSpPr>
          <p:cNvPr id="2" name="Rectangle 1"/>
          <p:cNvSpPr/>
          <p:nvPr/>
        </p:nvSpPr>
        <p:spPr>
          <a:xfrm>
            <a:off x="0" y="0"/>
            <a:ext cx="155448" cy="6858000"/>
          </a:xfrm>
          <a:prstGeom prst="rect">
            <a:avLst/>
          </a:prstGeom>
          <a:solidFill>
            <a:srgbClr val="B947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38912" y="228600"/>
            <a:ext cx="7315200" cy="201168"/>
          </a:xfrm>
          <a:prstGeom prst="rect">
            <a:avLst/>
          </a:prstGeom>
          <a:noFill/>
        </p:spPr>
        <p:txBody>
          <a:bodyPr wrap="square" lIns="27432" rIns="27432" tIns="27432" bIns="27432" anchor="t">
            <a:spAutoFit/>
          </a:bodyPr>
          <a:lstStyle/>
          <a:p>
            <a:pPr algn="l"/>
            <a:r>
              <a:rPr sz="1000" b="1" i="0">
                <a:solidFill>
                  <a:srgbClr val="B9472D"/>
                </a:solidFill>
                <a:latin typeface="Aptos"/>
              </a:rPr>
              <a:t>COMPARATIVE ANALYSIS</a:t>
            </a:r>
          </a:p>
        </p:txBody>
      </p:sp>
      <p:sp>
        <p:nvSpPr>
          <p:cNvPr id="4" name="Rectangle 3"/>
          <p:cNvSpPr/>
          <p:nvPr/>
        </p:nvSpPr>
        <p:spPr>
          <a:xfrm>
            <a:off x="438912" y="576072"/>
            <a:ext cx="11292840" cy="13716"/>
          </a:xfrm>
          <a:prstGeom prst="rect">
            <a:avLst/>
          </a:prstGeom>
          <a:solidFill>
            <a:srgbClr val="D9CEB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744200" y="6547104"/>
            <a:ext cx="960120" cy="164592"/>
          </a:xfrm>
          <a:prstGeom prst="rect">
            <a:avLst/>
          </a:prstGeom>
          <a:noFill/>
        </p:spPr>
        <p:txBody>
          <a:bodyPr wrap="square" lIns="27432" rIns="27432" tIns="27432" bIns="27432" anchor="t">
            <a:spAutoFit/>
          </a:bodyPr>
          <a:lstStyle/>
          <a:p>
            <a:pPr algn="r"/>
            <a:r>
              <a:rPr sz="900" b="1" i="0">
                <a:solidFill>
                  <a:srgbClr val="63707A"/>
                </a:solidFill>
                <a:latin typeface="Aptos"/>
              </a:rPr>
              <a:t>07  /  8</a:t>
            </a:r>
          </a:p>
        </p:txBody>
      </p:sp>
      <p:sp>
        <p:nvSpPr>
          <p:cNvPr id="6" name="TextBox 5"/>
          <p:cNvSpPr txBox="1"/>
          <p:nvPr/>
        </p:nvSpPr>
        <p:spPr>
          <a:xfrm>
            <a:off x="9326880" y="228600"/>
            <a:ext cx="2377440" cy="201168"/>
          </a:xfrm>
          <a:prstGeom prst="rect">
            <a:avLst/>
          </a:prstGeom>
          <a:noFill/>
        </p:spPr>
        <p:txBody>
          <a:bodyPr wrap="square" lIns="27432" rIns="27432" tIns="27432" bIns="27432" anchor="t">
            <a:spAutoFit/>
          </a:bodyPr>
          <a:lstStyle/>
          <a:p>
            <a:pPr algn="r"/>
            <a:r>
              <a:rPr sz="1000" b="1" i="0">
                <a:solidFill>
                  <a:srgbClr val="63707A"/>
                </a:solidFill>
                <a:latin typeface="Aptos"/>
              </a:rPr>
              <a:t>4:15–5:20  •  65 sec</a:t>
            </a:r>
          </a:p>
        </p:txBody>
      </p:sp>
      <p:sp>
        <p:nvSpPr>
          <p:cNvPr id="7" name="TextBox 6"/>
          <p:cNvSpPr txBox="1"/>
          <p:nvPr/>
        </p:nvSpPr>
        <p:spPr>
          <a:xfrm>
            <a:off x="502920" y="758952"/>
            <a:ext cx="11109960" cy="502920"/>
          </a:xfrm>
          <a:prstGeom prst="rect">
            <a:avLst/>
          </a:prstGeom>
          <a:noFill/>
        </p:spPr>
        <p:txBody>
          <a:bodyPr wrap="square" lIns="27432" rIns="27432" tIns="27432" bIns="27432" anchor="t">
            <a:spAutoFit/>
          </a:bodyPr>
          <a:lstStyle/>
          <a:p>
            <a:pPr algn="l"/>
            <a:r>
              <a:rPr sz="2900" b="1" i="0">
                <a:solidFill>
                  <a:srgbClr val="202A36"/>
                </a:solidFill>
                <a:latin typeface="Georgia"/>
              </a:rPr>
              <a:t>China and Morocco: different forms, shared values</a:t>
            </a:r>
          </a:p>
        </p:txBody>
      </p:sp>
      <p:sp>
        <p:nvSpPr>
          <p:cNvPr id="8" name="TextBox 7"/>
          <p:cNvSpPr txBox="1"/>
          <p:nvPr/>
        </p:nvSpPr>
        <p:spPr>
          <a:xfrm>
            <a:off x="530352" y="1298448"/>
            <a:ext cx="11064240" cy="365760"/>
          </a:xfrm>
          <a:prstGeom prst="rect">
            <a:avLst/>
          </a:prstGeom>
          <a:noFill/>
        </p:spPr>
        <p:txBody>
          <a:bodyPr wrap="square" lIns="27432" rIns="27432" tIns="27432" bIns="27432" anchor="t">
            <a:spAutoFit/>
          </a:bodyPr>
          <a:lstStyle/>
          <a:p>
            <a:pPr algn="l"/>
            <a:r>
              <a:rPr sz="1500" b="0" i="0">
                <a:solidFill>
                  <a:srgbClr val="63707A"/>
                </a:solidFill>
                <a:latin typeface="Aptos"/>
              </a:rPr>
              <a:t>A fair comparison looks at both what is distinctive and what the traditions share.</a:t>
            </a:r>
          </a:p>
        </p:txBody>
      </p:sp>
      <p:sp>
        <p:nvSpPr>
          <p:cNvPr id="9" name="Rounded Rectangle 8"/>
          <p:cNvSpPr/>
          <p:nvPr/>
        </p:nvSpPr>
        <p:spPr>
          <a:xfrm>
            <a:off x="658368" y="1828800"/>
            <a:ext cx="3657600" cy="493776"/>
          </a:xfrm>
          <a:prstGeom prst="roundRect">
            <a:avLst>
              <a:gd name="adj" fmla="val 12000"/>
            </a:avLst>
          </a:prstGeom>
          <a:solidFill>
            <a:srgbClr val="243B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4672" y="1938528"/>
            <a:ext cx="3337560" cy="219456"/>
          </a:xfrm>
          <a:prstGeom prst="rect">
            <a:avLst/>
          </a:prstGeom>
          <a:noFill/>
        </p:spPr>
        <p:txBody>
          <a:bodyPr wrap="square" lIns="27432" rIns="27432" tIns="27432" bIns="27432" anchor="t">
            <a:spAutoFit/>
          </a:bodyPr>
          <a:lstStyle/>
          <a:p>
            <a:pPr algn="ctr"/>
            <a:r>
              <a:rPr sz="1500" b="1" i="0">
                <a:solidFill>
                  <a:srgbClr val="FFFFFF"/>
                </a:solidFill>
                <a:latin typeface="Aptos"/>
              </a:rPr>
              <a:t>CHINA</a:t>
            </a:r>
          </a:p>
        </p:txBody>
      </p:sp>
      <p:sp>
        <p:nvSpPr>
          <p:cNvPr id="11" name="Rounded Rectangle 10"/>
          <p:cNvSpPr/>
          <p:nvPr/>
        </p:nvSpPr>
        <p:spPr>
          <a:xfrm>
            <a:off x="7882127" y="1828800"/>
            <a:ext cx="3657600" cy="493776"/>
          </a:xfrm>
          <a:prstGeom prst="roundRect">
            <a:avLst>
              <a:gd name="adj" fmla="val 12000"/>
            </a:avLst>
          </a:prstGeom>
          <a:solidFill>
            <a:srgbClr val="B947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028431" y="1938528"/>
            <a:ext cx="3337560" cy="219456"/>
          </a:xfrm>
          <a:prstGeom prst="rect">
            <a:avLst/>
          </a:prstGeom>
          <a:noFill/>
        </p:spPr>
        <p:txBody>
          <a:bodyPr wrap="square" lIns="27432" rIns="27432" tIns="27432" bIns="27432" anchor="t">
            <a:spAutoFit/>
          </a:bodyPr>
          <a:lstStyle/>
          <a:p>
            <a:pPr algn="ctr"/>
            <a:r>
              <a:rPr sz="1500" b="1" i="0">
                <a:solidFill>
                  <a:srgbClr val="FFFFFF"/>
                </a:solidFill>
                <a:latin typeface="Aptos"/>
              </a:rPr>
              <a:t>MOROCCO</a:t>
            </a:r>
          </a:p>
        </p:txBody>
      </p:sp>
      <p:sp>
        <p:nvSpPr>
          <p:cNvPr id="13" name="Rounded Rectangle 12"/>
          <p:cNvSpPr/>
          <p:nvPr/>
        </p:nvSpPr>
        <p:spPr>
          <a:xfrm>
            <a:off x="658368" y="2542032"/>
            <a:ext cx="3657600" cy="841248"/>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7882127" y="2542032"/>
            <a:ext cx="3657600" cy="841248"/>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2960" y="2651760"/>
            <a:ext cx="3328416" cy="621792"/>
          </a:xfrm>
          <a:prstGeom prst="rect">
            <a:avLst/>
          </a:prstGeom>
          <a:noFill/>
        </p:spPr>
        <p:txBody>
          <a:bodyPr wrap="square" lIns="27432" rIns="27432" tIns="27432" bIns="27432" anchor="t">
            <a:spAutoFit/>
          </a:bodyPr>
          <a:lstStyle/>
          <a:p>
            <a:pPr algn="l"/>
            <a:r>
              <a:rPr sz="1300" b="0" i="0">
                <a:solidFill>
                  <a:srgbClr val="202A36"/>
                </a:solidFill>
                <a:latin typeface="Aptos"/>
              </a:rPr>
              <a:t>Layered robes; overlapping collars and waist ties are common in many historical styles.</a:t>
            </a:r>
          </a:p>
        </p:txBody>
      </p:sp>
      <p:sp>
        <p:nvSpPr>
          <p:cNvPr id="16" name="TextBox 15"/>
          <p:cNvSpPr txBox="1"/>
          <p:nvPr/>
        </p:nvSpPr>
        <p:spPr>
          <a:xfrm>
            <a:off x="8046720" y="2651760"/>
            <a:ext cx="3328416" cy="621792"/>
          </a:xfrm>
          <a:prstGeom prst="rect">
            <a:avLst/>
          </a:prstGeom>
          <a:noFill/>
        </p:spPr>
        <p:txBody>
          <a:bodyPr wrap="square" lIns="27432" rIns="27432" tIns="27432" bIns="27432" anchor="t">
            <a:spAutoFit/>
          </a:bodyPr>
          <a:lstStyle/>
          <a:p>
            <a:pPr algn="l"/>
            <a:r>
              <a:rPr sz="1300" b="0" i="0">
                <a:solidFill>
                  <a:srgbClr val="202A36"/>
                </a:solidFill>
                <a:latin typeface="Aptos"/>
              </a:rPr>
              <a:t>Djellaba outerwear and formal caftan / takchita silhouettes; details vary by region and use.</a:t>
            </a:r>
          </a:p>
        </p:txBody>
      </p:sp>
      <p:sp>
        <p:nvSpPr>
          <p:cNvPr id="17" name="Rounded Rectangle 16"/>
          <p:cNvSpPr/>
          <p:nvPr/>
        </p:nvSpPr>
        <p:spPr>
          <a:xfrm>
            <a:off x="4645152" y="2651760"/>
            <a:ext cx="2907792" cy="621792"/>
          </a:xfrm>
          <a:prstGeom prst="roundRect">
            <a:avLst>
              <a:gd name="adj" fmla="val 12000"/>
            </a:avLst>
          </a:prstGeom>
          <a:solidFill>
            <a:srgbClr val="EEE4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773168" y="2779776"/>
            <a:ext cx="2651760" cy="256032"/>
          </a:xfrm>
          <a:prstGeom prst="rect">
            <a:avLst/>
          </a:prstGeom>
          <a:noFill/>
        </p:spPr>
        <p:txBody>
          <a:bodyPr wrap="square" lIns="27432" rIns="27432" tIns="27432" bIns="27432" anchor="t">
            <a:spAutoFit/>
          </a:bodyPr>
          <a:lstStyle/>
          <a:p>
            <a:pPr algn="ctr"/>
            <a:r>
              <a:rPr sz="1000" b="1" i="0">
                <a:solidFill>
                  <a:srgbClr val="B9472D"/>
                </a:solidFill>
                <a:latin typeface="Aptos"/>
              </a:rPr>
              <a:t>SILHOUETTE</a:t>
            </a:r>
          </a:p>
        </p:txBody>
      </p:sp>
      <p:sp>
        <p:nvSpPr>
          <p:cNvPr id="19" name="Rounded Rectangle 18"/>
          <p:cNvSpPr/>
          <p:nvPr/>
        </p:nvSpPr>
        <p:spPr>
          <a:xfrm>
            <a:off x="658368" y="3566160"/>
            <a:ext cx="3657600" cy="841248"/>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7882127" y="3566160"/>
            <a:ext cx="3657600" cy="841248"/>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2960" y="3675887"/>
            <a:ext cx="3328416" cy="621792"/>
          </a:xfrm>
          <a:prstGeom prst="rect">
            <a:avLst/>
          </a:prstGeom>
          <a:noFill/>
        </p:spPr>
        <p:txBody>
          <a:bodyPr wrap="square" lIns="27432" rIns="27432" tIns="27432" bIns="27432" anchor="t">
            <a:spAutoFit/>
          </a:bodyPr>
          <a:lstStyle/>
          <a:p>
            <a:pPr algn="l"/>
            <a:r>
              <a:rPr sz="1300" b="0" i="0">
                <a:solidFill>
                  <a:srgbClr val="202A36"/>
                </a:solidFill>
                <a:latin typeface="Aptos"/>
              </a:rPr>
              <a:t>Silk, hemp, and cotton across different periods; dye traditions include indigo and plant reds/yellows.</a:t>
            </a:r>
          </a:p>
        </p:txBody>
      </p:sp>
      <p:sp>
        <p:nvSpPr>
          <p:cNvPr id="22" name="TextBox 21"/>
          <p:cNvSpPr txBox="1"/>
          <p:nvPr/>
        </p:nvSpPr>
        <p:spPr>
          <a:xfrm>
            <a:off x="8046720" y="3675887"/>
            <a:ext cx="3328416" cy="621792"/>
          </a:xfrm>
          <a:prstGeom prst="rect">
            <a:avLst/>
          </a:prstGeom>
          <a:noFill/>
        </p:spPr>
        <p:txBody>
          <a:bodyPr wrap="square" lIns="27432" rIns="27432" tIns="27432" bIns="27432" anchor="t">
            <a:spAutoFit/>
          </a:bodyPr>
          <a:lstStyle/>
          <a:p>
            <a:pPr algn="l"/>
            <a:r>
              <a:rPr sz="1300" b="0" i="0">
                <a:solidFill>
                  <a:srgbClr val="202A36"/>
                </a:solidFill>
                <a:latin typeface="Aptos"/>
              </a:rPr>
              <a:t>Wool, cotton, and silk appear across contexts; embroidery, braid, and regionally varied dye traditions.</a:t>
            </a:r>
          </a:p>
        </p:txBody>
      </p:sp>
      <p:sp>
        <p:nvSpPr>
          <p:cNvPr id="23" name="Rounded Rectangle 22"/>
          <p:cNvSpPr/>
          <p:nvPr/>
        </p:nvSpPr>
        <p:spPr>
          <a:xfrm>
            <a:off x="4645152" y="3675887"/>
            <a:ext cx="2907792" cy="621792"/>
          </a:xfrm>
          <a:prstGeom prst="roundRect">
            <a:avLst>
              <a:gd name="adj" fmla="val 12000"/>
            </a:avLst>
          </a:prstGeom>
          <a:solidFill>
            <a:srgbClr val="EEE4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773168" y="3803904"/>
            <a:ext cx="2651760" cy="256032"/>
          </a:xfrm>
          <a:prstGeom prst="rect">
            <a:avLst/>
          </a:prstGeom>
          <a:noFill/>
        </p:spPr>
        <p:txBody>
          <a:bodyPr wrap="square" lIns="27432" rIns="27432" tIns="27432" bIns="27432" anchor="t">
            <a:spAutoFit/>
          </a:bodyPr>
          <a:lstStyle/>
          <a:p>
            <a:pPr algn="ctr"/>
            <a:r>
              <a:rPr sz="1000" b="1" i="0">
                <a:solidFill>
                  <a:srgbClr val="B9472D"/>
                </a:solidFill>
                <a:latin typeface="Aptos"/>
              </a:rPr>
              <a:t>TEXTILE &amp; COLOR</a:t>
            </a:r>
          </a:p>
        </p:txBody>
      </p:sp>
      <p:sp>
        <p:nvSpPr>
          <p:cNvPr id="25" name="Rounded Rectangle 24"/>
          <p:cNvSpPr/>
          <p:nvPr/>
        </p:nvSpPr>
        <p:spPr>
          <a:xfrm>
            <a:off x="658368" y="4590288"/>
            <a:ext cx="3657600" cy="841248"/>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7882127" y="4590288"/>
            <a:ext cx="3657600" cy="841248"/>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22960" y="4700016"/>
            <a:ext cx="3328416" cy="621792"/>
          </a:xfrm>
          <a:prstGeom prst="rect">
            <a:avLst/>
          </a:prstGeom>
          <a:noFill/>
        </p:spPr>
        <p:txBody>
          <a:bodyPr wrap="square" lIns="27432" rIns="27432" tIns="27432" bIns="27432" anchor="t">
            <a:spAutoFit/>
          </a:bodyPr>
          <a:lstStyle/>
          <a:p>
            <a:pPr algn="l"/>
            <a:r>
              <a:rPr sz="1300" b="0" i="0">
                <a:solidFill>
                  <a:srgbClr val="202A36"/>
                </a:solidFill>
                <a:latin typeface="Aptos"/>
              </a:rPr>
              <a:t>Era, status, ritual, taste, and cultural identity.</a:t>
            </a:r>
          </a:p>
        </p:txBody>
      </p:sp>
      <p:sp>
        <p:nvSpPr>
          <p:cNvPr id="28" name="TextBox 27"/>
          <p:cNvSpPr txBox="1"/>
          <p:nvPr/>
        </p:nvSpPr>
        <p:spPr>
          <a:xfrm>
            <a:off x="8046720" y="4700016"/>
            <a:ext cx="3328416" cy="621792"/>
          </a:xfrm>
          <a:prstGeom prst="rect">
            <a:avLst/>
          </a:prstGeom>
          <a:noFill/>
        </p:spPr>
        <p:txBody>
          <a:bodyPr wrap="square" lIns="27432" rIns="27432" tIns="27432" bIns="27432" anchor="t">
            <a:spAutoFit/>
          </a:bodyPr>
          <a:lstStyle/>
          <a:p>
            <a:pPr algn="l"/>
            <a:r>
              <a:rPr sz="1300" b="0" i="0">
                <a:solidFill>
                  <a:srgbClr val="202A36"/>
                </a:solidFill>
                <a:latin typeface="Aptos"/>
              </a:rPr>
              <a:t>Community, occasion, craft skill, and personal or regional identity.</a:t>
            </a:r>
          </a:p>
        </p:txBody>
      </p:sp>
      <p:sp>
        <p:nvSpPr>
          <p:cNvPr id="29" name="Rounded Rectangle 28"/>
          <p:cNvSpPr/>
          <p:nvPr/>
        </p:nvSpPr>
        <p:spPr>
          <a:xfrm>
            <a:off x="4645152" y="4700016"/>
            <a:ext cx="2907792" cy="621792"/>
          </a:xfrm>
          <a:prstGeom prst="roundRect">
            <a:avLst>
              <a:gd name="adj" fmla="val 12000"/>
            </a:avLst>
          </a:prstGeom>
          <a:solidFill>
            <a:srgbClr val="EEE4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773168" y="4828031"/>
            <a:ext cx="2651760" cy="256032"/>
          </a:xfrm>
          <a:prstGeom prst="rect">
            <a:avLst/>
          </a:prstGeom>
          <a:noFill/>
        </p:spPr>
        <p:txBody>
          <a:bodyPr wrap="square" lIns="27432" rIns="27432" tIns="27432" bIns="27432" anchor="t">
            <a:spAutoFit/>
          </a:bodyPr>
          <a:lstStyle/>
          <a:p>
            <a:pPr algn="ctr"/>
            <a:r>
              <a:rPr sz="1000" b="1" i="0">
                <a:solidFill>
                  <a:srgbClr val="B9472D"/>
                </a:solidFill>
                <a:latin typeface="Aptos"/>
              </a:rPr>
              <a:t>WHAT IT CAN SIGNAL</a:t>
            </a:r>
          </a:p>
        </p:txBody>
      </p:sp>
      <p:sp>
        <p:nvSpPr>
          <p:cNvPr id="31" name="Rounded Rectangle 30"/>
          <p:cNvSpPr/>
          <p:nvPr/>
        </p:nvSpPr>
        <p:spPr>
          <a:xfrm>
            <a:off x="1170432" y="5806440"/>
            <a:ext cx="9838944" cy="594360"/>
          </a:xfrm>
          <a:prstGeom prst="roundRect">
            <a:avLst>
              <a:gd name="adj" fmla="val 12000"/>
            </a:avLst>
          </a:prstGeom>
          <a:solidFill>
            <a:srgbClr val="243B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417320" y="5989320"/>
            <a:ext cx="9326880" cy="228600"/>
          </a:xfrm>
          <a:prstGeom prst="rect">
            <a:avLst/>
          </a:prstGeom>
          <a:noFill/>
        </p:spPr>
        <p:txBody>
          <a:bodyPr wrap="square" lIns="27432" rIns="27432" tIns="18288" bIns="18288">
            <a:spAutoFit/>
          </a:bodyPr>
          <a:lstStyle/>
          <a:p>
            <a:pPr algn="l"/>
            <a:r>
              <a:rPr sz="1500" b="1">
                <a:solidFill>
                  <a:srgbClr val="E8C879"/>
                </a:solidFill>
                <a:latin typeface="Aptos"/>
              </a:rPr>
              <a:t>SHARED THREAD: </a:t>
            </a:r>
            <a:r>
              <a:rPr sz="1500" b="0">
                <a:solidFill>
                  <a:srgbClr val="FFFFFF"/>
                </a:solidFill>
                <a:latin typeface="Aptos"/>
              </a:rPr>
              <a:t>clothing preserves memory, communicates belonging, and carries the labor of skilled makers.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2E9"/>
        </a:solidFill>
        <a:effectLst/>
      </p:bgPr>
    </p:bg>
    <p:spTree>
      <p:nvGrpSpPr>
        <p:cNvPr id="1" name=""/>
        <p:cNvGrpSpPr/>
        <p:nvPr/>
      </p:nvGrpSpPr>
      <p:grpSpPr/>
      <p:sp>
        <p:nvSpPr>
          <p:cNvPr id="2" name="Rectangle 1"/>
          <p:cNvSpPr/>
          <p:nvPr/>
        </p:nvSpPr>
        <p:spPr>
          <a:xfrm>
            <a:off x="0" y="0"/>
            <a:ext cx="155448" cy="6858000"/>
          </a:xfrm>
          <a:prstGeom prst="rect">
            <a:avLst/>
          </a:prstGeom>
          <a:solidFill>
            <a:srgbClr val="B947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38912" y="228600"/>
            <a:ext cx="7315200" cy="201168"/>
          </a:xfrm>
          <a:prstGeom prst="rect">
            <a:avLst/>
          </a:prstGeom>
          <a:noFill/>
        </p:spPr>
        <p:txBody>
          <a:bodyPr wrap="square" lIns="27432" rIns="27432" tIns="27432" bIns="27432" anchor="t">
            <a:spAutoFit/>
          </a:bodyPr>
          <a:lstStyle/>
          <a:p>
            <a:pPr algn="l"/>
            <a:r>
              <a:rPr sz="1000" b="1" i="0">
                <a:solidFill>
                  <a:srgbClr val="B9472D"/>
                </a:solidFill>
                <a:latin typeface="Aptos"/>
              </a:rPr>
              <a:t>CONCLUSION</a:t>
            </a:r>
          </a:p>
        </p:txBody>
      </p:sp>
      <p:sp>
        <p:nvSpPr>
          <p:cNvPr id="4" name="Rectangle 3"/>
          <p:cNvSpPr/>
          <p:nvPr/>
        </p:nvSpPr>
        <p:spPr>
          <a:xfrm>
            <a:off x="438912" y="576072"/>
            <a:ext cx="11292840" cy="13716"/>
          </a:xfrm>
          <a:prstGeom prst="rect">
            <a:avLst/>
          </a:prstGeom>
          <a:solidFill>
            <a:srgbClr val="D9CEB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744200" y="6547104"/>
            <a:ext cx="960120" cy="164592"/>
          </a:xfrm>
          <a:prstGeom prst="rect">
            <a:avLst/>
          </a:prstGeom>
          <a:noFill/>
        </p:spPr>
        <p:txBody>
          <a:bodyPr wrap="square" lIns="27432" rIns="27432" tIns="27432" bIns="27432" anchor="t">
            <a:spAutoFit/>
          </a:bodyPr>
          <a:lstStyle/>
          <a:p>
            <a:pPr algn="r"/>
            <a:r>
              <a:rPr sz="900" b="1" i="0">
                <a:solidFill>
                  <a:srgbClr val="63707A"/>
                </a:solidFill>
                <a:latin typeface="Aptos"/>
              </a:rPr>
              <a:t>08  /  8</a:t>
            </a:r>
          </a:p>
        </p:txBody>
      </p:sp>
      <p:sp>
        <p:nvSpPr>
          <p:cNvPr id="6" name="TextBox 5"/>
          <p:cNvSpPr txBox="1"/>
          <p:nvPr/>
        </p:nvSpPr>
        <p:spPr>
          <a:xfrm>
            <a:off x="9326880" y="228600"/>
            <a:ext cx="2377440" cy="201168"/>
          </a:xfrm>
          <a:prstGeom prst="rect">
            <a:avLst/>
          </a:prstGeom>
          <a:noFill/>
        </p:spPr>
        <p:txBody>
          <a:bodyPr wrap="square" lIns="27432" rIns="27432" tIns="27432" bIns="27432" anchor="t">
            <a:spAutoFit/>
          </a:bodyPr>
          <a:lstStyle/>
          <a:p>
            <a:pPr algn="r"/>
            <a:r>
              <a:rPr sz="1000" b="1" i="0">
                <a:solidFill>
                  <a:srgbClr val="63707A"/>
                </a:solidFill>
                <a:latin typeface="Aptos"/>
              </a:rPr>
              <a:t>5:20–6:00  •  40 sec</a:t>
            </a:r>
          </a:p>
        </p:txBody>
      </p:sp>
      <p:sp>
        <p:nvSpPr>
          <p:cNvPr id="7" name="TextBox 6"/>
          <p:cNvSpPr txBox="1"/>
          <p:nvPr/>
        </p:nvSpPr>
        <p:spPr>
          <a:xfrm>
            <a:off x="502920" y="758952"/>
            <a:ext cx="11109960" cy="502920"/>
          </a:xfrm>
          <a:prstGeom prst="rect">
            <a:avLst/>
          </a:prstGeom>
          <a:noFill/>
        </p:spPr>
        <p:txBody>
          <a:bodyPr wrap="square" lIns="27432" rIns="27432" tIns="27432" bIns="27432" anchor="t">
            <a:spAutoFit/>
          </a:bodyPr>
          <a:lstStyle/>
          <a:p>
            <a:pPr algn="l"/>
            <a:r>
              <a:rPr sz="2900" b="1" i="0">
                <a:solidFill>
                  <a:srgbClr val="202A36"/>
                </a:solidFill>
                <a:latin typeface="Georgia"/>
              </a:rPr>
              <a:t>Tradition is a thread—not a museum label</a:t>
            </a:r>
          </a:p>
        </p:txBody>
      </p:sp>
      <p:sp>
        <p:nvSpPr>
          <p:cNvPr id="8" name="TextBox 7"/>
          <p:cNvSpPr txBox="1"/>
          <p:nvPr/>
        </p:nvSpPr>
        <p:spPr>
          <a:xfrm>
            <a:off x="530352" y="1298448"/>
            <a:ext cx="11064240" cy="365760"/>
          </a:xfrm>
          <a:prstGeom prst="rect">
            <a:avLst/>
          </a:prstGeom>
          <a:noFill/>
        </p:spPr>
        <p:txBody>
          <a:bodyPr wrap="square" lIns="27432" rIns="27432" tIns="27432" bIns="27432" anchor="t">
            <a:spAutoFit/>
          </a:bodyPr>
          <a:lstStyle/>
          <a:p>
            <a:pPr algn="l"/>
            <a:r>
              <a:rPr sz="1500" b="0" i="0">
                <a:solidFill>
                  <a:srgbClr val="63707A"/>
                </a:solidFill>
                <a:latin typeface="Aptos"/>
              </a:rPr>
              <a:t>Costume and dyeing carry knowledge from makers of the past into choices made today.</a:t>
            </a:r>
          </a:p>
        </p:txBody>
      </p:sp>
      <p:sp>
        <p:nvSpPr>
          <p:cNvPr id="9" name="Rounded Rectangle 8"/>
          <p:cNvSpPr/>
          <p:nvPr/>
        </p:nvSpPr>
        <p:spPr>
          <a:xfrm>
            <a:off x="658368" y="1901952"/>
            <a:ext cx="3456432" cy="2029968"/>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9536" y="2103120"/>
            <a:ext cx="530352" cy="384048"/>
          </a:xfrm>
          <a:prstGeom prst="rect">
            <a:avLst/>
          </a:prstGeom>
          <a:noFill/>
        </p:spPr>
        <p:txBody>
          <a:bodyPr wrap="square" lIns="27432" rIns="27432" tIns="27432" bIns="27432" anchor="t">
            <a:spAutoFit/>
          </a:bodyPr>
          <a:lstStyle/>
          <a:p>
            <a:pPr algn="l"/>
            <a:r>
              <a:rPr sz="2000" b="1" i="0">
                <a:solidFill>
                  <a:srgbClr val="B9472D"/>
                </a:solidFill>
                <a:latin typeface="Georgia"/>
              </a:rPr>
              <a:t>01</a:t>
            </a:r>
          </a:p>
        </p:txBody>
      </p:sp>
      <p:sp>
        <p:nvSpPr>
          <p:cNvPr id="11" name="TextBox 10"/>
          <p:cNvSpPr txBox="1"/>
          <p:nvPr/>
        </p:nvSpPr>
        <p:spPr>
          <a:xfrm>
            <a:off x="859536" y="2633472"/>
            <a:ext cx="2834640" cy="274320"/>
          </a:xfrm>
          <a:prstGeom prst="rect">
            <a:avLst/>
          </a:prstGeom>
          <a:noFill/>
        </p:spPr>
        <p:txBody>
          <a:bodyPr wrap="square" lIns="27432" rIns="27432" tIns="27432" bIns="27432" anchor="t">
            <a:spAutoFit/>
          </a:bodyPr>
          <a:lstStyle/>
          <a:p>
            <a:pPr algn="l"/>
            <a:r>
              <a:rPr sz="1200" b="1" i="0">
                <a:solidFill>
                  <a:srgbClr val="202A36"/>
                </a:solidFill>
                <a:latin typeface="Aptos"/>
              </a:rPr>
              <a:t>COLOR</a:t>
            </a:r>
          </a:p>
        </p:txBody>
      </p:sp>
      <p:sp>
        <p:nvSpPr>
          <p:cNvPr id="12" name="TextBox 11"/>
          <p:cNvSpPr txBox="1"/>
          <p:nvPr/>
        </p:nvSpPr>
        <p:spPr>
          <a:xfrm>
            <a:off x="859536" y="2999232"/>
            <a:ext cx="2971800" cy="667512"/>
          </a:xfrm>
          <a:prstGeom prst="rect">
            <a:avLst/>
          </a:prstGeom>
          <a:noFill/>
        </p:spPr>
        <p:txBody>
          <a:bodyPr wrap="square" lIns="27432" rIns="27432" tIns="27432" bIns="27432" anchor="t">
            <a:spAutoFit/>
          </a:bodyPr>
          <a:lstStyle/>
          <a:p>
            <a:pPr algn="l"/>
            <a:r>
              <a:rPr sz="1400" b="0" i="0">
                <a:solidFill>
                  <a:srgbClr val="202A36"/>
                </a:solidFill>
                <a:latin typeface="Aptos"/>
              </a:rPr>
              <a:t>Natural color comes from local materials, skilled methods, and repeated work.</a:t>
            </a:r>
          </a:p>
        </p:txBody>
      </p:sp>
      <p:sp>
        <p:nvSpPr>
          <p:cNvPr id="13" name="Rounded Rectangle 12"/>
          <p:cNvSpPr/>
          <p:nvPr/>
        </p:nvSpPr>
        <p:spPr>
          <a:xfrm>
            <a:off x="4480559" y="1901952"/>
            <a:ext cx="3456432" cy="2029968"/>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681727" y="2103120"/>
            <a:ext cx="530352" cy="384048"/>
          </a:xfrm>
          <a:prstGeom prst="rect">
            <a:avLst/>
          </a:prstGeom>
          <a:noFill/>
        </p:spPr>
        <p:txBody>
          <a:bodyPr wrap="square" lIns="27432" rIns="27432" tIns="27432" bIns="27432" anchor="t">
            <a:spAutoFit/>
          </a:bodyPr>
          <a:lstStyle/>
          <a:p>
            <a:pPr algn="l"/>
            <a:r>
              <a:rPr sz="2000" b="1" i="0">
                <a:solidFill>
                  <a:srgbClr val="243B5A"/>
                </a:solidFill>
                <a:latin typeface="Georgia"/>
              </a:rPr>
              <a:t>02</a:t>
            </a:r>
          </a:p>
        </p:txBody>
      </p:sp>
      <p:sp>
        <p:nvSpPr>
          <p:cNvPr id="15" name="TextBox 14"/>
          <p:cNvSpPr txBox="1"/>
          <p:nvPr/>
        </p:nvSpPr>
        <p:spPr>
          <a:xfrm>
            <a:off x="4681727" y="2633472"/>
            <a:ext cx="2834640" cy="274320"/>
          </a:xfrm>
          <a:prstGeom prst="rect">
            <a:avLst/>
          </a:prstGeom>
          <a:noFill/>
        </p:spPr>
        <p:txBody>
          <a:bodyPr wrap="square" lIns="27432" rIns="27432" tIns="27432" bIns="27432" anchor="t">
            <a:spAutoFit/>
          </a:bodyPr>
          <a:lstStyle/>
          <a:p>
            <a:pPr algn="l"/>
            <a:r>
              <a:rPr sz="1200" b="1" i="0">
                <a:solidFill>
                  <a:srgbClr val="202A36"/>
                </a:solidFill>
                <a:latin typeface="Aptos"/>
              </a:rPr>
              <a:t>COSTUME</a:t>
            </a:r>
          </a:p>
        </p:txBody>
      </p:sp>
      <p:sp>
        <p:nvSpPr>
          <p:cNvPr id="16" name="TextBox 15"/>
          <p:cNvSpPr txBox="1"/>
          <p:nvPr/>
        </p:nvSpPr>
        <p:spPr>
          <a:xfrm>
            <a:off x="4681727" y="2999232"/>
            <a:ext cx="2971800" cy="667512"/>
          </a:xfrm>
          <a:prstGeom prst="rect">
            <a:avLst/>
          </a:prstGeom>
          <a:noFill/>
        </p:spPr>
        <p:txBody>
          <a:bodyPr wrap="square" lIns="27432" rIns="27432" tIns="27432" bIns="27432" anchor="t">
            <a:spAutoFit/>
          </a:bodyPr>
          <a:lstStyle/>
          <a:p>
            <a:pPr algn="l"/>
            <a:r>
              <a:rPr sz="1400" b="0" i="0">
                <a:solidFill>
                  <a:srgbClr val="202A36"/>
                </a:solidFill>
                <a:latin typeface="Aptos"/>
              </a:rPr>
              <a:t>Cut, layering, and detail respond to history, climate, identity, and occasion.</a:t>
            </a:r>
          </a:p>
        </p:txBody>
      </p:sp>
      <p:sp>
        <p:nvSpPr>
          <p:cNvPr id="17" name="Rounded Rectangle 16"/>
          <p:cNvSpPr/>
          <p:nvPr/>
        </p:nvSpPr>
        <p:spPr>
          <a:xfrm>
            <a:off x="8302752" y="1901952"/>
            <a:ext cx="3456432" cy="2029968"/>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3920" y="2103120"/>
            <a:ext cx="530352" cy="384048"/>
          </a:xfrm>
          <a:prstGeom prst="rect">
            <a:avLst/>
          </a:prstGeom>
          <a:noFill/>
        </p:spPr>
        <p:txBody>
          <a:bodyPr wrap="square" lIns="27432" rIns="27432" tIns="27432" bIns="27432" anchor="t">
            <a:spAutoFit/>
          </a:bodyPr>
          <a:lstStyle/>
          <a:p>
            <a:pPr algn="l"/>
            <a:r>
              <a:rPr sz="2000" b="1" i="0">
                <a:solidFill>
                  <a:srgbClr val="567766"/>
                </a:solidFill>
                <a:latin typeface="Georgia"/>
              </a:rPr>
              <a:t>03</a:t>
            </a:r>
          </a:p>
        </p:txBody>
      </p:sp>
      <p:sp>
        <p:nvSpPr>
          <p:cNvPr id="19" name="TextBox 18"/>
          <p:cNvSpPr txBox="1"/>
          <p:nvPr/>
        </p:nvSpPr>
        <p:spPr>
          <a:xfrm>
            <a:off x="8503920" y="2633472"/>
            <a:ext cx="2834640" cy="274320"/>
          </a:xfrm>
          <a:prstGeom prst="rect">
            <a:avLst/>
          </a:prstGeom>
          <a:noFill/>
        </p:spPr>
        <p:txBody>
          <a:bodyPr wrap="square" lIns="27432" rIns="27432" tIns="27432" bIns="27432" anchor="t">
            <a:spAutoFit/>
          </a:bodyPr>
          <a:lstStyle/>
          <a:p>
            <a:pPr algn="l"/>
            <a:r>
              <a:rPr sz="1200" b="1" i="0">
                <a:solidFill>
                  <a:srgbClr val="202A36"/>
                </a:solidFill>
                <a:latin typeface="Aptos"/>
              </a:rPr>
              <a:t>COMPARISON</a:t>
            </a:r>
          </a:p>
        </p:txBody>
      </p:sp>
      <p:sp>
        <p:nvSpPr>
          <p:cNvPr id="20" name="TextBox 19"/>
          <p:cNvSpPr txBox="1"/>
          <p:nvPr/>
        </p:nvSpPr>
        <p:spPr>
          <a:xfrm>
            <a:off x="8503920" y="2999232"/>
            <a:ext cx="2971800" cy="667512"/>
          </a:xfrm>
          <a:prstGeom prst="rect">
            <a:avLst/>
          </a:prstGeom>
          <a:noFill/>
        </p:spPr>
        <p:txBody>
          <a:bodyPr wrap="square" lIns="27432" rIns="27432" tIns="27432" bIns="27432" anchor="t">
            <a:spAutoFit/>
          </a:bodyPr>
          <a:lstStyle/>
          <a:p>
            <a:pPr algn="l"/>
            <a:r>
              <a:rPr sz="1400" b="0" i="0">
                <a:solidFill>
                  <a:srgbClr val="202A36"/>
                </a:solidFill>
                <a:latin typeface="Aptos"/>
              </a:rPr>
              <a:t>China and Morocco differ in form, yet both use clothing to express culture and care.</a:t>
            </a:r>
          </a:p>
        </p:txBody>
      </p:sp>
      <p:sp>
        <p:nvSpPr>
          <p:cNvPr id="21" name="Rounded Rectangle 20"/>
          <p:cNvSpPr/>
          <p:nvPr/>
        </p:nvSpPr>
        <p:spPr>
          <a:xfrm>
            <a:off x="658368" y="4279392"/>
            <a:ext cx="10945368" cy="868680"/>
          </a:xfrm>
          <a:prstGeom prst="roundRect">
            <a:avLst>
              <a:gd name="adj" fmla="val 12000"/>
            </a:avLst>
          </a:prstGeom>
          <a:solidFill>
            <a:srgbClr val="EEE4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96112" y="4462272"/>
            <a:ext cx="1417320" cy="228600"/>
          </a:xfrm>
          <a:prstGeom prst="rect">
            <a:avLst/>
          </a:prstGeom>
          <a:noFill/>
        </p:spPr>
        <p:txBody>
          <a:bodyPr wrap="square" lIns="27432" rIns="27432" tIns="27432" bIns="27432" anchor="t">
            <a:spAutoFit/>
          </a:bodyPr>
          <a:lstStyle/>
          <a:p>
            <a:pPr algn="l"/>
            <a:r>
              <a:rPr sz="1100" b="1" i="0">
                <a:solidFill>
                  <a:srgbClr val="B9472D"/>
                </a:solidFill>
                <a:latin typeface="Aptos"/>
              </a:rPr>
              <a:t>Closing thought</a:t>
            </a:r>
          </a:p>
        </p:txBody>
      </p:sp>
      <p:sp>
        <p:nvSpPr>
          <p:cNvPr id="23" name="TextBox 22"/>
          <p:cNvSpPr txBox="1"/>
          <p:nvPr/>
        </p:nvSpPr>
        <p:spPr>
          <a:xfrm>
            <a:off x="2331720" y="4407408"/>
            <a:ext cx="8869680" cy="384048"/>
          </a:xfrm>
          <a:prstGeom prst="rect">
            <a:avLst/>
          </a:prstGeom>
          <a:noFill/>
        </p:spPr>
        <p:txBody>
          <a:bodyPr wrap="square" lIns="27432" rIns="27432" tIns="27432" bIns="27432" anchor="t">
            <a:spAutoFit/>
          </a:bodyPr>
          <a:lstStyle/>
          <a:p>
            <a:pPr algn="l"/>
            <a:r>
              <a:rPr sz="1900" b="1" i="0">
                <a:solidFill>
                  <a:srgbClr val="202A36"/>
                </a:solidFill>
                <a:latin typeface="Georgia"/>
              </a:rPr>
              <a:t>When we value a garment, we also value the people, skills, and stories woven into it.</a:t>
            </a:r>
          </a:p>
        </p:txBody>
      </p:sp>
      <p:sp>
        <p:nvSpPr>
          <p:cNvPr id="24" name="TextBox 23"/>
          <p:cNvSpPr txBox="1"/>
          <p:nvPr/>
        </p:nvSpPr>
        <p:spPr>
          <a:xfrm>
            <a:off x="749808" y="5577840"/>
            <a:ext cx="10744200" cy="658368"/>
          </a:xfrm>
          <a:prstGeom prst="rect">
            <a:avLst/>
          </a:prstGeom>
          <a:noFill/>
        </p:spPr>
        <p:txBody>
          <a:bodyPr wrap="square" lIns="27432" rIns="27432" tIns="27432" bIns="27432" anchor="t">
            <a:spAutoFit/>
          </a:bodyPr>
          <a:lstStyle/>
          <a:p>
            <a:pPr algn="l"/>
            <a:r>
              <a:rPr sz="1000" b="0" i="0">
                <a:solidFill>
                  <a:srgbClr val="63707A"/>
                </a:solidFill>
                <a:latin typeface="Aptos"/>
              </a:rPr>
              <a:t>Image credits: user-provided original presentation; Moroccan costume/djellaba images via Wikimedia Commons and Maghreb Magazine (source credit is printed on slide 6). Text is a concise classroom summary; historical styles and dye practices vary by region and period.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Traditional Costumes and Dyeing: China and Morocco</dc:title>
  <dc:subject>Six-minute Chinese elective course report</dc:subject>
  <dc:creator/>
  <cp:keywords>traditional costume, dyeing, China, Morocco, comparative analysis</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